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2"/>
  </p:notesMasterIdLst>
  <p:sldIdLst>
    <p:sldId id="256" r:id="rId2"/>
    <p:sldId id="282" r:id="rId3"/>
    <p:sldId id="257" r:id="rId4"/>
    <p:sldId id="258" r:id="rId5"/>
    <p:sldId id="259" r:id="rId6"/>
    <p:sldId id="285" r:id="rId7"/>
    <p:sldId id="260" r:id="rId8"/>
    <p:sldId id="261" r:id="rId9"/>
    <p:sldId id="262" r:id="rId10"/>
    <p:sldId id="263" r:id="rId11"/>
    <p:sldId id="264" r:id="rId12"/>
    <p:sldId id="265" r:id="rId13"/>
    <p:sldId id="283" r:id="rId14"/>
    <p:sldId id="284" r:id="rId15"/>
    <p:sldId id="266" r:id="rId16"/>
    <p:sldId id="286" r:id="rId17"/>
    <p:sldId id="267" r:id="rId18"/>
    <p:sldId id="268" r:id="rId19"/>
    <p:sldId id="269" r:id="rId20"/>
    <p:sldId id="270" r:id="rId21"/>
    <p:sldId id="271" r:id="rId22"/>
    <p:sldId id="276" r:id="rId23"/>
    <p:sldId id="272" r:id="rId24"/>
    <p:sldId id="273" r:id="rId25"/>
    <p:sldId id="274" r:id="rId26"/>
    <p:sldId id="277" r:id="rId27"/>
    <p:sldId id="278" r:id="rId28"/>
    <p:sldId id="279" r:id="rId29"/>
    <p:sldId id="280" r:id="rId30"/>
    <p:sldId id="275" r:id="rId31"/>
  </p:sldIdLst>
  <p:sldSz cx="18288000" cy="10287000"/>
  <p:notesSz cx="6858000" cy="9144000"/>
  <p:embeddedFontLst>
    <p:embeddedFont>
      <p:font typeface="Open Sans" panose="020B0606030504020204" pitchFamily="34" charset="0"/>
      <p:regular r:id="rId33"/>
    </p:embeddedFont>
    <p:embeddedFont>
      <p:font typeface="Open Sans Bold" panose="020B0806030504020204" charset="0"/>
      <p:regular r:id="rId34"/>
    </p:embeddedFont>
    <p:embeddedFont>
      <p:font typeface="Poppins" panose="00000500000000000000" pitchFamily="2" charset="0"/>
      <p:regular r:id="rId35"/>
    </p:embeddedFont>
    <p:embeddedFont>
      <p:font typeface="Poppins Bold" panose="00000800000000000000" charset="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717E02-F006-4E9C-BE7E-7B30E16B569E}" type="datetimeFigureOut">
              <a:rPr lang="it-IT" smtClean="0"/>
              <a:t>07/10/2026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CD1D02-EA85-4833-92E3-4AB022FE8724}" type="slidenum">
              <a:rPr lang="it-IT" smtClean="0"/>
              <a:t>‹N›</a:t>
            </a:fld>
            <a:endParaRPr lang="it-IT"/>
          </a:p>
        </p:txBody>
      </p:sp>
    </p:spTree>
    <p:extLst>
      <p:ext uri="{BB962C8B-B14F-4D97-AF65-F5344CB8AC3E}">
        <p14:creationId xmlns:p14="http://schemas.microsoft.com/office/powerpoint/2010/main" val="2027221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Sensitivity is subjective, so we built a human-labeled core. The three parameters make each judgment explicit instead of relying on gut feeling.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4" name="Group 4"/>
          <p:cNvGrpSpPr/>
          <p:nvPr/>
        </p:nvGrpSpPr>
        <p:grpSpPr>
          <a:xfrm>
            <a:off x="3486332" y="3542692"/>
            <a:ext cx="178762" cy="695960"/>
            <a:chOff x="0" y="0"/>
            <a:chExt cx="47081" cy="183298"/>
          </a:xfrm>
        </p:grpSpPr>
        <p:sp>
          <p:nvSpPr>
            <p:cNvPr id="5" name="Freeform 5"/>
            <p:cNvSpPr/>
            <p:nvPr/>
          </p:nvSpPr>
          <p:spPr>
            <a:xfrm>
              <a:off x="0" y="0"/>
              <a:ext cx="47081" cy="183298"/>
            </a:xfrm>
            <a:custGeom>
              <a:avLst/>
              <a:gdLst/>
              <a:ahLst/>
              <a:cxnLst/>
              <a:rect l="l" t="t" r="r" b="b"/>
              <a:pathLst>
                <a:path w="47081" h="183298">
                  <a:moveTo>
                    <a:pt x="0" y="0"/>
                  </a:moveTo>
                  <a:lnTo>
                    <a:pt x="47081" y="0"/>
                  </a:lnTo>
                  <a:lnTo>
                    <a:pt x="47081" y="183298"/>
                  </a:lnTo>
                  <a:lnTo>
                    <a:pt x="0" y="183298"/>
                  </a:lnTo>
                  <a:close/>
                </a:path>
              </a:pathLst>
            </a:custGeom>
            <a:solidFill>
              <a:srgbClr val="000000"/>
            </a:solidFill>
          </p:spPr>
          <p:txBody>
            <a:bodyPr/>
            <a:lstStyle/>
            <a:p>
              <a:endParaRPr/>
            </a:p>
          </p:txBody>
        </p:sp>
        <p:sp>
          <p:nvSpPr>
            <p:cNvPr id="6" name="TextBox 6"/>
            <p:cNvSpPr txBox="1"/>
            <p:nvPr/>
          </p:nvSpPr>
          <p:spPr>
            <a:xfrm>
              <a:off x="0" y="28575"/>
              <a:ext cx="47081" cy="154723"/>
            </a:xfrm>
            <a:prstGeom prst="rect">
              <a:avLst/>
            </a:prstGeom>
          </p:spPr>
          <p:txBody>
            <a:bodyPr lIns="50800" tIns="50800" rIns="50800" bIns="50800" rtlCol="0" anchor="ctr"/>
            <a:lstStyle/>
            <a:p>
              <a:pPr algn="ctr">
                <a:lnSpc>
                  <a:spcPts val="2499"/>
                </a:lnSpc>
              </a:pPr>
              <a:endParaRPr/>
            </a:p>
          </p:txBody>
        </p:sp>
      </p:grpSp>
      <p:grpSp>
        <p:nvGrpSpPr>
          <p:cNvPr id="7" name="Group 7"/>
          <p:cNvGrpSpPr/>
          <p:nvPr/>
        </p:nvGrpSpPr>
        <p:grpSpPr>
          <a:xfrm>
            <a:off x="3801738" y="3542692"/>
            <a:ext cx="5934839" cy="695960"/>
            <a:chOff x="0" y="0"/>
            <a:chExt cx="1563085" cy="183298"/>
          </a:xfrm>
        </p:grpSpPr>
        <p:sp>
          <p:nvSpPr>
            <p:cNvPr id="8" name="Freeform 8"/>
            <p:cNvSpPr/>
            <p:nvPr/>
          </p:nvSpPr>
          <p:spPr>
            <a:xfrm>
              <a:off x="0" y="0"/>
              <a:ext cx="1563085" cy="183298"/>
            </a:xfrm>
            <a:custGeom>
              <a:avLst/>
              <a:gdLst/>
              <a:ahLst/>
              <a:cxnLst/>
              <a:rect l="l" t="t" r="r" b="b"/>
              <a:pathLst>
                <a:path w="1563085" h="183298">
                  <a:moveTo>
                    <a:pt x="0" y="0"/>
                  </a:moveTo>
                  <a:lnTo>
                    <a:pt x="1563085" y="0"/>
                  </a:lnTo>
                  <a:lnTo>
                    <a:pt x="1563085" y="183298"/>
                  </a:lnTo>
                  <a:lnTo>
                    <a:pt x="0" y="183298"/>
                  </a:lnTo>
                  <a:close/>
                </a:path>
              </a:pathLst>
            </a:custGeom>
            <a:solidFill>
              <a:srgbClr val="C2DCFF"/>
            </a:solidFill>
          </p:spPr>
          <p:txBody>
            <a:bodyPr/>
            <a:lstStyle/>
            <a:p>
              <a:endParaRPr/>
            </a:p>
          </p:txBody>
        </p:sp>
        <p:sp>
          <p:nvSpPr>
            <p:cNvPr id="9" name="TextBox 9"/>
            <p:cNvSpPr txBox="1"/>
            <p:nvPr/>
          </p:nvSpPr>
          <p:spPr>
            <a:xfrm>
              <a:off x="0" y="28575"/>
              <a:ext cx="1563085" cy="154723"/>
            </a:xfrm>
            <a:prstGeom prst="rect">
              <a:avLst/>
            </a:prstGeom>
          </p:spPr>
          <p:txBody>
            <a:bodyPr lIns="50800" tIns="50800" rIns="50800" bIns="50800" rtlCol="0" anchor="ctr"/>
            <a:lstStyle/>
            <a:p>
              <a:pPr algn="ctr">
                <a:lnSpc>
                  <a:spcPts val="2499"/>
                </a:lnSpc>
              </a:pPr>
              <a:r>
                <a:rPr lang="en-US" sz="2499" spc="1999">
                  <a:solidFill>
                    <a:srgbClr val="000000"/>
                  </a:solidFill>
                  <a:latin typeface="Poppins"/>
                  <a:ea typeface="Poppins"/>
                  <a:cs typeface="Poppins"/>
                  <a:sym typeface="Poppins"/>
                </a:rPr>
                <a:t>PROJECT</a:t>
              </a:r>
            </a:p>
          </p:txBody>
        </p:sp>
      </p:grpSp>
      <p:sp>
        <p:nvSpPr>
          <p:cNvPr id="10" name="TextBox 10"/>
          <p:cNvSpPr txBox="1"/>
          <p:nvPr/>
        </p:nvSpPr>
        <p:spPr>
          <a:xfrm>
            <a:off x="3398452" y="4359090"/>
            <a:ext cx="6228522" cy="792525"/>
          </a:xfrm>
          <a:prstGeom prst="rect">
            <a:avLst/>
          </a:prstGeom>
        </p:spPr>
        <p:txBody>
          <a:bodyPr lIns="0" tIns="0" rIns="0" bIns="0" rtlCol="0" anchor="t">
            <a:spAutoFit/>
          </a:bodyPr>
          <a:lstStyle/>
          <a:p>
            <a:pPr algn="l">
              <a:lnSpc>
                <a:spcPts val="6000"/>
              </a:lnSpc>
            </a:pPr>
            <a:r>
              <a:rPr lang="en-US" sz="6000" b="1" u="sng" spc="-60" dirty="0">
                <a:solidFill>
                  <a:srgbClr val="000000"/>
                </a:solidFill>
                <a:latin typeface="Poppins Bold"/>
                <a:ea typeface="Poppins Bold"/>
                <a:cs typeface="Poppins Bold"/>
                <a:sym typeface="Poppins Bold"/>
              </a:rPr>
              <a:t>SENSIFAKE</a:t>
            </a:r>
          </a:p>
        </p:txBody>
      </p:sp>
      <p:sp>
        <p:nvSpPr>
          <p:cNvPr id="11" name="TextBox 11"/>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1</a:t>
            </a:r>
          </a:p>
        </p:txBody>
      </p:sp>
      <p:sp>
        <p:nvSpPr>
          <p:cNvPr id="12" name="CasellaDiTesto 11">
            <a:extLst>
              <a:ext uri="{FF2B5EF4-FFF2-40B4-BE49-F238E27FC236}">
                <a16:creationId xmlns:a16="http://schemas.microsoft.com/office/drawing/2014/main" id="{7625FE1D-3CF8-14D1-2F06-A75B996DD250}"/>
              </a:ext>
            </a:extLst>
          </p:cNvPr>
          <p:cNvSpPr txBox="1"/>
          <p:nvPr/>
        </p:nvSpPr>
        <p:spPr>
          <a:xfrm>
            <a:off x="3398452" y="5372100"/>
            <a:ext cx="6228522" cy="923330"/>
          </a:xfrm>
          <a:prstGeom prst="rect">
            <a:avLst/>
          </a:prstGeom>
          <a:noFill/>
        </p:spPr>
        <p:txBody>
          <a:bodyPr wrap="square" rtlCol="0">
            <a:spAutoFit/>
          </a:bodyPr>
          <a:lstStyle/>
          <a:p>
            <a:r>
              <a:rPr lang="en-US" dirty="0">
                <a:latin typeface="Poppins" panose="00000500000000000000" pitchFamily="2" charset="0"/>
                <a:cs typeface="Poppins" panose="00000500000000000000" pitchFamily="2" charset="0"/>
              </a:rPr>
              <a:t>Sara Basco</a:t>
            </a:r>
          </a:p>
          <a:p>
            <a:r>
              <a:rPr lang="en-US" dirty="0">
                <a:latin typeface="Poppins" panose="00000500000000000000" pitchFamily="2" charset="0"/>
                <a:cs typeface="Poppins" panose="00000500000000000000" pitchFamily="2" charset="0"/>
              </a:rPr>
              <a:t>Lorenzo Berretta</a:t>
            </a:r>
          </a:p>
          <a:p>
            <a:r>
              <a:rPr lang="en-US" dirty="0">
                <a:latin typeface="Poppins" panose="00000500000000000000" pitchFamily="2" charset="0"/>
                <a:cs typeface="Poppins" panose="00000500000000000000" pitchFamily="2" charset="0"/>
              </a:rPr>
              <a:t>Giovanni Di Nola</a:t>
            </a:r>
            <a:endParaRPr lang="it-IT" dirty="0">
              <a:latin typeface="Poppins" panose="00000500000000000000" pitchFamily="2" charset="0"/>
              <a:cs typeface="Poppins" panose="000005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54759" y="571500"/>
            <a:ext cx="5840893" cy="1002547"/>
            <a:chOff x="0" y="0"/>
            <a:chExt cx="1538342" cy="264045"/>
          </a:xfrm>
        </p:grpSpPr>
        <p:sp>
          <p:nvSpPr>
            <p:cNvPr id="3" name="Freeform 3"/>
            <p:cNvSpPr/>
            <p:nvPr/>
          </p:nvSpPr>
          <p:spPr>
            <a:xfrm>
              <a:off x="0" y="0"/>
              <a:ext cx="1538342" cy="264045"/>
            </a:xfrm>
            <a:custGeom>
              <a:avLst/>
              <a:gdLst/>
              <a:ahLst/>
              <a:cxnLst/>
              <a:rect l="l" t="t" r="r" b="b"/>
              <a:pathLst>
                <a:path w="1538342" h="264045">
                  <a:moveTo>
                    <a:pt x="0" y="0"/>
                  </a:moveTo>
                  <a:lnTo>
                    <a:pt x="1538342" y="0"/>
                  </a:lnTo>
                  <a:lnTo>
                    <a:pt x="1538342" y="264045"/>
                  </a:lnTo>
                  <a:lnTo>
                    <a:pt x="0" y="264045"/>
                  </a:lnTo>
                  <a:close/>
                </a:path>
              </a:pathLst>
            </a:custGeom>
            <a:solidFill>
              <a:srgbClr val="C2DCFF"/>
            </a:solidFill>
          </p:spPr>
        </p:sp>
        <p:sp>
          <p:nvSpPr>
            <p:cNvPr id="4" name="TextBox 4"/>
            <p:cNvSpPr txBox="1"/>
            <p:nvPr/>
          </p:nvSpPr>
          <p:spPr>
            <a:xfrm>
              <a:off x="0" y="28575"/>
              <a:ext cx="1538342" cy="235470"/>
            </a:xfrm>
            <a:prstGeom prst="rect">
              <a:avLst/>
            </a:prstGeom>
          </p:spPr>
          <p:txBody>
            <a:bodyPr lIns="50800" tIns="50800" rIns="50800" bIns="50800" rtlCol="0" anchor="ctr"/>
            <a:lstStyle/>
            <a:p>
              <a:pPr algn="ctr">
                <a:lnSpc>
                  <a:spcPts val="2499"/>
                </a:lnSpc>
              </a:pPr>
              <a:endParaRPr/>
            </a:p>
          </p:txBody>
        </p:sp>
      </p:grpSp>
      <p:sp>
        <p:nvSpPr>
          <p:cNvPr id="5" name="TextBox 5"/>
          <p:cNvSpPr txBox="1"/>
          <p:nvPr/>
        </p:nvSpPr>
        <p:spPr>
          <a:xfrm>
            <a:off x="1028700" y="390525"/>
            <a:ext cx="6586786" cy="1095375"/>
          </a:xfrm>
          <a:prstGeom prst="rect">
            <a:avLst/>
          </a:prstGeom>
        </p:spPr>
        <p:txBody>
          <a:bodyPr lIns="0" tIns="0" rIns="0" bIns="0" rtlCol="0" anchor="t">
            <a:spAutoFit/>
          </a:bodyPr>
          <a:lstStyle/>
          <a:p>
            <a:pPr algn="ctr">
              <a:lnSpc>
                <a:spcPts val="8400"/>
              </a:lnSpc>
              <a:spcBef>
                <a:spcPct val="0"/>
              </a:spcBef>
            </a:pPr>
            <a:r>
              <a:rPr lang="en-US" sz="6000" b="1">
                <a:solidFill>
                  <a:srgbClr val="022B3A"/>
                </a:solidFill>
                <a:latin typeface="Poppins Bold"/>
                <a:ea typeface="Poppins Bold"/>
                <a:cs typeface="Poppins Bold"/>
                <a:sym typeface="Poppins Bold"/>
              </a:rPr>
              <a:t>Project Goals</a:t>
            </a:r>
          </a:p>
        </p:txBody>
      </p:sp>
      <p:grpSp>
        <p:nvGrpSpPr>
          <p:cNvPr id="6" name="Group 6"/>
          <p:cNvGrpSpPr/>
          <p:nvPr/>
        </p:nvGrpSpPr>
        <p:grpSpPr>
          <a:xfrm>
            <a:off x="1127168" y="571500"/>
            <a:ext cx="209921" cy="1002547"/>
            <a:chOff x="0" y="0"/>
            <a:chExt cx="55288" cy="264045"/>
          </a:xfrm>
        </p:grpSpPr>
        <p:sp>
          <p:nvSpPr>
            <p:cNvPr id="7" name="Freeform 7"/>
            <p:cNvSpPr/>
            <p:nvPr/>
          </p:nvSpPr>
          <p:spPr>
            <a:xfrm>
              <a:off x="0" y="0"/>
              <a:ext cx="55288" cy="264045"/>
            </a:xfrm>
            <a:custGeom>
              <a:avLst/>
              <a:gdLst/>
              <a:ahLst/>
              <a:cxnLst/>
              <a:rect l="l" t="t" r="r" b="b"/>
              <a:pathLst>
                <a:path w="55288" h="264045">
                  <a:moveTo>
                    <a:pt x="0" y="0"/>
                  </a:moveTo>
                  <a:lnTo>
                    <a:pt x="55288" y="0"/>
                  </a:lnTo>
                  <a:lnTo>
                    <a:pt x="55288" y="264045"/>
                  </a:lnTo>
                  <a:lnTo>
                    <a:pt x="0" y="264045"/>
                  </a:lnTo>
                  <a:close/>
                </a:path>
              </a:pathLst>
            </a:custGeom>
            <a:solidFill>
              <a:srgbClr val="022B3A"/>
            </a:solidFill>
          </p:spPr>
        </p:sp>
        <p:sp>
          <p:nvSpPr>
            <p:cNvPr id="8" name="TextBox 8"/>
            <p:cNvSpPr txBox="1"/>
            <p:nvPr/>
          </p:nvSpPr>
          <p:spPr>
            <a:xfrm>
              <a:off x="0" y="28575"/>
              <a:ext cx="55288" cy="235470"/>
            </a:xfrm>
            <a:prstGeom prst="rect">
              <a:avLst/>
            </a:prstGeom>
          </p:spPr>
          <p:txBody>
            <a:bodyPr lIns="50800" tIns="50800" rIns="50800" bIns="50800" rtlCol="0" anchor="ctr"/>
            <a:lstStyle/>
            <a:p>
              <a:pPr algn="ctr">
                <a:lnSpc>
                  <a:spcPts val="2499"/>
                </a:lnSpc>
              </a:pPr>
              <a:endParaRPr/>
            </a:p>
          </p:txBody>
        </p:sp>
      </p:grpSp>
      <p:sp>
        <p:nvSpPr>
          <p:cNvPr id="9" name="Freeform 9"/>
          <p:cNvSpPr/>
          <p:nvPr/>
        </p:nvSpPr>
        <p:spPr>
          <a:xfrm>
            <a:off x="592430" y="3415415"/>
            <a:ext cx="17103141" cy="6669057"/>
          </a:xfrm>
          <a:custGeom>
            <a:avLst/>
            <a:gdLst/>
            <a:ahLst/>
            <a:cxnLst/>
            <a:rect l="l" t="t" r="r" b="b"/>
            <a:pathLst>
              <a:path w="17103141" h="6669057">
                <a:moveTo>
                  <a:pt x="0" y="0"/>
                </a:moveTo>
                <a:lnTo>
                  <a:pt x="17103140" y="0"/>
                </a:lnTo>
                <a:lnTo>
                  <a:pt x="17103140" y="6669057"/>
                </a:lnTo>
                <a:lnTo>
                  <a:pt x="0" y="6669057"/>
                </a:lnTo>
                <a:lnTo>
                  <a:pt x="0" y="0"/>
                </a:lnTo>
                <a:close/>
              </a:path>
            </a:pathLst>
          </a:custGeom>
          <a:blipFill>
            <a:blip r:embed="rId2"/>
            <a:stretch>
              <a:fillRect/>
            </a:stretch>
          </a:blipFill>
        </p:spPr>
      </p:sp>
      <p:sp>
        <p:nvSpPr>
          <p:cNvPr id="10" name="TextBox 10"/>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2</a:t>
            </a:r>
          </a:p>
        </p:txBody>
      </p:sp>
      <p:sp>
        <p:nvSpPr>
          <p:cNvPr id="11" name="TextBox 11"/>
          <p:cNvSpPr txBox="1"/>
          <p:nvPr/>
        </p:nvSpPr>
        <p:spPr>
          <a:xfrm>
            <a:off x="1092994" y="1667828"/>
            <a:ext cx="7951827" cy="431798"/>
          </a:xfrm>
          <a:prstGeom prst="rect">
            <a:avLst/>
          </a:prstGeom>
        </p:spPr>
        <p:txBody>
          <a:bodyPr lIns="0" tIns="0" rIns="0" bIns="0" rtlCol="0" anchor="t">
            <a:spAutoFit/>
          </a:bodyPr>
          <a:lstStyle/>
          <a:p>
            <a:pPr algn="ctr">
              <a:lnSpc>
                <a:spcPts val="3500"/>
              </a:lnSpc>
            </a:pPr>
            <a:r>
              <a:rPr lang="en-US" sz="2500" b="1">
                <a:solidFill>
                  <a:srgbClr val="022B3A"/>
                </a:solidFill>
                <a:latin typeface="Open Sans Bold"/>
                <a:ea typeface="Open Sans Bold"/>
                <a:cs typeface="Open Sans Bold"/>
                <a:sym typeface="Open Sans Bold"/>
              </a:rPr>
              <a:t>Not all classification errors have the same impact.</a:t>
            </a:r>
          </a:p>
        </p:txBody>
      </p:sp>
      <p:sp>
        <p:nvSpPr>
          <p:cNvPr id="12" name="TextBox 12"/>
          <p:cNvSpPr txBox="1"/>
          <p:nvPr/>
        </p:nvSpPr>
        <p:spPr>
          <a:xfrm>
            <a:off x="1028700" y="2204402"/>
            <a:ext cx="15818061" cy="789304"/>
          </a:xfrm>
          <a:prstGeom prst="rect">
            <a:avLst/>
          </a:prstGeom>
        </p:spPr>
        <p:txBody>
          <a:bodyPr lIns="0" tIns="0" rIns="0" bIns="0" rtlCol="0" anchor="t">
            <a:spAutoFit/>
          </a:bodyPr>
          <a:lstStyle/>
          <a:p>
            <a:pPr algn="l">
              <a:lnSpc>
                <a:spcPts val="3220"/>
              </a:lnSpc>
            </a:pPr>
            <a:r>
              <a:rPr lang="en-US" sz="2300">
                <a:solidFill>
                  <a:srgbClr val="022B3A"/>
                </a:solidFill>
                <a:latin typeface="Open Sans"/>
                <a:ea typeface="Open Sans"/>
                <a:cs typeface="Open Sans"/>
                <a:sym typeface="Open Sans"/>
              </a:rPr>
              <a:t>SensiFake aims to protect any individual from false acusations and to avoid the spreading of fabricated news by recognising the sensibility of the content of the image and consequently adapting its evaluation parameters.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51270" y="1551770"/>
            <a:ext cx="4709374" cy="6446864"/>
            <a:chOff x="0" y="0"/>
            <a:chExt cx="1240329" cy="1697939"/>
          </a:xfrm>
        </p:grpSpPr>
        <p:sp>
          <p:nvSpPr>
            <p:cNvPr id="3" name="Freeform 3"/>
            <p:cNvSpPr/>
            <p:nvPr/>
          </p:nvSpPr>
          <p:spPr>
            <a:xfrm>
              <a:off x="0" y="0"/>
              <a:ext cx="1240329" cy="1697940"/>
            </a:xfrm>
            <a:custGeom>
              <a:avLst/>
              <a:gdLst/>
              <a:ahLst/>
              <a:cxnLst/>
              <a:rect l="l" t="t" r="r" b="b"/>
              <a:pathLst>
                <a:path w="1240329" h="1697940">
                  <a:moveTo>
                    <a:pt x="0" y="0"/>
                  </a:moveTo>
                  <a:lnTo>
                    <a:pt x="1240329" y="0"/>
                  </a:lnTo>
                  <a:lnTo>
                    <a:pt x="1240329" y="1697940"/>
                  </a:lnTo>
                  <a:lnTo>
                    <a:pt x="0" y="1697940"/>
                  </a:lnTo>
                  <a:close/>
                </a:path>
              </a:pathLst>
            </a:custGeom>
            <a:solidFill>
              <a:srgbClr val="C2DCFF"/>
            </a:solidFill>
          </p:spPr>
          <p:txBody>
            <a:bodyPr/>
            <a:lstStyle/>
            <a:p>
              <a:endParaRPr/>
            </a:p>
          </p:txBody>
        </p:sp>
        <p:sp>
          <p:nvSpPr>
            <p:cNvPr id="4" name="TextBox 4"/>
            <p:cNvSpPr txBox="1"/>
            <p:nvPr/>
          </p:nvSpPr>
          <p:spPr>
            <a:xfrm>
              <a:off x="0" y="28575"/>
              <a:ext cx="1240329" cy="1669364"/>
            </a:xfrm>
            <a:prstGeom prst="rect">
              <a:avLst/>
            </a:prstGeom>
          </p:spPr>
          <p:txBody>
            <a:bodyPr lIns="50800" tIns="50800" rIns="50800" bIns="50800" rtlCol="0" anchor="ctr"/>
            <a:lstStyle/>
            <a:p>
              <a:pPr algn="ctr">
                <a:lnSpc>
                  <a:spcPts val="2499"/>
                </a:lnSpc>
              </a:pPr>
              <a:endParaRPr/>
            </a:p>
          </p:txBody>
        </p:sp>
      </p:grpSp>
      <p:grpSp>
        <p:nvGrpSpPr>
          <p:cNvPr id="5" name="Group 5"/>
          <p:cNvGrpSpPr/>
          <p:nvPr/>
        </p:nvGrpSpPr>
        <p:grpSpPr>
          <a:xfrm>
            <a:off x="2078537" y="4749973"/>
            <a:ext cx="6206629" cy="1307324"/>
            <a:chOff x="0" y="0"/>
            <a:chExt cx="1634668" cy="344316"/>
          </a:xfrm>
        </p:grpSpPr>
        <p:sp>
          <p:nvSpPr>
            <p:cNvPr id="6" name="Freeform 6"/>
            <p:cNvSpPr/>
            <p:nvPr/>
          </p:nvSpPr>
          <p:spPr>
            <a:xfrm>
              <a:off x="0" y="0"/>
              <a:ext cx="1634668" cy="344316"/>
            </a:xfrm>
            <a:custGeom>
              <a:avLst/>
              <a:gdLst/>
              <a:ahLst/>
              <a:cxnLst/>
              <a:rect l="l" t="t" r="r" b="b"/>
              <a:pathLst>
                <a:path w="1634668" h="344316">
                  <a:moveTo>
                    <a:pt x="0" y="0"/>
                  </a:moveTo>
                  <a:lnTo>
                    <a:pt x="1634668" y="0"/>
                  </a:lnTo>
                  <a:lnTo>
                    <a:pt x="1634668" y="344316"/>
                  </a:lnTo>
                  <a:lnTo>
                    <a:pt x="0" y="344316"/>
                  </a:lnTo>
                  <a:close/>
                </a:path>
              </a:pathLst>
            </a:custGeom>
            <a:solidFill>
              <a:srgbClr val="F4F4F4"/>
            </a:solidFill>
          </p:spPr>
          <p:txBody>
            <a:bodyPr/>
            <a:lstStyle/>
            <a:p>
              <a:endParaRPr/>
            </a:p>
          </p:txBody>
        </p:sp>
        <p:sp>
          <p:nvSpPr>
            <p:cNvPr id="7" name="TextBox 7"/>
            <p:cNvSpPr txBox="1"/>
            <p:nvPr/>
          </p:nvSpPr>
          <p:spPr>
            <a:xfrm>
              <a:off x="0" y="28575"/>
              <a:ext cx="1634668" cy="315741"/>
            </a:xfrm>
            <a:prstGeom prst="rect">
              <a:avLst/>
            </a:prstGeom>
          </p:spPr>
          <p:txBody>
            <a:bodyPr lIns="50800" tIns="50800" rIns="50800" bIns="50800" rtlCol="0" anchor="ctr"/>
            <a:lstStyle/>
            <a:p>
              <a:pPr algn="ctr">
                <a:lnSpc>
                  <a:spcPts val="2499"/>
                </a:lnSpc>
              </a:pPr>
              <a:endParaRPr/>
            </a:p>
          </p:txBody>
        </p:sp>
      </p:grpSp>
      <p:grpSp>
        <p:nvGrpSpPr>
          <p:cNvPr id="8" name="Group 8"/>
          <p:cNvGrpSpPr/>
          <p:nvPr/>
        </p:nvGrpSpPr>
        <p:grpSpPr>
          <a:xfrm>
            <a:off x="2079835" y="2056955"/>
            <a:ext cx="3611568" cy="1002547"/>
            <a:chOff x="0" y="0"/>
            <a:chExt cx="951195" cy="264045"/>
          </a:xfrm>
        </p:grpSpPr>
        <p:sp>
          <p:nvSpPr>
            <p:cNvPr id="9" name="Freeform 9"/>
            <p:cNvSpPr/>
            <p:nvPr/>
          </p:nvSpPr>
          <p:spPr>
            <a:xfrm>
              <a:off x="0" y="0"/>
              <a:ext cx="951195" cy="264045"/>
            </a:xfrm>
            <a:custGeom>
              <a:avLst/>
              <a:gdLst/>
              <a:ahLst/>
              <a:cxnLst/>
              <a:rect l="l" t="t" r="r" b="b"/>
              <a:pathLst>
                <a:path w="951195" h="264045">
                  <a:moveTo>
                    <a:pt x="0" y="0"/>
                  </a:moveTo>
                  <a:lnTo>
                    <a:pt x="951195" y="0"/>
                  </a:lnTo>
                  <a:lnTo>
                    <a:pt x="951195" y="264045"/>
                  </a:lnTo>
                  <a:lnTo>
                    <a:pt x="0" y="264045"/>
                  </a:lnTo>
                  <a:close/>
                </a:path>
              </a:pathLst>
            </a:custGeom>
            <a:solidFill>
              <a:srgbClr val="F4F4F4"/>
            </a:solidFill>
          </p:spPr>
          <p:txBody>
            <a:bodyPr/>
            <a:lstStyle/>
            <a:p>
              <a:endParaRPr/>
            </a:p>
          </p:txBody>
        </p:sp>
        <p:sp>
          <p:nvSpPr>
            <p:cNvPr id="10" name="TextBox 10"/>
            <p:cNvSpPr txBox="1"/>
            <p:nvPr/>
          </p:nvSpPr>
          <p:spPr>
            <a:xfrm>
              <a:off x="0" y="28575"/>
              <a:ext cx="951195" cy="235470"/>
            </a:xfrm>
            <a:prstGeom prst="rect">
              <a:avLst/>
            </a:prstGeom>
          </p:spPr>
          <p:txBody>
            <a:bodyPr lIns="50800" tIns="50800" rIns="50800" bIns="50800" rtlCol="0" anchor="ctr"/>
            <a:lstStyle/>
            <a:p>
              <a:pPr algn="ctr">
                <a:lnSpc>
                  <a:spcPts val="2499"/>
                </a:lnSpc>
              </a:pPr>
              <a:endParaRPr/>
            </a:p>
          </p:txBody>
        </p:sp>
      </p:grpSp>
      <p:grpSp>
        <p:nvGrpSpPr>
          <p:cNvPr id="11" name="Group 11"/>
          <p:cNvGrpSpPr/>
          <p:nvPr/>
        </p:nvGrpSpPr>
        <p:grpSpPr>
          <a:xfrm>
            <a:off x="2079835" y="3514793"/>
            <a:ext cx="6206629" cy="1002547"/>
            <a:chOff x="0" y="0"/>
            <a:chExt cx="1634668" cy="264045"/>
          </a:xfrm>
        </p:grpSpPr>
        <p:sp>
          <p:nvSpPr>
            <p:cNvPr id="12" name="Freeform 12"/>
            <p:cNvSpPr/>
            <p:nvPr/>
          </p:nvSpPr>
          <p:spPr>
            <a:xfrm>
              <a:off x="0" y="0"/>
              <a:ext cx="1634668" cy="264045"/>
            </a:xfrm>
            <a:custGeom>
              <a:avLst/>
              <a:gdLst/>
              <a:ahLst/>
              <a:cxnLst/>
              <a:rect l="l" t="t" r="r" b="b"/>
              <a:pathLst>
                <a:path w="1634668" h="264045">
                  <a:moveTo>
                    <a:pt x="0" y="0"/>
                  </a:moveTo>
                  <a:lnTo>
                    <a:pt x="1634668" y="0"/>
                  </a:lnTo>
                  <a:lnTo>
                    <a:pt x="1634668" y="264045"/>
                  </a:lnTo>
                  <a:lnTo>
                    <a:pt x="0" y="264045"/>
                  </a:lnTo>
                  <a:close/>
                </a:path>
              </a:pathLst>
            </a:custGeom>
            <a:solidFill>
              <a:srgbClr val="F4F4F4"/>
            </a:solidFill>
          </p:spPr>
          <p:txBody>
            <a:bodyPr/>
            <a:lstStyle/>
            <a:p>
              <a:endParaRPr/>
            </a:p>
          </p:txBody>
        </p:sp>
        <p:sp>
          <p:nvSpPr>
            <p:cNvPr id="13" name="TextBox 13"/>
            <p:cNvSpPr txBox="1"/>
            <p:nvPr/>
          </p:nvSpPr>
          <p:spPr>
            <a:xfrm>
              <a:off x="0" y="28575"/>
              <a:ext cx="1634668" cy="235470"/>
            </a:xfrm>
            <a:prstGeom prst="rect">
              <a:avLst/>
            </a:prstGeom>
          </p:spPr>
          <p:txBody>
            <a:bodyPr lIns="50800" tIns="50800" rIns="50800" bIns="50800" rtlCol="0" anchor="ctr"/>
            <a:lstStyle/>
            <a:p>
              <a:pPr algn="ctr">
                <a:lnSpc>
                  <a:spcPts val="2499"/>
                </a:lnSpc>
              </a:pPr>
              <a:endParaRPr/>
            </a:p>
          </p:txBody>
        </p:sp>
      </p:grpSp>
      <p:grpSp>
        <p:nvGrpSpPr>
          <p:cNvPr id="14" name="Group 14"/>
          <p:cNvGrpSpPr/>
          <p:nvPr/>
        </p:nvGrpSpPr>
        <p:grpSpPr>
          <a:xfrm>
            <a:off x="1739140" y="2056955"/>
            <a:ext cx="209921" cy="1002547"/>
            <a:chOff x="0" y="0"/>
            <a:chExt cx="55288" cy="264045"/>
          </a:xfrm>
        </p:grpSpPr>
        <p:sp>
          <p:nvSpPr>
            <p:cNvPr id="15" name="Freeform 15"/>
            <p:cNvSpPr/>
            <p:nvPr/>
          </p:nvSpPr>
          <p:spPr>
            <a:xfrm>
              <a:off x="0" y="0"/>
              <a:ext cx="55288" cy="264045"/>
            </a:xfrm>
            <a:custGeom>
              <a:avLst/>
              <a:gdLst/>
              <a:ahLst/>
              <a:cxnLst/>
              <a:rect l="l" t="t" r="r" b="b"/>
              <a:pathLst>
                <a:path w="55288" h="264045">
                  <a:moveTo>
                    <a:pt x="0" y="0"/>
                  </a:moveTo>
                  <a:lnTo>
                    <a:pt x="55288" y="0"/>
                  </a:lnTo>
                  <a:lnTo>
                    <a:pt x="55288" y="264045"/>
                  </a:lnTo>
                  <a:lnTo>
                    <a:pt x="0" y="264045"/>
                  </a:lnTo>
                  <a:close/>
                </a:path>
              </a:pathLst>
            </a:custGeom>
            <a:solidFill>
              <a:srgbClr val="022B3A"/>
            </a:solidFill>
          </p:spPr>
          <p:txBody>
            <a:bodyPr/>
            <a:lstStyle/>
            <a:p>
              <a:endParaRPr/>
            </a:p>
          </p:txBody>
        </p:sp>
        <p:sp>
          <p:nvSpPr>
            <p:cNvPr id="16" name="TextBox 16"/>
            <p:cNvSpPr txBox="1"/>
            <p:nvPr/>
          </p:nvSpPr>
          <p:spPr>
            <a:xfrm>
              <a:off x="0" y="28575"/>
              <a:ext cx="55288" cy="235470"/>
            </a:xfrm>
            <a:prstGeom prst="rect">
              <a:avLst/>
            </a:prstGeom>
          </p:spPr>
          <p:txBody>
            <a:bodyPr lIns="50800" tIns="50800" rIns="50800" bIns="50800" rtlCol="0" anchor="ctr"/>
            <a:lstStyle/>
            <a:p>
              <a:pPr algn="ctr">
                <a:lnSpc>
                  <a:spcPts val="2499"/>
                </a:lnSpc>
              </a:pPr>
              <a:endParaRPr/>
            </a:p>
          </p:txBody>
        </p:sp>
      </p:grpSp>
      <p:grpSp>
        <p:nvGrpSpPr>
          <p:cNvPr id="17" name="Group 17"/>
          <p:cNvGrpSpPr/>
          <p:nvPr/>
        </p:nvGrpSpPr>
        <p:grpSpPr>
          <a:xfrm>
            <a:off x="2079835" y="6381147"/>
            <a:ext cx="6206629" cy="1103333"/>
            <a:chOff x="0" y="0"/>
            <a:chExt cx="1634668" cy="290590"/>
          </a:xfrm>
        </p:grpSpPr>
        <p:sp>
          <p:nvSpPr>
            <p:cNvPr id="18" name="Freeform 18"/>
            <p:cNvSpPr/>
            <p:nvPr/>
          </p:nvSpPr>
          <p:spPr>
            <a:xfrm>
              <a:off x="0" y="0"/>
              <a:ext cx="1634668" cy="290590"/>
            </a:xfrm>
            <a:custGeom>
              <a:avLst/>
              <a:gdLst/>
              <a:ahLst/>
              <a:cxnLst/>
              <a:rect l="l" t="t" r="r" b="b"/>
              <a:pathLst>
                <a:path w="1634668" h="290590">
                  <a:moveTo>
                    <a:pt x="0" y="0"/>
                  </a:moveTo>
                  <a:lnTo>
                    <a:pt x="1634668" y="0"/>
                  </a:lnTo>
                  <a:lnTo>
                    <a:pt x="1634668" y="290590"/>
                  </a:lnTo>
                  <a:lnTo>
                    <a:pt x="0" y="290590"/>
                  </a:lnTo>
                  <a:close/>
                </a:path>
              </a:pathLst>
            </a:custGeom>
            <a:solidFill>
              <a:srgbClr val="F4F4F4"/>
            </a:solidFill>
          </p:spPr>
          <p:txBody>
            <a:bodyPr/>
            <a:lstStyle/>
            <a:p>
              <a:endParaRPr/>
            </a:p>
          </p:txBody>
        </p:sp>
        <p:sp>
          <p:nvSpPr>
            <p:cNvPr id="19" name="TextBox 19"/>
            <p:cNvSpPr txBox="1"/>
            <p:nvPr/>
          </p:nvSpPr>
          <p:spPr>
            <a:xfrm>
              <a:off x="0" y="28575"/>
              <a:ext cx="1634668" cy="262015"/>
            </a:xfrm>
            <a:prstGeom prst="rect">
              <a:avLst/>
            </a:prstGeom>
          </p:spPr>
          <p:txBody>
            <a:bodyPr lIns="50800" tIns="50800" rIns="50800" bIns="50800" rtlCol="0" anchor="ctr"/>
            <a:lstStyle/>
            <a:p>
              <a:pPr algn="ctr">
                <a:lnSpc>
                  <a:spcPts val="2499"/>
                </a:lnSpc>
              </a:pPr>
              <a:endParaRPr/>
            </a:p>
          </p:txBody>
        </p:sp>
      </p:grpSp>
      <p:sp>
        <p:nvSpPr>
          <p:cNvPr id="20" name="Freeform 20"/>
          <p:cNvSpPr/>
          <p:nvPr/>
        </p:nvSpPr>
        <p:spPr>
          <a:xfrm>
            <a:off x="10804685" y="163297"/>
            <a:ext cx="4764789" cy="3179835"/>
          </a:xfrm>
          <a:custGeom>
            <a:avLst/>
            <a:gdLst/>
            <a:ahLst/>
            <a:cxnLst/>
            <a:rect l="l" t="t" r="r" b="b"/>
            <a:pathLst>
              <a:path w="4764789" h="3179835">
                <a:moveTo>
                  <a:pt x="0" y="0"/>
                </a:moveTo>
                <a:lnTo>
                  <a:pt x="4764789" y="0"/>
                </a:lnTo>
                <a:lnTo>
                  <a:pt x="4764789" y="3179835"/>
                </a:lnTo>
                <a:lnTo>
                  <a:pt x="0" y="3179835"/>
                </a:lnTo>
                <a:lnTo>
                  <a:pt x="0" y="0"/>
                </a:lnTo>
                <a:close/>
              </a:path>
            </a:pathLst>
          </a:custGeom>
          <a:blipFill>
            <a:blip r:embed="rId2"/>
            <a:stretch>
              <a:fillRect/>
            </a:stretch>
          </a:blipFill>
        </p:spPr>
        <p:txBody>
          <a:bodyPr/>
          <a:lstStyle/>
          <a:p>
            <a:endParaRPr/>
          </a:p>
        </p:txBody>
      </p:sp>
      <p:sp>
        <p:nvSpPr>
          <p:cNvPr id="21" name="Freeform 21"/>
          <p:cNvSpPr/>
          <p:nvPr/>
        </p:nvSpPr>
        <p:spPr>
          <a:xfrm>
            <a:off x="10804685" y="3514793"/>
            <a:ext cx="4764789" cy="3176526"/>
          </a:xfrm>
          <a:custGeom>
            <a:avLst/>
            <a:gdLst/>
            <a:ahLst/>
            <a:cxnLst/>
            <a:rect l="l" t="t" r="r" b="b"/>
            <a:pathLst>
              <a:path w="4764789" h="3176526">
                <a:moveTo>
                  <a:pt x="0" y="0"/>
                </a:moveTo>
                <a:lnTo>
                  <a:pt x="4764789" y="0"/>
                </a:lnTo>
                <a:lnTo>
                  <a:pt x="4764789" y="3176526"/>
                </a:lnTo>
                <a:lnTo>
                  <a:pt x="0" y="3176526"/>
                </a:lnTo>
                <a:lnTo>
                  <a:pt x="0" y="0"/>
                </a:lnTo>
                <a:close/>
              </a:path>
            </a:pathLst>
          </a:custGeom>
          <a:blipFill>
            <a:blip r:embed="rId3"/>
            <a:stretch>
              <a:fillRect/>
            </a:stretch>
          </a:blipFill>
        </p:spPr>
        <p:txBody>
          <a:bodyPr/>
          <a:lstStyle/>
          <a:p>
            <a:endParaRPr/>
          </a:p>
        </p:txBody>
      </p:sp>
      <p:sp>
        <p:nvSpPr>
          <p:cNvPr id="22" name="Freeform 22"/>
          <p:cNvSpPr/>
          <p:nvPr/>
        </p:nvSpPr>
        <p:spPr>
          <a:xfrm>
            <a:off x="10804685" y="6862769"/>
            <a:ext cx="4764789" cy="3257180"/>
          </a:xfrm>
          <a:custGeom>
            <a:avLst/>
            <a:gdLst/>
            <a:ahLst/>
            <a:cxnLst/>
            <a:rect l="l" t="t" r="r" b="b"/>
            <a:pathLst>
              <a:path w="4764789" h="3257180">
                <a:moveTo>
                  <a:pt x="0" y="0"/>
                </a:moveTo>
                <a:lnTo>
                  <a:pt x="4764789" y="0"/>
                </a:lnTo>
                <a:lnTo>
                  <a:pt x="4764789" y="3257180"/>
                </a:lnTo>
                <a:lnTo>
                  <a:pt x="0" y="3257180"/>
                </a:lnTo>
                <a:lnTo>
                  <a:pt x="0" y="0"/>
                </a:lnTo>
                <a:close/>
              </a:path>
            </a:pathLst>
          </a:custGeom>
          <a:blipFill>
            <a:blip r:embed="rId4"/>
            <a:stretch>
              <a:fillRect/>
            </a:stretch>
          </a:blipFill>
        </p:spPr>
        <p:txBody>
          <a:bodyPr/>
          <a:lstStyle/>
          <a:p>
            <a:endParaRPr/>
          </a:p>
        </p:txBody>
      </p:sp>
      <p:sp>
        <p:nvSpPr>
          <p:cNvPr id="23" name="TextBox 23"/>
          <p:cNvSpPr txBox="1"/>
          <p:nvPr/>
        </p:nvSpPr>
        <p:spPr>
          <a:xfrm>
            <a:off x="2203417" y="2148653"/>
            <a:ext cx="7400875" cy="866775"/>
          </a:xfrm>
          <a:prstGeom prst="rect">
            <a:avLst/>
          </a:prstGeom>
        </p:spPr>
        <p:txBody>
          <a:bodyPr lIns="0" tIns="0" rIns="0" bIns="0" rtlCol="0" anchor="t">
            <a:spAutoFit/>
          </a:bodyPr>
          <a:lstStyle/>
          <a:p>
            <a:pPr algn="l">
              <a:lnSpc>
                <a:spcPts val="6000"/>
              </a:lnSpc>
            </a:pPr>
            <a:r>
              <a:rPr lang="en-US" sz="6000" b="1">
                <a:solidFill>
                  <a:srgbClr val="022B3A"/>
                </a:solidFill>
                <a:latin typeface="Poppins Bold"/>
                <a:ea typeface="Poppins Bold"/>
                <a:cs typeface="Poppins Bold"/>
                <a:sym typeface="Poppins Bold"/>
              </a:rPr>
              <a:t>Dataset</a:t>
            </a:r>
          </a:p>
        </p:txBody>
      </p:sp>
      <p:sp>
        <p:nvSpPr>
          <p:cNvPr id="24" name="TextBox 24"/>
          <p:cNvSpPr txBox="1"/>
          <p:nvPr/>
        </p:nvSpPr>
        <p:spPr>
          <a:xfrm>
            <a:off x="2203417" y="4057125"/>
            <a:ext cx="6385733" cy="368300"/>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A Research on the analysis of real life scenarios</a:t>
            </a:r>
          </a:p>
        </p:txBody>
      </p:sp>
      <p:sp>
        <p:nvSpPr>
          <p:cNvPr id="25" name="TextBox 25"/>
          <p:cNvSpPr txBox="1"/>
          <p:nvPr/>
        </p:nvSpPr>
        <p:spPr>
          <a:xfrm>
            <a:off x="2203417" y="5245273"/>
            <a:ext cx="6206629" cy="720725"/>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Dataset w</a:t>
            </a:r>
            <a:r>
              <a:rPr lang="en-US" sz="2000" u="none">
                <a:solidFill>
                  <a:srgbClr val="022B3A"/>
                </a:solidFill>
                <a:latin typeface="Poppins"/>
                <a:ea typeface="Poppins"/>
                <a:cs typeface="Poppins"/>
                <a:sym typeface="Poppins"/>
              </a:rPr>
              <a:t>ith a focus on politically and socially salient content</a:t>
            </a:r>
          </a:p>
        </p:txBody>
      </p:sp>
      <p:sp>
        <p:nvSpPr>
          <p:cNvPr id="26" name="TextBox 26"/>
          <p:cNvSpPr txBox="1"/>
          <p:nvPr/>
        </p:nvSpPr>
        <p:spPr>
          <a:xfrm>
            <a:off x="2203417" y="3473142"/>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I</a:t>
            </a:r>
            <a:r>
              <a:rPr lang="en-US" sz="3000" b="1" u="none">
                <a:solidFill>
                  <a:srgbClr val="022B3A"/>
                </a:solidFill>
                <a:latin typeface="Poppins Bold"/>
                <a:ea typeface="Poppins Bold"/>
                <a:cs typeface="Poppins Bold"/>
                <a:sym typeface="Poppins Bold"/>
              </a:rPr>
              <a:t>CCV 2025 RRDataset</a:t>
            </a:r>
          </a:p>
        </p:txBody>
      </p:sp>
      <p:sp>
        <p:nvSpPr>
          <p:cNvPr id="27" name="TextBox 27"/>
          <p:cNvSpPr txBox="1"/>
          <p:nvPr/>
        </p:nvSpPr>
        <p:spPr>
          <a:xfrm>
            <a:off x="2203417" y="4664248"/>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Op</a:t>
            </a:r>
            <a:r>
              <a:rPr lang="en-US" sz="3000" b="1" u="none">
                <a:solidFill>
                  <a:srgbClr val="022B3A"/>
                </a:solidFill>
                <a:latin typeface="Poppins Bold"/>
                <a:ea typeface="Poppins Bold"/>
                <a:cs typeface="Poppins Bold"/>
                <a:sym typeface="Poppins Bold"/>
              </a:rPr>
              <a:t>enFake </a:t>
            </a:r>
          </a:p>
        </p:txBody>
      </p:sp>
      <p:sp>
        <p:nvSpPr>
          <p:cNvPr id="28" name="TextBox 28"/>
          <p:cNvSpPr txBox="1"/>
          <p:nvPr/>
        </p:nvSpPr>
        <p:spPr>
          <a:xfrm>
            <a:off x="2204715" y="6876447"/>
            <a:ext cx="4953544" cy="368300"/>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S</a:t>
            </a:r>
            <a:r>
              <a:rPr lang="en-US" sz="2000" u="none">
                <a:solidFill>
                  <a:srgbClr val="022B3A"/>
                </a:solidFill>
                <a:latin typeface="Poppins"/>
                <a:ea typeface="Poppins"/>
                <a:cs typeface="Poppins"/>
                <a:sym typeface="Poppins"/>
              </a:rPr>
              <a:t>ocial media Image Detection dataSet</a:t>
            </a:r>
          </a:p>
        </p:txBody>
      </p:sp>
      <p:sp>
        <p:nvSpPr>
          <p:cNvPr id="29" name="TextBox 29"/>
          <p:cNvSpPr txBox="1"/>
          <p:nvPr/>
        </p:nvSpPr>
        <p:spPr>
          <a:xfrm>
            <a:off x="2204715" y="6295422"/>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SID-Set</a:t>
            </a:r>
          </a:p>
        </p:txBody>
      </p:sp>
      <p:sp>
        <p:nvSpPr>
          <p:cNvPr id="30" name="TextBox 30"/>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3429000" y="1562100"/>
            <a:ext cx="6069524" cy="1628775"/>
          </a:xfrm>
          <a:prstGeom prst="rect">
            <a:avLst/>
          </a:prstGeom>
        </p:spPr>
        <p:txBody>
          <a:bodyPr lIns="0" tIns="0" rIns="0" bIns="0" rtlCol="0" anchor="t">
            <a:spAutoFit/>
          </a:bodyPr>
          <a:lstStyle/>
          <a:p>
            <a:pPr algn="l">
              <a:lnSpc>
                <a:spcPts val="6000"/>
              </a:lnSpc>
            </a:pPr>
            <a:r>
              <a:rPr lang="en-US" sz="6000" b="1" spc="-60">
                <a:solidFill>
                  <a:srgbClr val="022B3A"/>
                </a:solidFill>
                <a:latin typeface="Poppins Bold"/>
                <a:ea typeface="Poppins Bold"/>
                <a:cs typeface="Poppins Bold"/>
                <a:sym typeface="Poppins Bold"/>
              </a:rPr>
              <a:t>Dataset Construction</a:t>
            </a:r>
          </a:p>
        </p:txBody>
      </p:sp>
      <p:sp>
        <p:nvSpPr>
          <p:cNvPr id="3" name="TextBox 3"/>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dirty="0">
                <a:solidFill>
                  <a:srgbClr val="022B3A"/>
                </a:solidFill>
                <a:latin typeface="Open Sans"/>
                <a:ea typeface="Open Sans"/>
                <a:cs typeface="Open Sans"/>
                <a:sym typeface="Open Sans"/>
              </a:rPr>
              <a:t>3</a:t>
            </a:r>
          </a:p>
        </p:txBody>
      </p:sp>
      <p:grpSp>
        <p:nvGrpSpPr>
          <p:cNvPr id="4" name="Group 2">
            <a:extLst>
              <a:ext uri="{FF2B5EF4-FFF2-40B4-BE49-F238E27FC236}">
                <a16:creationId xmlns:a16="http://schemas.microsoft.com/office/drawing/2014/main" id="{7B767BDD-205F-C7C3-73FA-A8A839C308B0}"/>
              </a:ext>
            </a:extLst>
          </p:cNvPr>
          <p:cNvGrpSpPr/>
          <p:nvPr/>
        </p:nvGrpSpPr>
        <p:grpSpPr>
          <a:xfrm>
            <a:off x="-189370" y="1028700"/>
            <a:ext cx="3127322" cy="4610949"/>
            <a:chOff x="0" y="0"/>
            <a:chExt cx="823657" cy="1214406"/>
          </a:xfrm>
        </p:grpSpPr>
        <p:sp>
          <p:nvSpPr>
            <p:cNvPr id="5" name="Freeform 3">
              <a:extLst>
                <a:ext uri="{FF2B5EF4-FFF2-40B4-BE49-F238E27FC236}">
                  <a16:creationId xmlns:a16="http://schemas.microsoft.com/office/drawing/2014/main" id="{2DE0115D-4248-68B8-129A-73FFD1792B2D}"/>
                </a:ext>
              </a:extLst>
            </p:cNvPr>
            <p:cNvSpPr/>
            <p:nvPr/>
          </p:nvSpPr>
          <p:spPr>
            <a:xfrm>
              <a:off x="0" y="0"/>
              <a:ext cx="823657" cy="1214406"/>
            </a:xfrm>
            <a:custGeom>
              <a:avLst/>
              <a:gdLst/>
              <a:ahLst/>
              <a:cxnLst/>
              <a:rect l="l" t="t" r="r" b="b"/>
              <a:pathLst>
                <a:path w="823657" h="1214406">
                  <a:moveTo>
                    <a:pt x="0" y="0"/>
                  </a:moveTo>
                  <a:lnTo>
                    <a:pt x="823657" y="0"/>
                  </a:lnTo>
                  <a:lnTo>
                    <a:pt x="823657" y="1214406"/>
                  </a:lnTo>
                  <a:lnTo>
                    <a:pt x="0" y="1214406"/>
                  </a:lnTo>
                  <a:close/>
                </a:path>
              </a:pathLst>
            </a:custGeom>
            <a:solidFill>
              <a:srgbClr val="C2DCFF"/>
            </a:solidFill>
          </p:spPr>
          <p:txBody>
            <a:bodyPr/>
            <a:lstStyle/>
            <a:p>
              <a:endParaRPr/>
            </a:p>
          </p:txBody>
        </p:sp>
        <p:sp>
          <p:nvSpPr>
            <p:cNvPr id="6" name="TextBox 4">
              <a:extLst>
                <a:ext uri="{FF2B5EF4-FFF2-40B4-BE49-F238E27FC236}">
                  <a16:creationId xmlns:a16="http://schemas.microsoft.com/office/drawing/2014/main" id="{2AFA39A4-6B56-3B4C-C7B5-96C27508047F}"/>
                </a:ext>
              </a:extLst>
            </p:cNvPr>
            <p:cNvSpPr txBox="1"/>
            <p:nvPr/>
          </p:nvSpPr>
          <p:spPr>
            <a:xfrm>
              <a:off x="0" y="28575"/>
              <a:ext cx="823657" cy="1185831"/>
            </a:xfrm>
            <a:prstGeom prst="rect">
              <a:avLst/>
            </a:prstGeom>
          </p:spPr>
          <p:txBody>
            <a:bodyPr lIns="50800" tIns="50800" rIns="50800" bIns="50800" rtlCol="0" anchor="ctr"/>
            <a:lstStyle/>
            <a:p>
              <a:pPr algn="ctr">
                <a:lnSpc>
                  <a:spcPts val="2499"/>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TextBox 2"/>
          <p:cNvSpPr txBox="1"/>
          <p:nvPr/>
        </p:nvSpPr>
        <p:spPr>
          <a:xfrm>
            <a:off x="9577867" y="4266435"/>
            <a:ext cx="6033170" cy="3421516"/>
          </a:xfrm>
          <a:prstGeom prst="rect">
            <a:avLst/>
          </a:prstGeom>
        </p:spPr>
        <p:txBody>
          <a:bodyPr lIns="0" tIns="0" rIns="0" bIns="0" rtlCol="0" anchor="t">
            <a:spAutoFit/>
          </a:bodyPr>
          <a:lstStyle/>
          <a:p>
            <a:pPr algn="l">
              <a:lnSpc>
                <a:spcPts val="3865"/>
              </a:lnSpc>
            </a:pPr>
            <a:r>
              <a:rPr lang="en-US" sz="2761">
                <a:solidFill>
                  <a:srgbClr val="022B3A"/>
                </a:solidFill>
                <a:latin typeface="Poppins"/>
                <a:ea typeface="Poppins"/>
                <a:cs typeface="Poppins"/>
                <a:sym typeface="Poppins"/>
              </a:rPr>
              <a:t>To assess how sensitive the content of an image is, and how harmful could its diffusion be, we decided to evaluate each image based on three parameters: public relevance, harm and vulnerability.</a:t>
            </a:r>
          </a:p>
        </p:txBody>
      </p:sp>
      <p:grpSp>
        <p:nvGrpSpPr>
          <p:cNvPr id="3" name="Group 3"/>
          <p:cNvGrpSpPr/>
          <p:nvPr/>
        </p:nvGrpSpPr>
        <p:grpSpPr>
          <a:xfrm>
            <a:off x="-185845" y="3780149"/>
            <a:ext cx="7831717" cy="4610949"/>
            <a:chOff x="0" y="0"/>
            <a:chExt cx="2062674" cy="1214406"/>
          </a:xfrm>
        </p:grpSpPr>
        <p:sp>
          <p:nvSpPr>
            <p:cNvPr id="4" name="Freeform 4"/>
            <p:cNvSpPr/>
            <p:nvPr/>
          </p:nvSpPr>
          <p:spPr>
            <a:xfrm>
              <a:off x="0" y="0"/>
              <a:ext cx="2062674" cy="1214406"/>
            </a:xfrm>
            <a:custGeom>
              <a:avLst/>
              <a:gdLst/>
              <a:ahLst/>
              <a:cxnLst/>
              <a:rect l="l" t="t" r="r" b="b"/>
              <a:pathLst>
                <a:path w="2062674" h="1214406">
                  <a:moveTo>
                    <a:pt x="0" y="0"/>
                  </a:moveTo>
                  <a:lnTo>
                    <a:pt x="2062674" y="0"/>
                  </a:lnTo>
                  <a:lnTo>
                    <a:pt x="2062674" y="1214406"/>
                  </a:lnTo>
                  <a:lnTo>
                    <a:pt x="0" y="1214406"/>
                  </a:lnTo>
                  <a:close/>
                </a:path>
              </a:pathLst>
            </a:custGeom>
            <a:solidFill>
              <a:srgbClr val="C2DCFF"/>
            </a:solidFill>
          </p:spPr>
          <p:txBody>
            <a:bodyPr/>
            <a:lstStyle/>
            <a:p>
              <a:endParaRPr/>
            </a:p>
          </p:txBody>
        </p:sp>
        <p:sp>
          <p:nvSpPr>
            <p:cNvPr id="5" name="TextBox 5"/>
            <p:cNvSpPr txBox="1"/>
            <p:nvPr/>
          </p:nvSpPr>
          <p:spPr>
            <a:xfrm>
              <a:off x="0" y="28575"/>
              <a:ext cx="2062674" cy="1185831"/>
            </a:xfrm>
            <a:prstGeom prst="rect">
              <a:avLst/>
            </a:prstGeom>
          </p:spPr>
          <p:txBody>
            <a:bodyPr lIns="50800" tIns="50800" rIns="50800" bIns="50800" rtlCol="0" anchor="ctr"/>
            <a:lstStyle/>
            <a:p>
              <a:pPr algn="ctr">
                <a:lnSpc>
                  <a:spcPts val="2499"/>
                </a:lnSpc>
              </a:pPr>
              <a:endParaRPr/>
            </a:p>
          </p:txBody>
        </p:sp>
      </p:grpSp>
      <p:sp>
        <p:nvSpPr>
          <p:cNvPr id="6" name="TextBox 6"/>
          <p:cNvSpPr txBox="1"/>
          <p:nvPr/>
        </p:nvSpPr>
        <p:spPr>
          <a:xfrm>
            <a:off x="1028700" y="1076325"/>
            <a:ext cx="6069524" cy="1628775"/>
          </a:xfrm>
          <a:prstGeom prst="rect">
            <a:avLst/>
          </a:prstGeom>
        </p:spPr>
        <p:txBody>
          <a:bodyPr lIns="0" tIns="0" rIns="0" bIns="0" rtlCol="0" anchor="t">
            <a:spAutoFit/>
          </a:bodyPr>
          <a:lstStyle/>
          <a:p>
            <a:pPr algn="l">
              <a:lnSpc>
                <a:spcPts val="6000"/>
              </a:lnSpc>
            </a:pPr>
            <a:r>
              <a:rPr lang="en-US" sz="6000" b="1" spc="-60">
                <a:solidFill>
                  <a:srgbClr val="022B3A"/>
                </a:solidFill>
                <a:latin typeface="Poppins Bold"/>
                <a:ea typeface="Poppins Bold"/>
                <a:cs typeface="Poppins Bold"/>
                <a:sym typeface="Poppins Bold"/>
              </a:rPr>
              <a:t>Sensitivity Parameters</a:t>
            </a:r>
          </a:p>
        </p:txBody>
      </p:sp>
      <p:sp>
        <p:nvSpPr>
          <p:cNvPr id="9" name="TextBox 9"/>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4</a:t>
            </a:r>
          </a:p>
        </p:txBody>
      </p:sp>
      <p:pic>
        <p:nvPicPr>
          <p:cNvPr id="13" name="Immagine 12">
            <a:extLst>
              <a:ext uri="{FF2B5EF4-FFF2-40B4-BE49-F238E27FC236}">
                <a16:creationId xmlns:a16="http://schemas.microsoft.com/office/drawing/2014/main" id="{3AADD85F-E7A3-DC7B-D070-280DA8B431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3944245"/>
            <a:ext cx="6424134" cy="428275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1270" y="1551770"/>
            <a:ext cx="4709374" cy="6446864"/>
            <a:chOff x="0" y="0"/>
            <a:chExt cx="1240329" cy="1697939"/>
          </a:xfrm>
        </p:grpSpPr>
        <p:sp>
          <p:nvSpPr>
            <p:cNvPr id="3" name="Freeform 3"/>
            <p:cNvSpPr/>
            <p:nvPr/>
          </p:nvSpPr>
          <p:spPr>
            <a:xfrm>
              <a:off x="0" y="0"/>
              <a:ext cx="1240329" cy="1697940"/>
            </a:xfrm>
            <a:custGeom>
              <a:avLst/>
              <a:gdLst/>
              <a:ahLst/>
              <a:cxnLst/>
              <a:rect l="l" t="t" r="r" b="b"/>
              <a:pathLst>
                <a:path w="1240329" h="1697940">
                  <a:moveTo>
                    <a:pt x="0" y="0"/>
                  </a:moveTo>
                  <a:lnTo>
                    <a:pt x="1240329" y="0"/>
                  </a:lnTo>
                  <a:lnTo>
                    <a:pt x="1240329" y="1697940"/>
                  </a:lnTo>
                  <a:lnTo>
                    <a:pt x="0" y="1697940"/>
                  </a:lnTo>
                  <a:close/>
                </a:path>
              </a:pathLst>
            </a:custGeom>
            <a:solidFill>
              <a:srgbClr val="C2DCFF"/>
            </a:solidFill>
          </p:spPr>
        </p:sp>
        <p:sp>
          <p:nvSpPr>
            <p:cNvPr id="4" name="TextBox 4"/>
            <p:cNvSpPr txBox="1"/>
            <p:nvPr/>
          </p:nvSpPr>
          <p:spPr>
            <a:xfrm>
              <a:off x="0" y="28575"/>
              <a:ext cx="1240329" cy="1669364"/>
            </a:xfrm>
            <a:prstGeom prst="rect">
              <a:avLst/>
            </a:prstGeom>
          </p:spPr>
          <p:txBody>
            <a:bodyPr lIns="50800" tIns="50800" rIns="50800" bIns="50800" rtlCol="0" anchor="ctr"/>
            <a:lstStyle/>
            <a:p>
              <a:pPr algn="ctr">
                <a:lnSpc>
                  <a:spcPts val="2499"/>
                </a:lnSpc>
              </a:pPr>
              <a:endParaRPr/>
            </a:p>
          </p:txBody>
        </p:sp>
      </p:grpSp>
      <p:grpSp>
        <p:nvGrpSpPr>
          <p:cNvPr id="5" name="Group 5"/>
          <p:cNvGrpSpPr/>
          <p:nvPr/>
        </p:nvGrpSpPr>
        <p:grpSpPr>
          <a:xfrm>
            <a:off x="1949061" y="4529682"/>
            <a:ext cx="6736604" cy="985278"/>
            <a:chOff x="0" y="0"/>
            <a:chExt cx="1774250" cy="259497"/>
          </a:xfrm>
        </p:grpSpPr>
        <p:sp>
          <p:nvSpPr>
            <p:cNvPr id="6" name="Freeform 6"/>
            <p:cNvSpPr/>
            <p:nvPr/>
          </p:nvSpPr>
          <p:spPr>
            <a:xfrm>
              <a:off x="0" y="0"/>
              <a:ext cx="1774250" cy="259497"/>
            </a:xfrm>
            <a:custGeom>
              <a:avLst/>
              <a:gdLst/>
              <a:ahLst/>
              <a:cxnLst/>
              <a:rect l="l" t="t" r="r" b="b"/>
              <a:pathLst>
                <a:path w="1774250" h="259497">
                  <a:moveTo>
                    <a:pt x="0" y="0"/>
                  </a:moveTo>
                  <a:lnTo>
                    <a:pt x="1774250" y="0"/>
                  </a:lnTo>
                  <a:lnTo>
                    <a:pt x="1774250" y="259497"/>
                  </a:lnTo>
                  <a:lnTo>
                    <a:pt x="0" y="259497"/>
                  </a:lnTo>
                  <a:close/>
                </a:path>
              </a:pathLst>
            </a:custGeom>
            <a:solidFill>
              <a:srgbClr val="F4F4F4"/>
            </a:solidFill>
          </p:spPr>
        </p:sp>
        <p:sp>
          <p:nvSpPr>
            <p:cNvPr id="7" name="TextBox 7"/>
            <p:cNvSpPr txBox="1"/>
            <p:nvPr/>
          </p:nvSpPr>
          <p:spPr>
            <a:xfrm>
              <a:off x="0" y="28575"/>
              <a:ext cx="1774250" cy="230922"/>
            </a:xfrm>
            <a:prstGeom prst="rect">
              <a:avLst/>
            </a:prstGeom>
          </p:spPr>
          <p:txBody>
            <a:bodyPr lIns="50800" tIns="50800" rIns="50800" bIns="50800" rtlCol="0" anchor="ctr"/>
            <a:lstStyle/>
            <a:p>
              <a:pPr algn="ctr">
                <a:lnSpc>
                  <a:spcPts val="2499"/>
                </a:lnSpc>
              </a:pPr>
              <a:endParaRPr/>
            </a:p>
          </p:txBody>
        </p:sp>
      </p:grpSp>
      <p:grpSp>
        <p:nvGrpSpPr>
          <p:cNvPr id="8" name="Group 8"/>
          <p:cNvGrpSpPr/>
          <p:nvPr/>
        </p:nvGrpSpPr>
        <p:grpSpPr>
          <a:xfrm>
            <a:off x="2045266" y="912045"/>
            <a:ext cx="7064165" cy="1002547"/>
            <a:chOff x="0" y="0"/>
            <a:chExt cx="1860521" cy="264045"/>
          </a:xfrm>
        </p:grpSpPr>
        <p:sp>
          <p:nvSpPr>
            <p:cNvPr id="9" name="Freeform 9"/>
            <p:cNvSpPr/>
            <p:nvPr/>
          </p:nvSpPr>
          <p:spPr>
            <a:xfrm>
              <a:off x="0" y="0"/>
              <a:ext cx="1860521" cy="264045"/>
            </a:xfrm>
            <a:custGeom>
              <a:avLst/>
              <a:gdLst/>
              <a:ahLst/>
              <a:cxnLst/>
              <a:rect l="l" t="t" r="r" b="b"/>
              <a:pathLst>
                <a:path w="1860521" h="264045">
                  <a:moveTo>
                    <a:pt x="0" y="0"/>
                  </a:moveTo>
                  <a:lnTo>
                    <a:pt x="1860521" y="0"/>
                  </a:lnTo>
                  <a:lnTo>
                    <a:pt x="1860521" y="264045"/>
                  </a:lnTo>
                  <a:lnTo>
                    <a:pt x="0" y="264045"/>
                  </a:lnTo>
                  <a:close/>
                </a:path>
              </a:pathLst>
            </a:custGeom>
            <a:solidFill>
              <a:srgbClr val="F4F4F4"/>
            </a:solidFill>
          </p:spPr>
        </p:sp>
        <p:sp>
          <p:nvSpPr>
            <p:cNvPr id="10" name="TextBox 10"/>
            <p:cNvSpPr txBox="1"/>
            <p:nvPr/>
          </p:nvSpPr>
          <p:spPr>
            <a:xfrm>
              <a:off x="0" y="28575"/>
              <a:ext cx="1860521" cy="235470"/>
            </a:xfrm>
            <a:prstGeom prst="rect">
              <a:avLst/>
            </a:prstGeom>
          </p:spPr>
          <p:txBody>
            <a:bodyPr lIns="50800" tIns="50800" rIns="50800" bIns="50800" rtlCol="0" anchor="ctr"/>
            <a:lstStyle/>
            <a:p>
              <a:pPr algn="ctr">
                <a:lnSpc>
                  <a:spcPts val="2499"/>
                </a:lnSpc>
              </a:pPr>
              <a:endParaRPr/>
            </a:p>
          </p:txBody>
        </p:sp>
      </p:grpSp>
      <p:grpSp>
        <p:nvGrpSpPr>
          <p:cNvPr id="11" name="Group 11"/>
          <p:cNvGrpSpPr/>
          <p:nvPr/>
        </p:nvGrpSpPr>
        <p:grpSpPr>
          <a:xfrm>
            <a:off x="1949061" y="2625977"/>
            <a:ext cx="6736604" cy="1002547"/>
            <a:chOff x="0" y="0"/>
            <a:chExt cx="1774250" cy="264045"/>
          </a:xfrm>
        </p:grpSpPr>
        <p:sp>
          <p:nvSpPr>
            <p:cNvPr id="12" name="Freeform 12"/>
            <p:cNvSpPr/>
            <p:nvPr/>
          </p:nvSpPr>
          <p:spPr>
            <a:xfrm>
              <a:off x="0" y="0"/>
              <a:ext cx="1774250" cy="264045"/>
            </a:xfrm>
            <a:custGeom>
              <a:avLst/>
              <a:gdLst/>
              <a:ahLst/>
              <a:cxnLst/>
              <a:rect l="l" t="t" r="r" b="b"/>
              <a:pathLst>
                <a:path w="1774250" h="264045">
                  <a:moveTo>
                    <a:pt x="0" y="0"/>
                  </a:moveTo>
                  <a:lnTo>
                    <a:pt x="1774250" y="0"/>
                  </a:lnTo>
                  <a:lnTo>
                    <a:pt x="1774250" y="264045"/>
                  </a:lnTo>
                  <a:lnTo>
                    <a:pt x="0" y="264045"/>
                  </a:lnTo>
                  <a:close/>
                </a:path>
              </a:pathLst>
            </a:custGeom>
            <a:solidFill>
              <a:srgbClr val="F4F4F4"/>
            </a:solidFill>
          </p:spPr>
        </p:sp>
        <p:sp>
          <p:nvSpPr>
            <p:cNvPr id="13" name="TextBox 13"/>
            <p:cNvSpPr txBox="1"/>
            <p:nvPr/>
          </p:nvSpPr>
          <p:spPr>
            <a:xfrm>
              <a:off x="0" y="28575"/>
              <a:ext cx="1774250" cy="235470"/>
            </a:xfrm>
            <a:prstGeom prst="rect">
              <a:avLst/>
            </a:prstGeom>
          </p:spPr>
          <p:txBody>
            <a:bodyPr lIns="50800" tIns="50800" rIns="50800" bIns="50800" rtlCol="0" anchor="ctr"/>
            <a:lstStyle/>
            <a:p>
              <a:pPr algn="ctr">
                <a:lnSpc>
                  <a:spcPts val="2499"/>
                </a:lnSpc>
              </a:pPr>
              <a:endParaRPr/>
            </a:p>
          </p:txBody>
        </p:sp>
      </p:grpSp>
      <p:grpSp>
        <p:nvGrpSpPr>
          <p:cNvPr id="14" name="Group 14"/>
          <p:cNvGrpSpPr/>
          <p:nvPr/>
        </p:nvGrpSpPr>
        <p:grpSpPr>
          <a:xfrm>
            <a:off x="1739140" y="912045"/>
            <a:ext cx="209921" cy="1002547"/>
            <a:chOff x="0" y="0"/>
            <a:chExt cx="55288" cy="264045"/>
          </a:xfrm>
        </p:grpSpPr>
        <p:sp>
          <p:nvSpPr>
            <p:cNvPr id="15" name="Freeform 15"/>
            <p:cNvSpPr/>
            <p:nvPr/>
          </p:nvSpPr>
          <p:spPr>
            <a:xfrm>
              <a:off x="0" y="0"/>
              <a:ext cx="55288" cy="264045"/>
            </a:xfrm>
            <a:custGeom>
              <a:avLst/>
              <a:gdLst/>
              <a:ahLst/>
              <a:cxnLst/>
              <a:rect l="l" t="t" r="r" b="b"/>
              <a:pathLst>
                <a:path w="55288" h="264045">
                  <a:moveTo>
                    <a:pt x="0" y="0"/>
                  </a:moveTo>
                  <a:lnTo>
                    <a:pt x="55288" y="0"/>
                  </a:lnTo>
                  <a:lnTo>
                    <a:pt x="55288" y="264045"/>
                  </a:lnTo>
                  <a:lnTo>
                    <a:pt x="0" y="264045"/>
                  </a:lnTo>
                  <a:close/>
                </a:path>
              </a:pathLst>
            </a:custGeom>
            <a:solidFill>
              <a:srgbClr val="022B3A"/>
            </a:solidFill>
          </p:spPr>
        </p:sp>
        <p:sp>
          <p:nvSpPr>
            <p:cNvPr id="16" name="TextBox 16"/>
            <p:cNvSpPr txBox="1"/>
            <p:nvPr/>
          </p:nvSpPr>
          <p:spPr>
            <a:xfrm>
              <a:off x="0" y="28575"/>
              <a:ext cx="55288" cy="235470"/>
            </a:xfrm>
            <a:prstGeom prst="rect">
              <a:avLst/>
            </a:prstGeom>
          </p:spPr>
          <p:txBody>
            <a:bodyPr lIns="50800" tIns="50800" rIns="50800" bIns="50800" rtlCol="0" anchor="ctr"/>
            <a:lstStyle/>
            <a:p>
              <a:pPr algn="ctr">
                <a:lnSpc>
                  <a:spcPts val="2499"/>
                </a:lnSpc>
              </a:pPr>
              <a:endParaRPr/>
            </a:p>
          </p:txBody>
        </p:sp>
      </p:grpSp>
      <p:grpSp>
        <p:nvGrpSpPr>
          <p:cNvPr id="17" name="Group 17"/>
          <p:cNvGrpSpPr/>
          <p:nvPr/>
        </p:nvGrpSpPr>
        <p:grpSpPr>
          <a:xfrm>
            <a:off x="2045266" y="6590399"/>
            <a:ext cx="6736604" cy="985278"/>
            <a:chOff x="0" y="0"/>
            <a:chExt cx="1774250" cy="259497"/>
          </a:xfrm>
        </p:grpSpPr>
        <p:sp>
          <p:nvSpPr>
            <p:cNvPr id="18" name="Freeform 18"/>
            <p:cNvSpPr/>
            <p:nvPr/>
          </p:nvSpPr>
          <p:spPr>
            <a:xfrm>
              <a:off x="0" y="0"/>
              <a:ext cx="1774250" cy="259497"/>
            </a:xfrm>
            <a:custGeom>
              <a:avLst/>
              <a:gdLst/>
              <a:ahLst/>
              <a:cxnLst/>
              <a:rect l="l" t="t" r="r" b="b"/>
              <a:pathLst>
                <a:path w="1774250" h="259497">
                  <a:moveTo>
                    <a:pt x="0" y="0"/>
                  </a:moveTo>
                  <a:lnTo>
                    <a:pt x="1774250" y="0"/>
                  </a:lnTo>
                  <a:lnTo>
                    <a:pt x="1774250" y="259497"/>
                  </a:lnTo>
                  <a:lnTo>
                    <a:pt x="0" y="259497"/>
                  </a:lnTo>
                  <a:close/>
                </a:path>
              </a:pathLst>
            </a:custGeom>
            <a:solidFill>
              <a:srgbClr val="F4F4F4"/>
            </a:solidFill>
          </p:spPr>
        </p:sp>
        <p:sp>
          <p:nvSpPr>
            <p:cNvPr id="19" name="TextBox 19"/>
            <p:cNvSpPr txBox="1"/>
            <p:nvPr/>
          </p:nvSpPr>
          <p:spPr>
            <a:xfrm>
              <a:off x="0" y="28575"/>
              <a:ext cx="1774250" cy="230922"/>
            </a:xfrm>
            <a:prstGeom prst="rect">
              <a:avLst/>
            </a:prstGeom>
          </p:spPr>
          <p:txBody>
            <a:bodyPr lIns="50800" tIns="50800" rIns="50800" bIns="50800" rtlCol="0" anchor="ctr"/>
            <a:lstStyle/>
            <a:p>
              <a:pPr algn="ctr">
                <a:lnSpc>
                  <a:spcPts val="2499"/>
                </a:lnSpc>
              </a:pPr>
              <a:endParaRPr/>
            </a:p>
          </p:txBody>
        </p:sp>
      </p:grpSp>
      <p:sp>
        <p:nvSpPr>
          <p:cNvPr id="20" name="TextBox 20"/>
          <p:cNvSpPr txBox="1"/>
          <p:nvPr/>
        </p:nvSpPr>
        <p:spPr>
          <a:xfrm>
            <a:off x="2168848" y="1003744"/>
            <a:ext cx="7400875" cy="866775"/>
          </a:xfrm>
          <a:prstGeom prst="rect">
            <a:avLst/>
          </a:prstGeom>
        </p:spPr>
        <p:txBody>
          <a:bodyPr lIns="0" tIns="0" rIns="0" bIns="0" rtlCol="0" anchor="t">
            <a:spAutoFit/>
          </a:bodyPr>
          <a:lstStyle/>
          <a:p>
            <a:pPr algn="l">
              <a:lnSpc>
                <a:spcPts val="6000"/>
              </a:lnSpc>
            </a:pPr>
            <a:r>
              <a:rPr lang="en-US" sz="6000" b="1">
                <a:solidFill>
                  <a:srgbClr val="022B3A"/>
                </a:solidFill>
                <a:latin typeface="Poppins Bold"/>
                <a:ea typeface="Poppins Bold"/>
                <a:cs typeface="Poppins Bold"/>
                <a:sym typeface="Poppins Bold"/>
              </a:rPr>
              <a:t>Sensitivity Rating</a:t>
            </a:r>
          </a:p>
        </p:txBody>
      </p:sp>
      <p:sp>
        <p:nvSpPr>
          <p:cNvPr id="21" name="TextBox 21"/>
          <p:cNvSpPr txBox="1"/>
          <p:nvPr/>
        </p:nvSpPr>
        <p:spPr>
          <a:xfrm>
            <a:off x="2107212" y="3085943"/>
            <a:ext cx="6385733" cy="368300"/>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Entity of the impact of an eventual false negative</a:t>
            </a:r>
          </a:p>
        </p:txBody>
      </p:sp>
      <p:sp>
        <p:nvSpPr>
          <p:cNvPr id="22" name="TextBox 22"/>
          <p:cNvSpPr txBox="1"/>
          <p:nvPr/>
        </p:nvSpPr>
        <p:spPr>
          <a:xfrm>
            <a:off x="2072643" y="5060421"/>
            <a:ext cx="6206629" cy="368300"/>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Gravity of the depicted situation</a:t>
            </a:r>
          </a:p>
        </p:txBody>
      </p:sp>
      <p:sp>
        <p:nvSpPr>
          <p:cNvPr id="23" name="TextBox 23"/>
          <p:cNvSpPr txBox="1"/>
          <p:nvPr/>
        </p:nvSpPr>
        <p:spPr>
          <a:xfrm>
            <a:off x="2107212" y="2584325"/>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Public Relevance</a:t>
            </a:r>
          </a:p>
        </p:txBody>
      </p:sp>
      <p:sp>
        <p:nvSpPr>
          <p:cNvPr id="24" name="TextBox 24"/>
          <p:cNvSpPr txBox="1"/>
          <p:nvPr/>
        </p:nvSpPr>
        <p:spPr>
          <a:xfrm>
            <a:off x="2072643" y="4479396"/>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Harm</a:t>
            </a:r>
          </a:p>
        </p:txBody>
      </p:sp>
      <p:sp>
        <p:nvSpPr>
          <p:cNvPr id="25" name="TextBox 25"/>
          <p:cNvSpPr txBox="1"/>
          <p:nvPr/>
        </p:nvSpPr>
        <p:spPr>
          <a:xfrm>
            <a:off x="2170146" y="7066649"/>
            <a:ext cx="6818601" cy="368300"/>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Presence of a subject deserving of increased severity</a:t>
            </a:r>
          </a:p>
        </p:txBody>
      </p:sp>
      <p:sp>
        <p:nvSpPr>
          <p:cNvPr id="26" name="TextBox 26"/>
          <p:cNvSpPr txBox="1"/>
          <p:nvPr/>
        </p:nvSpPr>
        <p:spPr>
          <a:xfrm>
            <a:off x="2170146" y="6590399"/>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Vulnerability</a:t>
            </a:r>
          </a:p>
        </p:txBody>
      </p:sp>
      <p:sp>
        <p:nvSpPr>
          <p:cNvPr id="27" name="TextBox 27"/>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6</a:t>
            </a:r>
          </a:p>
        </p:txBody>
      </p:sp>
      <p:sp>
        <p:nvSpPr>
          <p:cNvPr id="28" name="Freeform 28"/>
          <p:cNvSpPr/>
          <p:nvPr/>
        </p:nvSpPr>
        <p:spPr>
          <a:xfrm>
            <a:off x="9745425" y="6859319"/>
            <a:ext cx="3416278" cy="2278630"/>
          </a:xfrm>
          <a:custGeom>
            <a:avLst/>
            <a:gdLst/>
            <a:ahLst/>
            <a:cxnLst/>
            <a:rect l="l" t="t" r="r" b="b"/>
            <a:pathLst>
              <a:path w="3416278" h="2278630">
                <a:moveTo>
                  <a:pt x="0" y="0"/>
                </a:moveTo>
                <a:lnTo>
                  <a:pt x="3416277" y="0"/>
                </a:lnTo>
                <a:lnTo>
                  <a:pt x="3416277" y="2278630"/>
                </a:lnTo>
                <a:lnTo>
                  <a:pt x="0" y="2278630"/>
                </a:lnTo>
                <a:lnTo>
                  <a:pt x="0" y="0"/>
                </a:lnTo>
                <a:close/>
              </a:path>
            </a:pathLst>
          </a:custGeom>
          <a:blipFill>
            <a:blip r:embed="rId2"/>
            <a:stretch>
              <a:fillRect/>
            </a:stretch>
          </a:blipFill>
        </p:spPr>
      </p:sp>
      <p:sp>
        <p:nvSpPr>
          <p:cNvPr id="29" name="Freeform 29"/>
          <p:cNvSpPr/>
          <p:nvPr/>
        </p:nvSpPr>
        <p:spPr>
          <a:xfrm>
            <a:off x="13504896" y="4263492"/>
            <a:ext cx="3754404" cy="2502936"/>
          </a:xfrm>
          <a:custGeom>
            <a:avLst/>
            <a:gdLst/>
            <a:ahLst/>
            <a:cxnLst/>
            <a:rect l="l" t="t" r="r" b="b"/>
            <a:pathLst>
              <a:path w="3754404" h="2502936">
                <a:moveTo>
                  <a:pt x="0" y="0"/>
                </a:moveTo>
                <a:lnTo>
                  <a:pt x="3754404" y="0"/>
                </a:lnTo>
                <a:lnTo>
                  <a:pt x="3754404" y="2502935"/>
                </a:lnTo>
                <a:lnTo>
                  <a:pt x="0" y="2502935"/>
                </a:lnTo>
                <a:lnTo>
                  <a:pt x="0" y="0"/>
                </a:lnTo>
                <a:close/>
              </a:path>
            </a:pathLst>
          </a:custGeom>
          <a:blipFill>
            <a:blip r:embed="rId3"/>
            <a:stretch>
              <a:fillRect/>
            </a:stretch>
          </a:blipFill>
        </p:spPr>
      </p:sp>
      <p:sp>
        <p:nvSpPr>
          <p:cNvPr id="30" name="Freeform 30"/>
          <p:cNvSpPr/>
          <p:nvPr/>
        </p:nvSpPr>
        <p:spPr>
          <a:xfrm>
            <a:off x="9965802" y="1551770"/>
            <a:ext cx="2682723" cy="2682723"/>
          </a:xfrm>
          <a:custGeom>
            <a:avLst/>
            <a:gdLst/>
            <a:ahLst/>
            <a:cxnLst/>
            <a:rect l="l" t="t" r="r" b="b"/>
            <a:pathLst>
              <a:path w="2682723" h="2682723">
                <a:moveTo>
                  <a:pt x="0" y="0"/>
                </a:moveTo>
                <a:lnTo>
                  <a:pt x="2682723" y="0"/>
                </a:lnTo>
                <a:lnTo>
                  <a:pt x="2682723" y="2682723"/>
                </a:lnTo>
                <a:lnTo>
                  <a:pt x="0" y="2682723"/>
                </a:lnTo>
                <a:lnTo>
                  <a:pt x="0" y="0"/>
                </a:lnTo>
                <a:close/>
              </a:path>
            </a:pathLst>
          </a:custGeom>
          <a:blipFill>
            <a:blip r:embed="rId4"/>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51270" y="1551770"/>
            <a:ext cx="4709374" cy="6446864"/>
            <a:chOff x="0" y="0"/>
            <a:chExt cx="1240329" cy="1697939"/>
          </a:xfrm>
        </p:grpSpPr>
        <p:sp>
          <p:nvSpPr>
            <p:cNvPr id="3" name="Freeform 3"/>
            <p:cNvSpPr/>
            <p:nvPr/>
          </p:nvSpPr>
          <p:spPr>
            <a:xfrm>
              <a:off x="0" y="0"/>
              <a:ext cx="1240329" cy="1697940"/>
            </a:xfrm>
            <a:custGeom>
              <a:avLst/>
              <a:gdLst/>
              <a:ahLst/>
              <a:cxnLst/>
              <a:rect l="l" t="t" r="r" b="b"/>
              <a:pathLst>
                <a:path w="1240329" h="1697940">
                  <a:moveTo>
                    <a:pt x="0" y="0"/>
                  </a:moveTo>
                  <a:lnTo>
                    <a:pt x="1240329" y="0"/>
                  </a:lnTo>
                  <a:lnTo>
                    <a:pt x="1240329" y="1697940"/>
                  </a:lnTo>
                  <a:lnTo>
                    <a:pt x="0" y="1697940"/>
                  </a:lnTo>
                  <a:close/>
                </a:path>
              </a:pathLst>
            </a:custGeom>
            <a:solidFill>
              <a:srgbClr val="C2DCFF"/>
            </a:solidFill>
          </p:spPr>
          <p:txBody>
            <a:bodyPr/>
            <a:lstStyle/>
            <a:p>
              <a:endParaRPr/>
            </a:p>
          </p:txBody>
        </p:sp>
        <p:sp>
          <p:nvSpPr>
            <p:cNvPr id="4" name="TextBox 4"/>
            <p:cNvSpPr txBox="1"/>
            <p:nvPr/>
          </p:nvSpPr>
          <p:spPr>
            <a:xfrm>
              <a:off x="0" y="28575"/>
              <a:ext cx="1240329" cy="1669364"/>
            </a:xfrm>
            <a:prstGeom prst="rect">
              <a:avLst/>
            </a:prstGeom>
          </p:spPr>
          <p:txBody>
            <a:bodyPr lIns="50800" tIns="50800" rIns="50800" bIns="50800" rtlCol="0" anchor="ctr"/>
            <a:lstStyle/>
            <a:p>
              <a:pPr algn="ctr">
                <a:lnSpc>
                  <a:spcPts val="2499"/>
                </a:lnSpc>
              </a:pPr>
              <a:endParaRPr/>
            </a:p>
          </p:txBody>
        </p:sp>
      </p:grpSp>
      <p:grpSp>
        <p:nvGrpSpPr>
          <p:cNvPr id="5" name="Group 5"/>
          <p:cNvGrpSpPr/>
          <p:nvPr/>
        </p:nvGrpSpPr>
        <p:grpSpPr>
          <a:xfrm>
            <a:off x="1949061" y="4529682"/>
            <a:ext cx="6736604" cy="985278"/>
            <a:chOff x="0" y="0"/>
            <a:chExt cx="1774250" cy="259497"/>
          </a:xfrm>
        </p:grpSpPr>
        <p:sp>
          <p:nvSpPr>
            <p:cNvPr id="6" name="Freeform 6"/>
            <p:cNvSpPr/>
            <p:nvPr/>
          </p:nvSpPr>
          <p:spPr>
            <a:xfrm>
              <a:off x="0" y="0"/>
              <a:ext cx="1774250" cy="259497"/>
            </a:xfrm>
            <a:custGeom>
              <a:avLst/>
              <a:gdLst/>
              <a:ahLst/>
              <a:cxnLst/>
              <a:rect l="l" t="t" r="r" b="b"/>
              <a:pathLst>
                <a:path w="1774250" h="259497">
                  <a:moveTo>
                    <a:pt x="0" y="0"/>
                  </a:moveTo>
                  <a:lnTo>
                    <a:pt x="1774250" y="0"/>
                  </a:lnTo>
                  <a:lnTo>
                    <a:pt x="1774250" y="259497"/>
                  </a:lnTo>
                  <a:lnTo>
                    <a:pt x="0" y="259497"/>
                  </a:lnTo>
                  <a:close/>
                </a:path>
              </a:pathLst>
            </a:custGeom>
            <a:solidFill>
              <a:srgbClr val="F4F4F4"/>
            </a:solidFill>
          </p:spPr>
          <p:txBody>
            <a:bodyPr/>
            <a:lstStyle/>
            <a:p>
              <a:endParaRPr/>
            </a:p>
          </p:txBody>
        </p:sp>
        <p:sp>
          <p:nvSpPr>
            <p:cNvPr id="7" name="TextBox 7"/>
            <p:cNvSpPr txBox="1"/>
            <p:nvPr/>
          </p:nvSpPr>
          <p:spPr>
            <a:xfrm>
              <a:off x="0" y="28575"/>
              <a:ext cx="1774250" cy="230922"/>
            </a:xfrm>
            <a:prstGeom prst="rect">
              <a:avLst/>
            </a:prstGeom>
          </p:spPr>
          <p:txBody>
            <a:bodyPr lIns="50800" tIns="50800" rIns="50800" bIns="50800" rtlCol="0" anchor="ctr"/>
            <a:lstStyle/>
            <a:p>
              <a:pPr algn="ctr">
                <a:lnSpc>
                  <a:spcPts val="2499"/>
                </a:lnSpc>
              </a:pPr>
              <a:endParaRPr/>
            </a:p>
          </p:txBody>
        </p:sp>
      </p:grpSp>
      <p:grpSp>
        <p:nvGrpSpPr>
          <p:cNvPr id="8" name="Group 8"/>
          <p:cNvGrpSpPr/>
          <p:nvPr/>
        </p:nvGrpSpPr>
        <p:grpSpPr>
          <a:xfrm>
            <a:off x="2045266" y="912045"/>
            <a:ext cx="7064165" cy="1002547"/>
            <a:chOff x="0" y="0"/>
            <a:chExt cx="1860521" cy="264045"/>
          </a:xfrm>
        </p:grpSpPr>
        <p:sp>
          <p:nvSpPr>
            <p:cNvPr id="9" name="Freeform 9"/>
            <p:cNvSpPr/>
            <p:nvPr/>
          </p:nvSpPr>
          <p:spPr>
            <a:xfrm>
              <a:off x="0" y="0"/>
              <a:ext cx="1860521" cy="264045"/>
            </a:xfrm>
            <a:custGeom>
              <a:avLst/>
              <a:gdLst/>
              <a:ahLst/>
              <a:cxnLst/>
              <a:rect l="l" t="t" r="r" b="b"/>
              <a:pathLst>
                <a:path w="1860521" h="264045">
                  <a:moveTo>
                    <a:pt x="0" y="0"/>
                  </a:moveTo>
                  <a:lnTo>
                    <a:pt x="1860521" y="0"/>
                  </a:lnTo>
                  <a:lnTo>
                    <a:pt x="1860521" y="264045"/>
                  </a:lnTo>
                  <a:lnTo>
                    <a:pt x="0" y="264045"/>
                  </a:lnTo>
                  <a:close/>
                </a:path>
              </a:pathLst>
            </a:custGeom>
            <a:solidFill>
              <a:srgbClr val="F4F4F4"/>
            </a:solidFill>
          </p:spPr>
          <p:txBody>
            <a:bodyPr/>
            <a:lstStyle/>
            <a:p>
              <a:endParaRPr/>
            </a:p>
          </p:txBody>
        </p:sp>
        <p:sp>
          <p:nvSpPr>
            <p:cNvPr id="10" name="TextBox 10"/>
            <p:cNvSpPr txBox="1"/>
            <p:nvPr/>
          </p:nvSpPr>
          <p:spPr>
            <a:xfrm>
              <a:off x="0" y="28575"/>
              <a:ext cx="1860521" cy="235470"/>
            </a:xfrm>
            <a:prstGeom prst="rect">
              <a:avLst/>
            </a:prstGeom>
          </p:spPr>
          <p:txBody>
            <a:bodyPr lIns="50800" tIns="50800" rIns="50800" bIns="50800" rtlCol="0" anchor="ctr"/>
            <a:lstStyle/>
            <a:p>
              <a:pPr algn="ctr">
                <a:lnSpc>
                  <a:spcPts val="2499"/>
                </a:lnSpc>
              </a:pPr>
              <a:endParaRPr/>
            </a:p>
          </p:txBody>
        </p:sp>
      </p:grpSp>
      <p:grpSp>
        <p:nvGrpSpPr>
          <p:cNvPr id="11" name="Group 11"/>
          <p:cNvGrpSpPr/>
          <p:nvPr/>
        </p:nvGrpSpPr>
        <p:grpSpPr>
          <a:xfrm>
            <a:off x="1949061" y="2625977"/>
            <a:ext cx="6736604" cy="1002547"/>
            <a:chOff x="0" y="0"/>
            <a:chExt cx="1774250" cy="264045"/>
          </a:xfrm>
        </p:grpSpPr>
        <p:sp>
          <p:nvSpPr>
            <p:cNvPr id="12" name="Freeform 12"/>
            <p:cNvSpPr/>
            <p:nvPr/>
          </p:nvSpPr>
          <p:spPr>
            <a:xfrm>
              <a:off x="0" y="0"/>
              <a:ext cx="1774250" cy="264045"/>
            </a:xfrm>
            <a:custGeom>
              <a:avLst/>
              <a:gdLst/>
              <a:ahLst/>
              <a:cxnLst/>
              <a:rect l="l" t="t" r="r" b="b"/>
              <a:pathLst>
                <a:path w="1774250" h="264045">
                  <a:moveTo>
                    <a:pt x="0" y="0"/>
                  </a:moveTo>
                  <a:lnTo>
                    <a:pt x="1774250" y="0"/>
                  </a:lnTo>
                  <a:lnTo>
                    <a:pt x="1774250" y="264045"/>
                  </a:lnTo>
                  <a:lnTo>
                    <a:pt x="0" y="264045"/>
                  </a:lnTo>
                  <a:close/>
                </a:path>
              </a:pathLst>
            </a:custGeom>
            <a:solidFill>
              <a:srgbClr val="F4F4F4"/>
            </a:solidFill>
          </p:spPr>
          <p:txBody>
            <a:bodyPr/>
            <a:lstStyle/>
            <a:p>
              <a:endParaRPr/>
            </a:p>
          </p:txBody>
        </p:sp>
        <p:sp>
          <p:nvSpPr>
            <p:cNvPr id="13" name="TextBox 13"/>
            <p:cNvSpPr txBox="1"/>
            <p:nvPr/>
          </p:nvSpPr>
          <p:spPr>
            <a:xfrm>
              <a:off x="0" y="28575"/>
              <a:ext cx="1774250" cy="235470"/>
            </a:xfrm>
            <a:prstGeom prst="rect">
              <a:avLst/>
            </a:prstGeom>
          </p:spPr>
          <p:txBody>
            <a:bodyPr lIns="50800" tIns="50800" rIns="50800" bIns="50800" rtlCol="0" anchor="ctr"/>
            <a:lstStyle/>
            <a:p>
              <a:pPr algn="ctr">
                <a:lnSpc>
                  <a:spcPts val="2499"/>
                </a:lnSpc>
              </a:pPr>
              <a:endParaRPr/>
            </a:p>
          </p:txBody>
        </p:sp>
      </p:grpSp>
      <p:grpSp>
        <p:nvGrpSpPr>
          <p:cNvPr id="14" name="Group 14"/>
          <p:cNvGrpSpPr/>
          <p:nvPr/>
        </p:nvGrpSpPr>
        <p:grpSpPr>
          <a:xfrm>
            <a:off x="1739140" y="912045"/>
            <a:ext cx="209921" cy="1002547"/>
            <a:chOff x="0" y="0"/>
            <a:chExt cx="55288" cy="264045"/>
          </a:xfrm>
        </p:grpSpPr>
        <p:sp>
          <p:nvSpPr>
            <p:cNvPr id="15" name="Freeform 15"/>
            <p:cNvSpPr/>
            <p:nvPr/>
          </p:nvSpPr>
          <p:spPr>
            <a:xfrm>
              <a:off x="0" y="0"/>
              <a:ext cx="55288" cy="264045"/>
            </a:xfrm>
            <a:custGeom>
              <a:avLst/>
              <a:gdLst/>
              <a:ahLst/>
              <a:cxnLst/>
              <a:rect l="l" t="t" r="r" b="b"/>
              <a:pathLst>
                <a:path w="55288" h="264045">
                  <a:moveTo>
                    <a:pt x="0" y="0"/>
                  </a:moveTo>
                  <a:lnTo>
                    <a:pt x="55288" y="0"/>
                  </a:lnTo>
                  <a:lnTo>
                    <a:pt x="55288" y="264045"/>
                  </a:lnTo>
                  <a:lnTo>
                    <a:pt x="0" y="264045"/>
                  </a:lnTo>
                  <a:close/>
                </a:path>
              </a:pathLst>
            </a:custGeom>
            <a:solidFill>
              <a:srgbClr val="022B3A"/>
            </a:solidFill>
          </p:spPr>
          <p:txBody>
            <a:bodyPr/>
            <a:lstStyle/>
            <a:p>
              <a:endParaRPr/>
            </a:p>
          </p:txBody>
        </p:sp>
        <p:sp>
          <p:nvSpPr>
            <p:cNvPr id="16" name="TextBox 16"/>
            <p:cNvSpPr txBox="1"/>
            <p:nvPr/>
          </p:nvSpPr>
          <p:spPr>
            <a:xfrm>
              <a:off x="0" y="28575"/>
              <a:ext cx="55288" cy="235470"/>
            </a:xfrm>
            <a:prstGeom prst="rect">
              <a:avLst/>
            </a:prstGeom>
          </p:spPr>
          <p:txBody>
            <a:bodyPr lIns="50800" tIns="50800" rIns="50800" bIns="50800" rtlCol="0" anchor="ctr"/>
            <a:lstStyle/>
            <a:p>
              <a:pPr algn="ctr">
                <a:lnSpc>
                  <a:spcPts val="2499"/>
                </a:lnSpc>
              </a:pPr>
              <a:endParaRPr/>
            </a:p>
          </p:txBody>
        </p:sp>
      </p:grpSp>
      <p:grpSp>
        <p:nvGrpSpPr>
          <p:cNvPr id="17" name="Group 17"/>
          <p:cNvGrpSpPr/>
          <p:nvPr/>
        </p:nvGrpSpPr>
        <p:grpSpPr>
          <a:xfrm>
            <a:off x="2045266" y="6590399"/>
            <a:ext cx="6736604" cy="985278"/>
            <a:chOff x="0" y="0"/>
            <a:chExt cx="1774250" cy="259497"/>
          </a:xfrm>
        </p:grpSpPr>
        <p:sp>
          <p:nvSpPr>
            <p:cNvPr id="18" name="Freeform 18"/>
            <p:cNvSpPr/>
            <p:nvPr/>
          </p:nvSpPr>
          <p:spPr>
            <a:xfrm>
              <a:off x="0" y="0"/>
              <a:ext cx="1774250" cy="259497"/>
            </a:xfrm>
            <a:custGeom>
              <a:avLst/>
              <a:gdLst/>
              <a:ahLst/>
              <a:cxnLst/>
              <a:rect l="l" t="t" r="r" b="b"/>
              <a:pathLst>
                <a:path w="1774250" h="259497">
                  <a:moveTo>
                    <a:pt x="0" y="0"/>
                  </a:moveTo>
                  <a:lnTo>
                    <a:pt x="1774250" y="0"/>
                  </a:lnTo>
                  <a:lnTo>
                    <a:pt x="1774250" y="259497"/>
                  </a:lnTo>
                  <a:lnTo>
                    <a:pt x="0" y="259497"/>
                  </a:lnTo>
                  <a:close/>
                </a:path>
              </a:pathLst>
            </a:custGeom>
            <a:solidFill>
              <a:srgbClr val="F4F4F4"/>
            </a:solidFill>
          </p:spPr>
          <p:txBody>
            <a:bodyPr/>
            <a:lstStyle/>
            <a:p>
              <a:endParaRPr/>
            </a:p>
          </p:txBody>
        </p:sp>
        <p:sp>
          <p:nvSpPr>
            <p:cNvPr id="19" name="TextBox 19"/>
            <p:cNvSpPr txBox="1"/>
            <p:nvPr/>
          </p:nvSpPr>
          <p:spPr>
            <a:xfrm>
              <a:off x="0" y="28575"/>
              <a:ext cx="1774250" cy="230922"/>
            </a:xfrm>
            <a:prstGeom prst="rect">
              <a:avLst/>
            </a:prstGeom>
          </p:spPr>
          <p:txBody>
            <a:bodyPr lIns="50800" tIns="50800" rIns="50800" bIns="50800" rtlCol="0" anchor="ctr"/>
            <a:lstStyle/>
            <a:p>
              <a:pPr algn="ctr">
                <a:lnSpc>
                  <a:spcPts val="2499"/>
                </a:lnSpc>
              </a:pPr>
              <a:endParaRPr/>
            </a:p>
          </p:txBody>
        </p:sp>
      </p:grpSp>
      <p:sp>
        <p:nvSpPr>
          <p:cNvPr id="20" name="Freeform 20"/>
          <p:cNvSpPr/>
          <p:nvPr/>
        </p:nvSpPr>
        <p:spPr>
          <a:xfrm>
            <a:off x="9802843" y="1892132"/>
            <a:ext cx="3780274" cy="2520970"/>
          </a:xfrm>
          <a:custGeom>
            <a:avLst/>
            <a:gdLst/>
            <a:ahLst/>
            <a:cxnLst/>
            <a:rect l="l" t="t" r="r" b="b"/>
            <a:pathLst>
              <a:path w="3780274" h="2520970">
                <a:moveTo>
                  <a:pt x="0" y="0"/>
                </a:moveTo>
                <a:lnTo>
                  <a:pt x="3780274" y="0"/>
                </a:lnTo>
                <a:lnTo>
                  <a:pt x="3780274" y="2520971"/>
                </a:lnTo>
                <a:lnTo>
                  <a:pt x="0" y="2520971"/>
                </a:lnTo>
                <a:lnTo>
                  <a:pt x="0" y="0"/>
                </a:lnTo>
                <a:close/>
              </a:path>
            </a:pathLst>
          </a:custGeom>
          <a:blipFill>
            <a:blip r:embed="rId2"/>
            <a:stretch>
              <a:fillRect/>
            </a:stretch>
          </a:blipFill>
        </p:spPr>
        <p:txBody>
          <a:bodyPr/>
          <a:lstStyle/>
          <a:p>
            <a:endParaRPr/>
          </a:p>
        </p:txBody>
      </p:sp>
      <p:sp>
        <p:nvSpPr>
          <p:cNvPr id="21" name="Freeform 21"/>
          <p:cNvSpPr/>
          <p:nvPr/>
        </p:nvSpPr>
        <p:spPr>
          <a:xfrm>
            <a:off x="14123177" y="3303430"/>
            <a:ext cx="3235465" cy="3235465"/>
          </a:xfrm>
          <a:custGeom>
            <a:avLst/>
            <a:gdLst/>
            <a:ahLst/>
            <a:cxnLst/>
            <a:rect l="l" t="t" r="r" b="b"/>
            <a:pathLst>
              <a:path w="3235465" h="3235465">
                <a:moveTo>
                  <a:pt x="0" y="0"/>
                </a:moveTo>
                <a:lnTo>
                  <a:pt x="3235466" y="0"/>
                </a:lnTo>
                <a:lnTo>
                  <a:pt x="3235466" y="3235465"/>
                </a:lnTo>
                <a:lnTo>
                  <a:pt x="0" y="3235465"/>
                </a:lnTo>
                <a:lnTo>
                  <a:pt x="0" y="0"/>
                </a:lnTo>
                <a:close/>
              </a:path>
            </a:pathLst>
          </a:custGeom>
          <a:blipFill>
            <a:blip r:embed="rId3"/>
            <a:stretch>
              <a:fillRect/>
            </a:stretch>
          </a:blipFill>
        </p:spPr>
        <p:txBody>
          <a:bodyPr/>
          <a:lstStyle/>
          <a:p>
            <a:endParaRPr/>
          </a:p>
        </p:txBody>
      </p:sp>
      <p:sp>
        <p:nvSpPr>
          <p:cNvPr id="22" name="Freeform 22"/>
          <p:cNvSpPr/>
          <p:nvPr/>
        </p:nvSpPr>
        <p:spPr>
          <a:xfrm>
            <a:off x="9802843" y="5835757"/>
            <a:ext cx="3892699" cy="2595133"/>
          </a:xfrm>
          <a:custGeom>
            <a:avLst/>
            <a:gdLst/>
            <a:ahLst/>
            <a:cxnLst/>
            <a:rect l="l" t="t" r="r" b="b"/>
            <a:pathLst>
              <a:path w="3892699" h="2595133">
                <a:moveTo>
                  <a:pt x="0" y="0"/>
                </a:moveTo>
                <a:lnTo>
                  <a:pt x="3892699" y="0"/>
                </a:lnTo>
                <a:lnTo>
                  <a:pt x="3892699" y="2595133"/>
                </a:lnTo>
                <a:lnTo>
                  <a:pt x="0" y="2595133"/>
                </a:lnTo>
                <a:lnTo>
                  <a:pt x="0" y="0"/>
                </a:lnTo>
                <a:close/>
              </a:path>
            </a:pathLst>
          </a:custGeom>
          <a:blipFill>
            <a:blip r:embed="rId4"/>
            <a:stretch>
              <a:fillRect/>
            </a:stretch>
          </a:blipFill>
        </p:spPr>
        <p:txBody>
          <a:bodyPr/>
          <a:lstStyle/>
          <a:p>
            <a:endParaRPr/>
          </a:p>
        </p:txBody>
      </p:sp>
      <p:sp>
        <p:nvSpPr>
          <p:cNvPr id="23" name="TextBox 23"/>
          <p:cNvSpPr txBox="1"/>
          <p:nvPr/>
        </p:nvSpPr>
        <p:spPr>
          <a:xfrm>
            <a:off x="2168848" y="1003744"/>
            <a:ext cx="7400875" cy="866775"/>
          </a:xfrm>
          <a:prstGeom prst="rect">
            <a:avLst/>
          </a:prstGeom>
        </p:spPr>
        <p:txBody>
          <a:bodyPr lIns="0" tIns="0" rIns="0" bIns="0" rtlCol="0" anchor="t">
            <a:spAutoFit/>
          </a:bodyPr>
          <a:lstStyle/>
          <a:p>
            <a:pPr algn="l">
              <a:lnSpc>
                <a:spcPts val="6000"/>
              </a:lnSpc>
            </a:pPr>
            <a:r>
              <a:rPr lang="en-US" sz="6000" b="1">
                <a:solidFill>
                  <a:srgbClr val="022B3A"/>
                </a:solidFill>
                <a:latin typeface="Poppins Bold"/>
                <a:ea typeface="Poppins Bold"/>
                <a:cs typeface="Poppins Bold"/>
                <a:sym typeface="Poppins Bold"/>
              </a:rPr>
              <a:t>Sensitivity Rating</a:t>
            </a:r>
          </a:p>
        </p:txBody>
      </p:sp>
      <p:sp>
        <p:nvSpPr>
          <p:cNvPr id="24" name="TextBox 24"/>
          <p:cNvSpPr txBox="1"/>
          <p:nvPr/>
        </p:nvSpPr>
        <p:spPr>
          <a:xfrm>
            <a:off x="2107212" y="3085943"/>
            <a:ext cx="6385733" cy="368300"/>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No observable sensitivity</a:t>
            </a:r>
          </a:p>
        </p:txBody>
      </p:sp>
      <p:sp>
        <p:nvSpPr>
          <p:cNvPr id="25" name="TextBox 25"/>
          <p:cNvSpPr txBox="1"/>
          <p:nvPr/>
        </p:nvSpPr>
        <p:spPr>
          <a:xfrm>
            <a:off x="2072643" y="5060421"/>
            <a:ext cx="6206629" cy="368300"/>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Moderate</a:t>
            </a:r>
            <a:r>
              <a:rPr lang="en-US" sz="2000" u="none">
                <a:solidFill>
                  <a:srgbClr val="022B3A"/>
                </a:solidFill>
                <a:latin typeface="Poppins"/>
                <a:ea typeface="Poppins"/>
                <a:cs typeface="Poppins"/>
                <a:sym typeface="Poppins"/>
              </a:rPr>
              <a:t> public relevance or harm concern.</a:t>
            </a:r>
          </a:p>
        </p:txBody>
      </p:sp>
      <p:sp>
        <p:nvSpPr>
          <p:cNvPr id="26" name="TextBox 26"/>
          <p:cNvSpPr txBox="1"/>
          <p:nvPr/>
        </p:nvSpPr>
        <p:spPr>
          <a:xfrm>
            <a:off x="2107212" y="2584325"/>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Low</a:t>
            </a:r>
          </a:p>
        </p:txBody>
      </p:sp>
      <p:sp>
        <p:nvSpPr>
          <p:cNvPr id="27" name="TextBox 27"/>
          <p:cNvSpPr txBox="1"/>
          <p:nvPr/>
        </p:nvSpPr>
        <p:spPr>
          <a:xfrm>
            <a:off x="2072643" y="4479396"/>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Medium</a:t>
            </a:r>
          </a:p>
        </p:txBody>
      </p:sp>
      <p:sp>
        <p:nvSpPr>
          <p:cNvPr id="28" name="TextBox 28"/>
          <p:cNvSpPr txBox="1"/>
          <p:nvPr/>
        </p:nvSpPr>
        <p:spPr>
          <a:xfrm>
            <a:off x="2170146" y="7066649"/>
            <a:ext cx="6818601" cy="368300"/>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High public relevance, urgent harm, or vulnerability.</a:t>
            </a:r>
          </a:p>
        </p:txBody>
      </p:sp>
      <p:sp>
        <p:nvSpPr>
          <p:cNvPr id="29" name="TextBox 29"/>
          <p:cNvSpPr txBox="1"/>
          <p:nvPr/>
        </p:nvSpPr>
        <p:spPr>
          <a:xfrm>
            <a:off x="2170146" y="6590399"/>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High</a:t>
            </a:r>
          </a:p>
        </p:txBody>
      </p:sp>
      <p:sp>
        <p:nvSpPr>
          <p:cNvPr id="30" name="TextBox 30"/>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89370" y="1028700"/>
            <a:ext cx="3127322" cy="4610949"/>
            <a:chOff x="0" y="0"/>
            <a:chExt cx="823657" cy="1214406"/>
          </a:xfrm>
        </p:grpSpPr>
        <p:sp>
          <p:nvSpPr>
            <p:cNvPr id="3" name="Freeform 3"/>
            <p:cNvSpPr/>
            <p:nvPr/>
          </p:nvSpPr>
          <p:spPr>
            <a:xfrm>
              <a:off x="0" y="0"/>
              <a:ext cx="823657" cy="1214406"/>
            </a:xfrm>
            <a:custGeom>
              <a:avLst/>
              <a:gdLst/>
              <a:ahLst/>
              <a:cxnLst/>
              <a:rect l="l" t="t" r="r" b="b"/>
              <a:pathLst>
                <a:path w="823657" h="1214406">
                  <a:moveTo>
                    <a:pt x="0" y="0"/>
                  </a:moveTo>
                  <a:lnTo>
                    <a:pt x="823657" y="0"/>
                  </a:lnTo>
                  <a:lnTo>
                    <a:pt x="823657" y="1214406"/>
                  </a:lnTo>
                  <a:lnTo>
                    <a:pt x="0" y="1214406"/>
                  </a:lnTo>
                  <a:close/>
                </a:path>
              </a:pathLst>
            </a:custGeom>
            <a:solidFill>
              <a:srgbClr val="C2DCFF"/>
            </a:solidFill>
          </p:spPr>
          <p:txBody>
            <a:bodyPr/>
            <a:lstStyle/>
            <a:p>
              <a:endParaRPr/>
            </a:p>
          </p:txBody>
        </p:sp>
        <p:sp>
          <p:nvSpPr>
            <p:cNvPr id="4" name="TextBox 4"/>
            <p:cNvSpPr txBox="1"/>
            <p:nvPr/>
          </p:nvSpPr>
          <p:spPr>
            <a:xfrm>
              <a:off x="0" y="28575"/>
              <a:ext cx="823657" cy="1185831"/>
            </a:xfrm>
            <a:prstGeom prst="rect">
              <a:avLst/>
            </a:prstGeom>
          </p:spPr>
          <p:txBody>
            <a:bodyPr lIns="50800" tIns="50800" rIns="50800" bIns="50800" rtlCol="0" anchor="ctr"/>
            <a:lstStyle/>
            <a:p>
              <a:pPr algn="ctr">
                <a:lnSpc>
                  <a:spcPts val="2499"/>
                </a:lnSpc>
              </a:pPr>
              <a:endParaRPr/>
            </a:p>
          </p:txBody>
        </p:sp>
      </p:grpSp>
      <p:sp>
        <p:nvSpPr>
          <p:cNvPr id="5" name="TextBox 5"/>
          <p:cNvSpPr txBox="1"/>
          <p:nvPr/>
        </p:nvSpPr>
        <p:spPr>
          <a:xfrm>
            <a:off x="3252276" y="1771764"/>
            <a:ext cx="6590224" cy="1628775"/>
          </a:xfrm>
          <a:prstGeom prst="rect">
            <a:avLst/>
          </a:prstGeom>
        </p:spPr>
        <p:txBody>
          <a:bodyPr lIns="0" tIns="0" rIns="0" bIns="0" rtlCol="0" anchor="t">
            <a:spAutoFit/>
          </a:bodyPr>
          <a:lstStyle/>
          <a:p>
            <a:pPr algn="l">
              <a:lnSpc>
                <a:spcPts val="6000"/>
              </a:lnSpc>
            </a:pPr>
            <a:r>
              <a:rPr lang="en-US" sz="6000" b="1" spc="-60">
                <a:solidFill>
                  <a:srgbClr val="022B3A"/>
                </a:solidFill>
                <a:latin typeface="Poppins Bold"/>
                <a:ea typeface="Poppins Bold"/>
                <a:cs typeface="Poppins Bold"/>
                <a:sym typeface="Poppins Bold"/>
              </a:rPr>
              <a:t>Manual Annotator</a:t>
            </a:r>
          </a:p>
        </p:txBody>
      </p:sp>
      <p:sp>
        <p:nvSpPr>
          <p:cNvPr id="6" name="TextBox 6"/>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6</a:t>
            </a:r>
          </a:p>
        </p:txBody>
      </p:sp>
      <p:sp>
        <p:nvSpPr>
          <p:cNvPr id="7" name="TextBox 6"/>
          <p:cNvSpPr txBox="1"/>
          <p:nvPr/>
        </p:nvSpPr>
        <p:spPr>
          <a:xfrm>
            <a:off x="3252276" y="3500000"/>
            <a:ext cx="11000000" cy="1500000"/>
          </a:xfrm>
          <a:prstGeom prst="rect">
            <a:avLst/>
          </a:prstGeom>
          <a:noFill/>
        </p:spPr>
        <p:txBody>
          <a:bodyPr wrap="square">
            <a:spAutoFit/>
          </a:bodyPr>
          <a:lstStyle/>
          <a:p>
            <a:pPr>
              <a:spcAft>
                <a:spcPts val="1000"/>
              </a:spcAft>
            </a:pPr>
            <a:r>
              <a:rPr sz="2800">
                <a:solidFill>
                  <a:srgbClr val="1F2937"/>
                </a:solidFill>
                <a:latin typeface="Poppins"/>
              </a:rPr>
              <a:t>Building the gold standard: human judgment on every sensitive image.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386741" y="472477"/>
            <a:ext cx="8529124" cy="7618736"/>
            <a:chOff x="0" y="0"/>
            <a:chExt cx="2182505" cy="1949547"/>
          </a:xfrm>
        </p:grpSpPr>
        <p:sp>
          <p:nvSpPr>
            <p:cNvPr id="3" name="Freeform 3"/>
            <p:cNvSpPr/>
            <p:nvPr/>
          </p:nvSpPr>
          <p:spPr>
            <a:xfrm>
              <a:off x="0" y="0"/>
              <a:ext cx="2182505" cy="1949547"/>
            </a:xfrm>
            <a:custGeom>
              <a:avLst/>
              <a:gdLst/>
              <a:ahLst/>
              <a:cxnLst/>
              <a:rect l="l" t="t" r="r" b="b"/>
              <a:pathLst>
                <a:path w="2182505" h="1949547">
                  <a:moveTo>
                    <a:pt x="0" y="0"/>
                  </a:moveTo>
                  <a:lnTo>
                    <a:pt x="2182505" y="0"/>
                  </a:lnTo>
                  <a:lnTo>
                    <a:pt x="2182505" y="1949547"/>
                  </a:lnTo>
                  <a:lnTo>
                    <a:pt x="0" y="1949547"/>
                  </a:lnTo>
                  <a:close/>
                </a:path>
              </a:pathLst>
            </a:custGeom>
            <a:solidFill>
              <a:srgbClr val="C2DCFF"/>
            </a:solidFill>
          </p:spPr>
          <p:txBody>
            <a:bodyPr/>
            <a:lstStyle/>
            <a:p>
              <a:endParaRPr/>
            </a:p>
          </p:txBody>
        </p:sp>
        <p:sp>
          <p:nvSpPr>
            <p:cNvPr id="4" name="TextBox 4"/>
            <p:cNvSpPr txBox="1"/>
            <p:nvPr/>
          </p:nvSpPr>
          <p:spPr>
            <a:xfrm>
              <a:off x="0" y="28575"/>
              <a:ext cx="2182505" cy="1920972"/>
            </a:xfrm>
            <a:prstGeom prst="rect">
              <a:avLst/>
            </a:prstGeom>
          </p:spPr>
          <p:txBody>
            <a:bodyPr lIns="50800" tIns="50800" rIns="50800" bIns="50800" rtlCol="0" anchor="ctr"/>
            <a:lstStyle/>
            <a:p>
              <a:pPr algn="ctr">
                <a:lnSpc>
                  <a:spcPts val="2499"/>
                </a:lnSpc>
              </a:pPr>
              <a:endParaRPr/>
            </a:p>
          </p:txBody>
        </p:sp>
      </p:grpSp>
      <p:sp>
        <p:nvSpPr>
          <p:cNvPr id="5" name="Freeform 5"/>
          <p:cNvSpPr/>
          <p:nvPr/>
        </p:nvSpPr>
        <p:spPr>
          <a:xfrm>
            <a:off x="9829310" y="472477"/>
            <a:ext cx="7356313" cy="7618736"/>
          </a:xfrm>
          <a:custGeom>
            <a:avLst/>
            <a:gdLst/>
            <a:ahLst/>
            <a:cxnLst/>
            <a:rect l="l" t="t" r="r" b="b"/>
            <a:pathLst>
              <a:path w="7356313" h="7618736">
                <a:moveTo>
                  <a:pt x="0" y="0"/>
                </a:moveTo>
                <a:lnTo>
                  <a:pt x="7356313" y="0"/>
                </a:lnTo>
                <a:lnTo>
                  <a:pt x="7356313" y="7618736"/>
                </a:lnTo>
                <a:lnTo>
                  <a:pt x="0" y="7618736"/>
                </a:lnTo>
                <a:lnTo>
                  <a:pt x="0" y="0"/>
                </a:lnTo>
                <a:close/>
              </a:path>
            </a:pathLst>
          </a:custGeom>
          <a:blipFill>
            <a:blip r:embed="rId2"/>
            <a:stretch>
              <a:fillRect/>
            </a:stretch>
          </a:blipFill>
        </p:spPr>
        <p:txBody>
          <a:bodyPr/>
          <a:lstStyle/>
          <a:p>
            <a:endParaRPr/>
          </a:p>
        </p:txBody>
      </p:sp>
      <p:sp>
        <p:nvSpPr>
          <p:cNvPr id="6" name="TextBox 6"/>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7</a:t>
            </a:r>
          </a:p>
        </p:txBody>
      </p:sp>
      <p:sp>
        <p:nvSpPr>
          <p:cNvPr id="7" name="TextBox 7"/>
          <p:cNvSpPr txBox="1"/>
          <p:nvPr/>
        </p:nvSpPr>
        <p:spPr>
          <a:xfrm>
            <a:off x="483669" y="1057328"/>
            <a:ext cx="8335268" cy="458517"/>
          </a:xfrm>
          <a:prstGeom prst="rect">
            <a:avLst/>
          </a:prstGeom>
        </p:spPr>
        <p:txBody>
          <a:bodyPr lIns="0" tIns="0" rIns="0" bIns="0" rtlCol="0" anchor="t">
            <a:spAutoFit/>
          </a:bodyPr>
          <a:lstStyle/>
          <a:p>
            <a:pPr marL="0" lvl="0" indent="0" algn="l">
              <a:lnSpc>
                <a:spcPts val="3602"/>
              </a:lnSpc>
              <a:spcBef>
                <a:spcPct val="0"/>
              </a:spcBef>
            </a:pPr>
            <a:r>
              <a:rPr lang="en-US" sz="2573" b="1">
                <a:solidFill>
                  <a:srgbClr val="022B3A"/>
                </a:solidFill>
                <a:latin typeface="Poppins Bold"/>
                <a:ea typeface="Poppins Bold"/>
                <a:cs typeface="Poppins Bold"/>
                <a:sym typeface="Poppins Bold"/>
              </a:rPr>
              <a:t>Manual Annotator Dashboard</a:t>
            </a:r>
          </a:p>
        </p:txBody>
      </p:sp>
      <p:sp>
        <p:nvSpPr>
          <p:cNvPr id="8" name="TextBox 7"/>
          <p:cNvSpPr txBox="1"/>
          <p:nvPr/>
        </p:nvSpPr>
        <p:spPr>
          <a:xfrm>
            <a:off x="700000" y="1950000"/>
            <a:ext cx="7900000" cy="5900000"/>
          </a:xfrm>
          <a:prstGeom prst="rect">
            <a:avLst/>
          </a:prstGeom>
          <a:noFill/>
        </p:spPr>
        <p:txBody>
          <a:bodyPr wrap="square">
            <a:spAutoFit/>
          </a:bodyPr>
          <a:lstStyle/>
          <a:p>
            <a:pPr marL="342900" indent="-342900">
              <a:spcAft>
                <a:spcPts val="1000"/>
              </a:spcAft>
              <a:buChar char="•"/>
            </a:pPr>
            <a:r>
              <a:rPr sz="2200" b="1">
                <a:solidFill>
                  <a:srgbClr val="022B3A"/>
                </a:solidFill>
                <a:latin typeface="Poppins Bold"/>
              </a:rPr>
              <a:t>Review: </a:t>
            </a:r>
            <a:r>
              <a:rPr sz="2200">
                <a:solidFill>
                  <a:srgbClr val="1F2937"/>
                </a:solidFill>
                <a:latin typeface="Poppins"/>
              </a:rPr>
              <a:t>one image at a time, with its source and real/fake label.</a:t>
            </a:r>
          </a:p>
          <a:p>
            <a:pPr marL="342900" indent="-342900">
              <a:spcAft>
                <a:spcPts val="1000"/>
              </a:spcAft>
              <a:buChar char="•"/>
            </a:pPr>
            <a:r>
              <a:rPr sz="2200" b="1">
                <a:solidFill>
                  <a:srgbClr val="022B3A"/>
                </a:solidFill>
                <a:latin typeface="Poppins Bold"/>
              </a:rPr>
              <a:t>Score: </a:t>
            </a:r>
            <a:r>
              <a:rPr sz="2200">
                <a:solidFill>
                  <a:srgbClr val="1F2937"/>
                </a:solidFill>
                <a:latin typeface="Poppins"/>
              </a:rPr>
              <a:t>public relevance, harm and vulnerability on a short scale.</a:t>
            </a:r>
          </a:p>
          <a:p>
            <a:pPr marL="342900" indent="-342900">
              <a:spcAft>
                <a:spcPts val="1000"/>
              </a:spcAft>
              <a:buChar char="•"/>
            </a:pPr>
            <a:r>
              <a:rPr sz="2200" b="1">
                <a:solidFill>
                  <a:srgbClr val="022B3A"/>
                </a:solidFill>
                <a:latin typeface="Poppins Bold"/>
              </a:rPr>
              <a:t>Rate: </a:t>
            </a:r>
            <a:r>
              <a:rPr sz="2200">
                <a:solidFill>
                  <a:srgbClr val="1F2937"/>
                </a:solidFill>
                <a:latin typeface="Poppins"/>
              </a:rPr>
              <a:t>the scores combine into Low, Medium or High, following the rubric.</a:t>
            </a:r>
          </a:p>
          <a:p>
            <a:pPr marL="342900" indent="-342900">
              <a:spcAft>
                <a:spcPts val="1000"/>
              </a:spcAft>
              <a:buChar char="•"/>
            </a:pPr>
            <a:r>
              <a:rPr sz="2200" b="1">
                <a:solidFill>
                  <a:srgbClr val="022B3A"/>
                </a:solidFill>
                <a:latin typeface="Poppins Bold"/>
              </a:rPr>
              <a:t>Record: </a:t>
            </a:r>
            <a:r>
              <a:rPr sz="2200">
                <a:solidFill>
                  <a:srgbClr val="1F2937"/>
                </a:solidFill>
                <a:latin typeface="Poppins"/>
              </a:rPr>
              <a:t>each decision is saved as structured JSON, so it can be audited.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9047377" y="472477"/>
            <a:ext cx="8211923" cy="7618736"/>
          </a:xfrm>
          <a:custGeom>
            <a:avLst/>
            <a:gdLst/>
            <a:ahLst/>
            <a:cxnLst/>
            <a:rect l="l" t="t" r="r" b="b"/>
            <a:pathLst>
              <a:path w="8211923" h="7618736">
                <a:moveTo>
                  <a:pt x="0" y="0"/>
                </a:moveTo>
                <a:lnTo>
                  <a:pt x="8211923" y="0"/>
                </a:lnTo>
                <a:lnTo>
                  <a:pt x="8211923" y="7618736"/>
                </a:lnTo>
                <a:lnTo>
                  <a:pt x="0" y="7618736"/>
                </a:lnTo>
                <a:lnTo>
                  <a:pt x="0" y="0"/>
                </a:lnTo>
                <a:close/>
              </a:path>
            </a:pathLst>
          </a:custGeom>
          <a:blipFill>
            <a:blip r:embed="rId2"/>
            <a:stretch>
              <a:fillRect/>
            </a:stretch>
          </a:blipFill>
        </p:spPr>
        <p:txBody>
          <a:bodyPr/>
          <a:lstStyle/>
          <a:p>
            <a:endParaRPr/>
          </a:p>
        </p:txBody>
      </p:sp>
      <p:sp>
        <p:nvSpPr>
          <p:cNvPr id="3" name="TextBox 3"/>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8</a:t>
            </a:r>
          </a:p>
        </p:txBody>
      </p:sp>
      <p:grpSp>
        <p:nvGrpSpPr>
          <p:cNvPr id="4" name="Group 4"/>
          <p:cNvGrpSpPr/>
          <p:nvPr/>
        </p:nvGrpSpPr>
        <p:grpSpPr>
          <a:xfrm>
            <a:off x="386741" y="472477"/>
            <a:ext cx="8529124" cy="7618736"/>
            <a:chOff x="0" y="0"/>
            <a:chExt cx="2182505" cy="1949547"/>
          </a:xfrm>
        </p:grpSpPr>
        <p:sp>
          <p:nvSpPr>
            <p:cNvPr id="5" name="Freeform 5"/>
            <p:cNvSpPr/>
            <p:nvPr/>
          </p:nvSpPr>
          <p:spPr>
            <a:xfrm>
              <a:off x="0" y="0"/>
              <a:ext cx="2182505" cy="1949547"/>
            </a:xfrm>
            <a:custGeom>
              <a:avLst/>
              <a:gdLst/>
              <a:ahLst/>
              <a:cxnLst/>
              <a:rect l="l" t="t" r="r" b="b"/>
              <a:pathLst>
                <a:path w="2182505" h="1949547">
                  <a:moveTo>
                    <a:pt x="0" y="0"/>
                  </a:moveTo>
                  <a:lnTo>
                    <a:pt x="2182505" y="0"/>
                  </a:lnTo>
                  <a:lnTo>
                    <a:pt x="2182505" y="1949547"/>
                  </a:lnTo>
                  <a:lnTo>
                    <a:pt x="0" y="1949547"/>
                  </a:lnTo>
                  <a:close/>
                </a:path>
              </a:pathLst>
            </a:custGeom>
            <a:solidFill>
              <a:srgbClr val="C2DCFF"/>
            </a:solidFill>
          </p:spPr>
          <p:txBody>
            <a:bodyPr/>
            <a:lstStyle/>
            <a:p>
              <a:endParaRPr/>
            </a:p>
          </p:txBody>
        </p:sp>
        <p:sp>
          <p:nvSpPr>
            <p:cNvPr id="6" name="TextBox 6"/>
            <p:cNvSpPr txBox="1"/>
            <p:nvPr/>
          </p:nvSpPr>
          <p:spPr>
            <a:xfrm>
              <a:off x="0" y="28575"/>
              <a:ext cx="2182505" cy="1920972"/>
            </a:xfrm>
            <a:prstGeom prst="rect">
              <a:avLst/>
            </a:prstGeom>
          </p:spPr>
          <p:txBody>
            <a:bodyPr lIns="50800" tIns="50800" rIns="50800" bIns="50800" rtlCol="0" anchor="ctr"/>
            <a:lstStyle/>
            <a:p>
              <a:pPr algn="ctr">
                <a:lnSpc>
                  <a:spcPts val="2499"/>
                </a:lnSpc>
              </a:pPr>
              <a:endParaRPr/>
            </a:p>
          </p:txBody>
        </p:sp>
      </p:grpSp>
      <p:sp>
        <p:nvSpPr>
          <p:cNvPr id="7" name="TextBox 7"/>
          <p:cNvSpPr txBox="1"/>
          <p:nvPr/>
        </p:nvSpPr>
        <p:spPr>
          <a:xfrm>
            <a:off x="483669" y="1057328"/>
            <a:ext cx="8335268" cy="458517"/>
          </a:xfrm>
          <a:prstGeom prst="rect">
            <a:avLst/>
          </a:prstGeom>
        </p:spPr>
        <p:txBody>
          <a:bodyPr lIns="0" tIns="0" rIns="0" bIns="0" rtlCol="0" anchor="t">
            <a:spAutoFit/>
          </a:bodyPr>
          <a:lstStyle/>
          <a:p>
            <a:pPr marL="0" lvl="0" indent="0" algn="l">
              <a:lnSpc>
                <a:spcPts val="3602"/>
              </a:lnSpc>
              <a:spcBef>
                <a:spcPct val="0"/>
              </a:spcBef>
            </a:pPr>
            <a:r>
              <a:rPr lang="en-US" sz="2573" b="1">
                <a:solidFill>
                  <a:srgbClr val="022B3A"/>
                </a:solidFill>
                <a:latin typeface="Poppins Bold"/>
                <a:ea typeface="Poppins Bold"/>
                <a:cs typeface="Poppins Bold"/>
                <a:sym typeface="Poppins Bold"/>
              </a:rPr>
              <a:t>Gold Standard</a:t>
            </a:r>
          </a:p>
        </p:txBody>
      </p:sp>
      <p:sp>
        <p:nvSpPr>
          <p:cNvPr id="8" name="TextBox 7"/>
          <p:cNvSpPr txBox="1"/>
          <p:nvPr/>
        </p:nvSpPr>
        <p:spPr>
          <a:xfrm>
            <a:off x="700000" y="1950000"/>
            <a:ext cx="7900000" cy="5900000"/>
          </a:xfrm>
          <a:prstGeom prst="rect">
            <a:avLst/>
          </a:prstGeom>
          <a:noFill/>
        </p:spPr>
        <p:txBody>
          <a:bodyPr wrap="square">
            <a:spAutoFit/>
          </a:bodyPr>
          <a:lstStyle/>
          <a:p>
            <a:pPr marL="342900" indent="-342900">
              <a:spcAft>
                <a:spcPts val="1000"/>
              </a:spcAft>
              <a:buChar char="•"/>
            </a:pPr>
            <a:r>
              <a:rPr sz="2200" b="1">
                <a:solidFill>
                  <a:srgbClr val="022B3A"/>
                </a:solidFill>
                <a:latin typeface="Poppins Bold"/>
              </a:rPr>
              <a:t>Gold: </a:t>
            </a:r>
            <a:r>
              <a:rPr sz="2200">
                <a:solidFill>
                  <a:srgbClr val="1F2937"/>
                </a:solidFill>
                <a:latin typeface="Poppins"/>
              </a:rPr>
              <a:t>1,101 manually rated images (354 Low, 595 Medium, 152 High).</a:t>
            </a:r>
          </a:p>
          <a:p>
            <a:pPr marL="342900" indent="-342900">
              <a:spcAft>
                <a:spcPts val="1000"/>
              </a:spcAft>
              <a:buChar char="•"/>
            </a:pPr>
            <a:r>
              <a:rPr sz="2200" b="1">
                <a:solidFill>
                  <a:srgbClr val="022B3A"/>
                </a:solidFill>
                <a:latin typeface="Poppins Bold"/>
              </a:rPr>
              <a:t>Silver: </a:t>
            </a:r>
            <a:r>
              <a:rPr sz="2200">
                <a:solidFill>
                  <a:srgbClr val="1F2937"/>
                </a:solidFill>
                <a:latin typeface="Poppins"/>
              </a:rPr>
              <a:t>3,398 images rated automatically, each with a confidence score.</a:t>
            </a:r>
          </a:p>
          <a:p>
            <a:pPr marL="342900" indent="-342900">
              <a:spcAft>
                <a:spcPts val="1000"/>
              </a:spcAft>
              <a:buChar char="•"/>
            </a:pPr>
            <a:r>
              <a:rPr sz="2200" b="1">
                <a:solidFill>
                  <a:srgbClr val="022B3A"/>
                </a:solidFill>
                <a:latin typeface="Poppins Bold"/>
              </a:rPr>
              <a:t>Use: </a:t>
            </a:r>
            <a:r>
              <a:rPr sz="2200">
                <a:solidFill>
                  <a:srgbClr val="1F2937"/>
                </a:solidFill>
                <a:latin typeface="Poppins"/>
              </a:rPr>
              <a:t>gold labels are the reference to check the auto-annotator and drive the oracle variant of the ablation.</a:t>
            </a:r>
          </a:p>
          <a:p>
            <a:pPr marL="342900" indent="-342900">
              <a:spcAft>
                <a:spcPts val="1000"/>
              </a:spcAft>
              <a:buChar char="•"/>
            </a:pPr>
            <a:r>
              <a:rPr sz="2200" b="1">
                <a:solidFill>
                  <a:srgbClr val="022B3A"/>
                </a:solidFill>
                <a:latin typeface="Poppins Bold"/>
              </a:rPr>
              <a:t>Output: </a:t>
            </a:r>
            <a:r>
              <a:rPr sz="2200">
                <a:solidFill>
                  <a:srgbClr val="1F2937"/>
                </a:solidFill>
                <a:latin typeface="Poppins"/>
              </a:rPr>
              <a:t>the dashboard exports the labels and their provenance as JSON.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89370" y="1028700"/>
            <a:ext cx="3127322" cy="4610949"/>
            <a:chOff x="0" y="0"/>
            <a:chExt cx="823657" cy="1214406"/>
          </a:xfrm>
        </p:grpSpPr>
        <p:sp>
          <p:nvSpPr>
            <p:cNvPr id="3" name="Freeform 3"/>
            <p:cNvSpPr/>
            <p:nvPr/>
          </p:nvSpPr>
          <p:spPr>
            <a:xfrm>
              <a:off x="0" y="0"/>
              <a:ext cx="823657" cy="1214406"/>
            </a:xfrm>
            <a:custGeom>
              <a:avLst/>
              <a:gdLst/>
              <a:ahLst/>
              <a:cxnLst/>
              <a:rect l="l" t="t" r="r" b="b"/>
              <a:pathLst>
                <a:path w="823657" h="1214406">
                  <a:moveTo>
                    <a:pt x="0" y="0"/>
                  </a:moveTo>
                  <a:lnTo>
                    <a:pt x="823657" y="0"/>
                  </a:lnTo>
                  <a:lnTo>
                    <a:pt x="823657" y="1214406"/>
                  </a:lnTo>
                  <a:lnTo>
                    <a:pt x="0" y="1214406"/>
                  </a:lnTo>
                  <a:close/>
                </a:path>
              </a:pathLst>
            </a:custGeom>
            <a:solidFill>
              <a:srgbClr val="C2DCFF"/>
            </a:solidFill>
          </p:spPr>
          <p:txBody>
            <a:bodyPr/>
            <a:lstStyle/>
            <a:p>
              <a:endParaRPr/>
            </a:p>
          </p:txBody>
        </p:sp>
        <p:sp>
          <p:nvSpPr>
            <p:cNvPr id="4" name="TextBox 4"/>
            <p:cNvSpPr txBox="1"/>
            <p:nvPr/>
          </p:nvSpPr>
          <p:spPr>
            <a:xfrm>
              <a:off x="0" y="28575"/>
              <a:ext cx="823657" cy="1185831"/>
            </a:xfrm>
            <a:prstGeom prst="rect">
              <a:avLst/>
            </a:prstGeom>
          </p:spPr>
          <p:txBody>
            <a:bodyPr lIns="50800" tIns="50800" rIns="50800" bIns="50800" rtlCol="0" anchor="ctr"/>
            <a:lstStyle/>
            <a:p>
              <a:pPr algn="ctr">
                <a:lnSpc>
                  <a:spcPts val="2499"/>
                </a:lnSpc>
              </a:pPr>
              <a:endParaRPr/>
            </a:p>
          </p:txBody>
        </p:sp>
      </p:grpSp>
      <p:sp>
        <p:nvSpPr>
          <p:cNvPr id="5" name="TextBox 5"/>
          <p:cNvSpPr txBox="1"/>
          <p:nvPr/>
        </p:nvSpPr>
        <p:spPr>
          <a:xfrm>
            <a:off x="3252276" y="3565715"/>
            <a:ext cx="9433784" cy="1791154"/>
          </a:xfrm>
          <a:prstGeom prst="rect">
            <a:avLst/>
          </a:prstGeom>
        </p:spPr>
        <p:txBody>
          <a:bodyPr lIns="0" tIns="0" rIns="0" bIns="0" rtlCol="0" anchor="t">
            <a:spAutoFit/>
          </a:bodyPr>
          <a:lstStyle/>
          <a:p>
            <a:pPr algn="l">
              <a:lnSpc>
                <a:spcPts val="3533"/>
              </a:lnSpc>
            </a:pPr>
            <a:r>
              <a:rPr lang="en-US" sz="2524">
                <a:solidFill>
                  <a:srgbClr val="022B3A"/>
                </a:solidFill>
                <a:latin typeface="Poppins"/>
                <a:ea typeface="Poppins"/>
                <a:cs typeface="Poppins"/>
                <a:sym typeface="Poppins"/>
              </a:rPr>
              <a:t>We use an automatic ResNet-50 annotator to classify semantic sensitivity, independently from image authenticity. It outputs low/medium/high probabilities, a confidence score, and provenance for every image.</a:t>
            </a:r>
          </a:p>
        </p:txBody>
      </p:sp>
      <p:sp>
        <p:nvSpPr>
          <p:cNvPr id="6" name="TextBox 6"/>
          <p:cNvSpPr txBox="1"/>
          <p:nvPr/>
        </p:nvSpPr>
        <p:spPr>
          <a:xfrm>
            <a:off x="3252276" y="1771764"/>
            <a:ext cx="6590224" cy="1628775"/>
          </a:xfrm>
          <a:prstGeom prst="rect">
            <a:avLst/>
          </a:prstGeom>
        </p:spPr>
        <p:txBody>
          <a:bodyPr lIns="0" tIns="0" rIns="0" bIns="0" rtlCol="0" anchor="t">
            <a:spAutoFit/>
          </a:bodyPr>
          <a:lstStyle/>
          <a:p>
            <a:pPr algn="l">
              <a:lnSpc>
                <a:spcPts val="6000"/>
              </a:lnSpc>
            </a:pPr>
            <a:r>
              <a:rPr lang="en-US" sz="6000" b="1" spc="-60">
                <a:solidFill>
                  <a:srgbClr val="022B3A"/>
                </a:solidFill>
                <a:latin typeface="Poppins Bold"/>
                <a:ea typeface="Poppins Bold"/>
                <a:cs typeface="Poppins Bold"/>
                <a:sym typeface="Poppins Bold"/>
              </a:rPr>
              <a:t>Automatic</a:t>
            </a:r>
          </a:p>
          <a:p>
            <a:pPr algn="l">
              <a:lnSpc>
                <a:spcPts val="6000"/>
              </a:lnSpc>
            </a:pPr>
            <a:r>
              <a:rPr lang="en-US" sz="6000" b="1" spc="-60">
                <a:solidFill>
                  <a:srgbClr val="022B3A"/>
                </a:solidFill>
                <a:latin typeface="Poppins Bold"/>
                <a:ea typeface="Poppins Bold"/>
                <a:cs typeface="Poppins Bold"/>
                <a:sym typeface="Poppins Bold"/>
              </a:rPr>
              <a:t>Annotator</a:t>
            </a:r>
          </a:p>
        </p:txBody>
      </p:sp>
      <p:sp>
        <p:nvSpPr>
          <p:cNvPr id="13" name="TextBox 13"/>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2045266" y="1028700"/>
            <a:ext cx="7064165" cy="1002547"/>
            <a:chOff x="0" y="0"/>
            <a:chExt cx="1860521" cy="264045"/>
          </a:xfrm>
        </p:grpSpPr>
        <p:sp>
          <p:nvSpPr>
            <p:cNvPr id="3" name="Freeform 3"/>
            <p:cNvSpPr/>
            <p:nvPr/>
          </p:nvSpPr>
          <p:spPr>
            <a:xfrm>
              <a:off x="0" y="0"/>
              <a:ext cx="1860521" cy="264045"/>
            </a:xfrm>
            <a:custGeom>
              <a:avLst/>
              <a:gdLst/>
              <a:ahLst/>
              <a:cxnLst/>
              <a:rect l="l" t="t" r="r" b="b"/>
              <a:pathLst>
                <a:path w="1860521" h="264045">
                  <a:moveTo>
                    <a:pt x="0" y="0"/>
                  </a:moveTo>
                  <a:lnTo>
                    <a:pt x="1860521" y="0"/>
                  </a:lnTo>
                  <a:lnTo>
                    <a:pt x="1860521" y="264045"/>
                  </a:lnTo>
                  <a:lnTo>
                    <a:pt x="0" y="264045"/>
                  </a:lnTo>
                  <a:close/>
                </a:path>
              </a:pathLst>
            </a:custGeom>
            <a:solidFill>
              <a:srgbClr val="C2DCFF"/>
            </a:solidFill>
          </p:spPr>
          <p:txBody>
            <a:bodyPr/>
            <a:lstStyle/>
            <a:p>
              <a:endParaRPr/>
            </a:p>
          </p:txBody>
        </p:sp>
        <p:sp>
          <p:nvSpPr>
            <p:cNvPr id="4" name="TextBox 4"/>
            <p:cNvSpPr txBox="1"/>
            <p:nvPr/>
          </p:nvSpPr>
          <p:spPr>
            <a:xfrm>
              <a:off x="0" y="28575"/>
              <a:ext cx="1860521" cy="235470"/>
            </a:xfrm>
            <a:prstGeom prst="rect">
              <a:avLst/>
            </a:prstGeom>
          </p:spPr>
          <p:txBody>
            <a:bodyPr lIns="50800" tIns="50800" rIns="50800" bIns="50800" rtlCol="0" anchor="ctr"/>
            <a:lstStyle/>
            <a:p>
              <a:pPr algn="ctr">
                <a:lnSpc>
                  <a:spcPts val="2499"/>
                </a:lnSpc>
              </a:pPr>
              <a:endParaRPr/>
            </a:p>
          </p:txBody>
        </p:sp>
      </p:grpSp>
      <p:sp>
        <p:nvSpPr>
          <p:cNvPr id="5" name="TextBox 5"/>
          <p:cNvSpPr txBox="1"/>
          <p:nvPr/>
        </p:nvSpPr>
        <p:spPr>
          <a:xfrm>
            <a:off x="2168848" y="1120399"/>
            <a:ext cx="7400875" cy="866775"/>
          </a:xfrm>
          <a:prstGeom prst="rect">
            <a:avLst/>
          </a:prstGeom>
        </p:spPr>
        <p:txBody>
          <a:bodyPr lIns="0" tIns="0" rIns="0" bIns="0" rtlCol="0" anchor="t">
            <a:spAutoFit/>
          </a:bodyPr>
          <a:lstStyle/>
          <a:p>
            <a:pPr algn="l">
              <a:lnSpc>
                <a:spcPts val="6000"/>
              </a:lnSpc>
            </a:pPr>
            <a:r>
              <a:rPr lang="en-US" sz="6000" b="1">
                <a:solidFill>
                  <a:srgbClr val="022B3A"/>
                </a:solidFill>
                <a:latin typeface="Poppins Bold"/>
                <a:ea typeface="Poppins Bold"/>
                <a:cs typeface="Poppins Bold"/>
                <a:sym typeface="Poppins Bold"/>
              </a:rPr>
              <a:t>AutoAnnotator</a:t>
            </a:r>
          </a:p>
        </p:txBody>
      </p:sp>
      <p:grpSp>
        <p:nvGrpSpPr>
          <p:cNvPr id="6" name="Group 6"/>
          <p:cNvGrpSpPr/>
          <p:nvPr/>
        </p:nvGrpSpPr>
        <p:grpSpPr>
          <a:xfrm>
            <a:off x="1124239" y="4359897"/>
            <a:ext cx="3292478" cy="2284774"/>
            <a:chOff x="0" y="0"/>
            <a:chExt cx="867155" cy="601751"/>
          </a:xfrm>
        </p:grpSpPr>
        <p:sp>
          <p:nvSpPr>
            <p:cNvPr id="7" name="Freeform 7"/>
            <p:cNvSpPr/>
            <p:nvPr/>
          </p:nvSpPr>
          <p:spPr>
            <a:xfrm>
              <a:off x="0" y="0"/>
              <a:ext cx="867155" cy="601751"/>
            </a:xfrm>
            <a:custGeom>
              <a:avLst/>
              <a:gdLst/>
              <a:ahLst/>
              <a:cxnLst/>
              <a:rect l="l" t="t" r="r" b="b"/>
              <a:pathLst>
                <a:path w="867155" h="601751">
                  <a:moveTo>
                    <a:pt x="0" y="0"/>
                  </a:moveTo>
                  <a:lnTo>
                    <a:pt x="867155" y="0"/>
                  </a:lnTo>
                  <a:lnTo>
                    <a:pt x="867155" y="601751"/>
                  </a:lnTo>
                  <a:lnTo>
                    <a:pt x="0" y="601751"/>
                  </a:lnTo>
                  <a:close/>
                </a:path>
              </a:pathLst>
            </a:custGeom>
            <a:solidFill>
              <a:srgbClr val="C2DCFF"/>
            </a:solidFill>
          </p:spPr>
          <p:txBody>
            <a:bodyPr/>
            <a:lstStyle/>
            <a:p>
              <a:endParaRPr/>
            </a:p>
          </p:txBody>
        </p:sp>
        <p:sp>
          <p:nvSpPr>
            <p:cNvPr id="8" name="TextBox 8"/>
            <p:cNvSpPr txBox="1"/>
            <p:nvPr/>
          </p:nvSpPr>
          <p:spPr>
            <a:xfrm>
              <a:off x="0" y="28575"/>
              <a:ext cx="867155" cy="573176"/>
            </a:xfrm>
            <a:prstGeom prst="rect">
              <a:avLst/>
            </a:prstGeom>
          </p:spPr>
          <p:txBody>
            <a:bodyPr lIns="50800" tIns="50800" rIns="50800" bIns="50800" rtlCol="0" anchor="ctr"/>
            <a:lstStyle/>
            <a:p>
              <a:pPr algn="ctr">
                <a:lnSpc>
                  <a:spcPts val="2499"/>
                </a:lnSpc>
              </a:pPr>
              <a:endParaRPr/>
            </a:p>
          </p:txBody>
        </p:sp>
      </p:grpSp>
      <p:sp>
        <p:nvSpPr>
          <p:cNvPr id="9" name="TextBox 9"/>
          <p:cNvSpPr txBox="1"/>
          <p:nvPr/>
        </p:nvSpPr>
        <p:spPr>
          <a:xfrm>
            <a:off x="1428097" y="5094615"/>
            <a:ext cx="2684761" cy="1073150"/>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22B3A"/>
                </a:solidFill>
                <a:latin typeface="Poppins"/>
                <a:ea typeface="Poppins"/>
                <a:cs typeface="Poppins"/>
                <a:sym typeface="Poppins"/>
              </a:rPr>
              <a:t>Validated images from multiple sources</a:t>
            </a:r>
          </a:p>
        </p:txBody>
      </p:sp>
      <p:sp>
        <p:nvSpPr>
          <p:cNvPr id="10" name="TextBox 10"/>
          <p:cNvSpPr txBox="1"/>
          <p:nvPr/>
        </p:nvSpPr>
        <p:spPr>
          <a:xfrm>
            <a:off x="1213252" y="4378064"/>
            <a:ext cx="3103315"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Input collection</a:t>
            </a:r>
          </a:p>
        </p:txBody>
      </p:sp>
      <p:grpSp>
        <p:nvGrpSpPr>
          <p:cNvPr id="11" name="Group 11"/>
          <p:cNvGrpSpPr/>
          <p:nvPr/>
        </p:nvGrpSpPr>
        <p:grpSpPr>
          <a:xfrm>
            <a:off x="1695427" y="1028700"/>
            <a:ext cx="209921" cy="1002547"/>
            <a:chOff x="0" y="0"/>
            <a:chExt cx="55288" cy="264045"/>
          </a:xfrm>
        </p:grpSpPr>
        <p:sp>
          <p:nvSpPr>
            <p:cNvPr id="12" name="Freeform 12"/>
            <p:cNvSpPr/>
            <p:nvPr/>
          </p:nvSpPr>
          <p:spPr>
            <a:xfrm>
              <a:off x="0" y="0"/>
              <a:ext cx="55288" cy="264045"/>
            </a:xfrm>
            <a:custGeom>
              <a:avLst/>
              <a:gdLst/>
              <a:ahLst/>
              <a:cxnLst/>
              <a:rect l="l" t="t" r="r" b="b"/>
              <a:pathLst>
                <a:path w="55288" h="264045">
                  <a:moveTo>
                    <a:pt x="0" y="0"/>
                  </a:moveTo>
                  <a:lnTo>
                    <a:pt x="55288" y="0"/>
                  </a:lnTo>
                  <a:lnTo>
                    <a:pt x="55288" y="264045"/>
                  </a:lnTo>
                  <a:lnTo>
                    <a:pt x="0" y="264045"/>
                  </a:lnTo>
                  <a:close/>
                </a:path>
              </a:pathLst>
            </a:custGeom>
            <a:solidFill>
              <a:srgbClr val="022B3A"/>
            </a:solidFill>
          </p:spPr>
          <p:txBody>
            <a:bodyPr/>
            <a:lstStyle/>
            <a:p>
              <a:endParaRPr/>
            </a:p>
          </p:txBody>
        </p:sp>
        <p:sp>
          <p:nvSpPr>
            <p:cNvPr id="13" name="TextBox 13"/>
            <p:cNvSpPr txBox="1"/>
            <p:nvPr/>
          </p:nvSpPr>
          <p:spPr>
            <a:xfrm>
              <a:off x="0" y="28575"/>
              <a:ext cx="55288" cy="235470"/>
            </a:xfrm>
            <a:prstGeom prst="rect">
              <a:avLst/>
            </a:prstGeom>
          </p:spPr>
          <p:txBody>
            <a:bodyPr lIns="50800" tIns="50800" rIns="50800" bIns="50800" rtlCol="0" anchor="ctr"/>
            <a:lstStyle/>
            <a:p>
              <a:pPr algn="ctr">
                <a:lnSpc>
                  <a:spcPts val="2499"/>
                </a:lnSpc>
              </a:pPr>
              <a:endParaRPr/>
            </a:p>
          </p:txBody>
        </p:sp>
      </p:grpSp>
      <p:grpSp>
        <p:nvGrpSpPr>
          <p:cNvPr id="14" name="Group 14"/>
          <p:cNvGrpSpPr/>
          <p:nvPr/>
        </p:nvGrpSpPr>
        <p:grpSpPr>
          <a:xfrm>
            <a:off x="5350290" y="3652622"/>
            <a:ext cx="3292478" cy="2992049"/>
            <a:chOff x="0" y="0"/>
            <a:chExt cx="867155" cy="788029"/>
          </a:xfrm>
        </p:grpSpPr>
        <p:sp>
          <p:nvSpPr>
            <p:cNvPr id="15" name="Freeform 15"/>
            <p:cNvSpPr/>
            <p:nvPr/>
          </p:nvSpPr>
          <p:spPr>
            <a:xfrm>
              <a:off x="0" y="0"/>
              <a:ext cx="867155" cy="788029"/>
            </a:xfrm>
            <a:custGeom>
              <a:avLst/>
              <a:gdLst/>
              <a:ahLst/>
              <a:cxnLst/>
              <a:rect l="l" t="t" r="r" b="b"/>
              <a:pathLst>
                <a:path w="867155" h="788029">
                  <a:moveTo>
                    <a:pt x="0" y="0"/>
                  </a:moveTo>
                  <a:lnTo>
                    <a:pt x="867155" y="0"/>
                  </a:lnTo>
                  <a:lnTo>
                    <a:pt x="867155" y="788029"/>
                  </a:lnTo>
                  <a:lnTo>
                    <a:pt x="0" y="788029"/>
                  </a:lnTo>
                  <a:close/>
                </a:path>
              </a:pathLst>
            </a:custGeom>
            <a:solidFill>
              <a:srgbClr val="C2DCFF"/>
            </a:solidFill>
          </p:spPr>
          <p:txBody>
            <a:bodyPr/>
            <a:lstStyle/>
            <a:p>
              <a:endParaRPr/>
            </a:p>
          </p:txBody>
        </p:sp>
        <p:sp>
          <p:nvSpPr>
            <p:cNvPr id="16" name="TextBox 16"/>
            <p:cNvSpPr txBox="1"/>
            <p:nvPr/>
          </p:nvSpPr>
          <p:spPr>
            <a:xfrm>
              <a:off x="0" y="28575"/>
              <a:ext cx="867155" cy="759454"/>
            </a:xfrm>
            <a:prstGeom prst="rect">
              <a:avLst/>
            </a:prstGeom>
          </p:spPr>
          <p:txBody>
            <a:bodyPr lIns="50800" tIns="50800" rIns="50800" bIns="50800" rtlCol="0" anchor="ctr"/>
            <a:lstStyle/>
            <a:p>
              <a:pPr algn="ctr">
                <a:lnSpc>
                  <a:spcPts val="2499"/>
                </a:lnSpc>
              </a:pPr>
              <a:endParaRPr/>
            </a:p>
          </p:txBody>
        </p:sp>
      </p:grpSp>
      <p:sp>
        <p:nvSpPr>
          <p:cNvPr id="17" name="TextBox 17"/>
          <p:cNvSpPr txBox="1"/>
          <p:nvPr/>
        </p:nvSpPr>
        <p:spPr>
          <a:xfrm>
            <a:off x="5654148" y="5094615"/>
            <a:ext cx="2684761" cy="1073150"/>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22B3A"/>
                </a:solidFill>
                <a:latin typeface="Poppins"/>
                <a:ea typeface="Poppins"/>
                <a:cs typeface="Poppins"/>
                <a:sym typeface="Poppins"/>
              </a:rPr>
              <a:t>Image feature extraction + sensitivity classifie</a:t>
            </a:r>
          </a:p>
        </p:txBody>
      </p:sp>
      <p:sp>
        <p:nvSpPr>
          <p:cNvPr id="18" name="TextBox 18"/>
          <p:cNvSpPr txBox="1"/>
          <p:nvPr/>
        </p:nvSpPr>
        <p:spPr>
          <a:xfrm>
            <a:off x="5444872" y="3882764"/>
            <a:ext cx="3103315" cy="10763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22B3A"/>
                </a:solidFill>
                <a:latin typeface="Poppins Bold"/>
                <a:ea typeface="Poppins Bold"/>
                <a:cs typeface="Poppins Bold"/>
                <a:sym typeface="Poppins Bold"/>
              </a:rPr>
              <a:t>ResNet-50 annotator</a:t>
            </a:r>
          </a:p>
        </p:txBody>
      </p:sp>
      <p:grpSp>
        <p:nvGrpSpPr>
          <p:cNvPr id="19" name="Group 19"/>
          <p:cNvGrpSpPr/>
          <p:nvPr/>
        </p:nvGrpSpPr>
        <p:grpSpPr>
          <a:xfrm>
            <a:off x="9576218" y="3783759"/>
            <a:ext cx="3292478" cy="2838463"/>
            <a:chOff x="0" y="0"/>
            <a:chExt cx="867155" cy="747579"/>
          </a:xfrm>
        </p:grpSpPr>
        <p:sp>
          <p:nvSpPr>
            <p:cNvPr id="20" name="Freeform 20"/>
            <p:cNvSpPr/>
            <p:nvPr/>
          </p:nvSpPr>
          <p:spPr>
            <a:xfrm>
              <a:off x="0" y="0"/>
              <a:ext cx="867155" cy="747579"/>
            </a:xfrm>
            <a:custGeom>
              <a:avLst/>
              <a:gdLst/>
              <a:ahLst/>
              <a:cxnLst/>
              <a:rect l="l" t="t" r="r" b="b"/>
              <a:pathLst>
                <a:path w="867155" h="747579">
                  <a:moveTo>
                    <a:pt x="0" y="0"/>
                  </a:moveTo>
                  <a:lnTo>
                    <a:pt x="867155" y="0"/>
                  </a:lnTo>
                  <a:lnTo>
                    <a:pt x="867155" y="747579"/>
                  </a:lnTo>
                  <a:lnTo>
                    <a:pt x="0" y="747579"/>
                  </a:lnTo>
                  <a:close/>
                </a:path>
              </a:pathLst>
            </a:custGeom>
            <a:solidFill>
              <a:srgbClr val="C2DCFF"/>
            </a:solidFill>
          </p:spPr>
          <p:txBody>
            <a:bodyPr/>
            <a:lstStyle/>
            <a:p>
              <a:endParaRPr/>
            </a:p>
          </p:txBody>
        </p:sp>
        <p:sp>
          <p:nvSpPr>
            <p:cNvPr id="21" name="TextBox 21"/>
            <p:cNvSpPr txBox="1"/>
            <p:nvPr/>
          </p:nvSpPr>
          <p:spPr>
            <a:xfrm>
              <a:off x="0" y="28575"/>
              <a:ext cx="867155" cy="719004"/>
            </a:xfrm>
            <a:prstGeom prst="rect">
              <a:avLst/>
            </a:prstGeom>
          </p:spPr>
          <p:txBody>
            <a:bodyPr lIns="50800" tIns="50800" rIns="50800" bIns="50800" rtlCol="0" anchor="ctr"/>
            <a:lstStyle/>
            <a:p>
              <a:pPr algn="ctr">
                <a:lnSpc>
                  <a:spcPts val="2499"/>
                </a:lnSpc>
              </a:pPr>
              <a:endParaRPr/>
            </a:p>
          </p:txBody>
        </p:sp>
      </p:grpSp>
      <p:sp>
        <p:nvSpPr>
          <p:cNvPr id="22" name="TextBox 22"/>
          <p:cNvSpPr txBox="1"/>
          <p:nvPr/>
        </p:nvSpPr>
        <p:spPr>
          <a:xfrm>
            <a:off x="9880076" y="5072166"/>
            <a:ext cx="2684761" cy="1073150"/>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22B3A"/>
                </a:solidFill>
                <a:latin typeface="Poppins"/>
                <a:ea typeface="Poppins"/>
                <a:cs typeface="Poppins"/>
                <a:sym typeface="Poppins"/>
              </a:rPr>
              <a:t>Predicted level low / medium / high Confidence score</a:t>
            </a:r>
          </a:p>
        </p:txBody>
      </p:sp>
      <p:sp>
        <p:nvSpPr>
          <p:cNvPr id="23" name="TextBox 23"/>
          <p:cNvSpPr txBox="1"/>
          <p:nvPr/>
        </p:nvSpPr>
        <p:spPr>
          <a:xfrm>
            <a:off x="9670799" y="3860315"/>
            <a:ext cx="3103315" cy="10763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22B3A"/>
                </a:solidFill>
                <a:latin typeface="Poppins Bold"/>
                <a:ea typeface="Poppins Bold"/>
                <a:cs typeface="Poppins Bold"/>
                <a:sym typeface="Poppins Bold"/>
              </a:rPr>
              <a:t>Structured output</a:t>
            </a:r>
          </a:p>
        </p:txBody>
      </p:sp>
      <p:grpSp>
        <p:nvGrpSpPr>
          <p:cNvPr id="24" name="Group 24"/>
          <p:cNvGrpSpPr/>
          <p:nvPr/>
        </p:nvGrpSpPr>
        <p:grpSpPr>
          <a:xfrm>
            <a:off x="13802145" y="4337448"/>
            <a:ext cx="3292478" cy="2284774"/>
            <a:chOff x="0" y="0"/>
            <a:chExt cx="867155" cy="601751"/>
          </a:xfrm>
        </p:grpSpPr>
        <p:sp>
          <p:nvSpPr>
            <p:cNvPr id="25" name="Freeform 25"/>
            <p:cNvSpPr/>
            <p:nvPr/>
          </p:nvSpPr>
          <p:spPr>
            <a:xfrm>
              <a:off x="0" y="0"/>
              <a:ext cx="867155" cy="601751"/>
            </a:xfrm>
            <a:custGeom>
              <a:avLst/>
              <a:gdLst/>
              <a:ahLst/>
              <a:cxnLst/>
              <a:rect l="l" t="t" r="r" b="b"/>
              <a:pathLst>
                <a:path w="867155" h="601751">
                  <a:moveTo>
                    <a:pt x="0" y="0"/>
                  </a:moveTo>
                  <a:lnTo>
                    <a:pt x="867155" y="0"/>
                  </a:lnTo>
                  <a:lnTo>
                    <a:pt x="867155" y="601751"/>
                  </a:lnTo>
                  <a:lnTo>
                    <a:pt x="0" y="601751"/>
                  </a:lnTo>
                  <a:close/>
                </a:path>
              </a:pathLst>
            </a:custGeom>
            <a:solidFill>
              <a:srgbClr val="C2DCFF"/>
            </a:solidFill>
          </p:spPr>
          <p:txBody>
            <a:bodyPr/>
            <a:lstStyle/>
            <a:p>
              <a:endParaRPr/>
            </a:p>
          </p:txBody>
        </p:sp>
        <p:sp>
          <p:nvSpPr>
            <p:cNvPr id="26" name="TextBox 26"/>
            <p:cNvSpPr txBox="1"/>
            <p:nvPr/>
          </p:nvSpPr>
          <p:spPr>
            <a:xfrm>
              <a:off x="0" y="28575"/>
              <a:ext cx="867155" cy="573176"/>
            </a:xfrm>
            <a:prstGeom prst="rect">
              <a:avLst/>
            </a:prstGeom>
          </p:spPr>
          <p:txBody>
            <a:bodyPr lIns="50800" tIns="50800" rIns="50800" bIns="50800" rtlCol="0" anchor="ctr"/>
            <a:lstStyle/>
            <a:p>
              <a:pPr algn="ctr">
                <a:lnSpc>
                  <a:spcPts val="2499"/>
                </a:lnSpc>
              </a:pPr>
              <a:endParaRPr/>
            </a:p>
          </p:txBody>
        </p:sp>
      </p:grpSp>
      <p:sp>
        <p:nvSpPr>
          <p:cNvPr id="27" name="TextBox 27"/>
          <p:cNvSpPr txBox="1"/>
          <p:nvPr/>
        </p:nvSpPr>
        <p:spPr>
          <a:xfrm>
            <a:off x="14106004" y="5072166"/>
            <a:ext cx="2684761" cy="1073150"/>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22B3A"/>
                </a:solidFill>
                <a:latin typeface="Poppins"/>
                <a:ea typeface="Poppins"/>
                <a:cs typeface="Poppins"/>
                <a:sym typeface="Poppins"/>
              </a:rPr>
              <a:t>Review queue for uncertain or ambiguous cases</a:t>
            </a:r>
          </a:p>
        </p:txBody>
      </p:sp>
      <p:sp>
        <p:nvSpPr>
          <p:cNvPr id="28" name="TextBox 28"/>
          <p:cNvSpPr txBox="1"/>
          <p:nvPr/>
        </p:nvSpPr>
        <p:spPr>
          <a:xfrm>
            <a:off x="13891158" y="4355615"/>
            <a:ext cx="3103315" cy="5429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22B3A"/>
                </a:solidFill>
                <a:latin typeface="Poppins Bold"/>
                <a:ea typeface="Poppins Bold"/>
                <a:cs typeface="Poppins Bold"/>
                <a:sym typeface="Poppins Bold"/>
              </a:rPr>
              <a:t>Quality</a:t>
            </a:r>
          </a:p>
        </p:txBody>
      </p:sp>
      <p:sp>
        <p:nvSpPr>
          <p:cNvPr id="29" name="AutoShape 29"/>
          <p:cNvSpPr/>
          <p:nvPr/>
        </p:nvSpPr>
        <p:spPr>
          <a:xfrm>
            <a:off x="4416717" y="5498885"/>
            <a:ext cx="882499" cy="3399"/>
          </a:xfrm>
          <a:prstGeom prst="line">
            <a:avLst/>
          </a:prstGeom>
          <a:ln w="38100" cap="flat">
            <a:solidFill>
              <a:srgbClr val="022B3A"/>
            </a:solidFill>
            <a:prstDash val="solid"/>
            <a:headEnd type="none" w="sm" len="sm"/>
            <a:tailEnd type="triangle" w="lg" len="med"/>
          </a:ln>
        </p:spPr>
        <p:txBody>
          <a:bodyPr/>
          <a:lstStyle/>
          <a:p>
            <a:endParaRPr/>
          </a:p>
        </p:txBody>
      </p:sp>
      <p:sp>
        <p:nvSpPr>
          <p:cNvPr id="30" name="AutoShape 30"/>
          <p:cNvSpPr/>
          <p:nvPr/>
        </p:nvSpPr>
        <p:spPr>
          <a:xfrm>
            <a:off x="8668243" y="5542083"/>
            <a:ext cx="882499" cy="3399"/>
          </a:xfrm>
          <a:prstGeom prst="line">
            <a:avLst/>
          </a:prstGeom>
          <a:ln w="38100" cap="flat">
            <a:solidFill>
              <a:srgbClr val="022B3A"/>
            </a:solidFill>
            <a:prstDash val="solid"/>
            <a:headEnd type="none" w="sm" len="sm"/>
            <a:tailEnd type="triangle" w="lg" len="med"/>
          </a:ln>
        </p:spPr>
        <p:txBody>
          <a:bodyPr/>
          <a:lstStyle/>
          <a:p>
            <a:endParaRPr/>
          </a:p>
        </p:txBody>
      </p:sp>
      <p:sp>
        <p:nvSpPr>
          <p:cNvPr id="31" name="AutoShape 31"/>
          <p:cNvSpPr/>
          <p:nvPr/>
        </p:nvSpPr>
        <p:spPr>
          <a:xfrm>
            <a:off x="12894171" y="5543783"/>
            <a:ext cx="882499" cy="3399"/>
          </a:xfrm>
          <a:prstGeom prst="line">
            <a:avLst/>
          </a:prstGeom>
          <a:ln w="38100" cap="flat">
            <a:solidFill>
              <a:srgbClr val="022B3A"/>
            </a:solidFill>
            <a:prstDash val="solid"/>
            <a:headEnd type="none" w="sm" len="sm"/>
            <a:tailEnd type="triangle" w="lg" len="med"/>
          </a:ln>
        </p:spPr>
        <p:txBody>
          <a:bodyPr/>
          <a:lstStyle/>
          <a:p>
            <a:endParaRPr/>
          </a:p>
        </p:txBody>
      </p:sp>
      <p:sp>
        <p:nvSpPr>
          <p:cNvPr id="32" name="TextBox 32"/>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37605" y="889212"/>
            <a:ext cx="9134795" cy="1002547"/>
            <a:chOff x="0" y="0"/>
            <a:chExt cx="2405872" cy="264045"/>
          </a:xfrm>
        </p:grpSpPr>
        <p:sp>
          <p:nvSpPr>
            <p:cNvPr id="3" name="Freeform 3"/>
            <p:cNvSpPr/>
            <p:nvPr/>
          </p:nvSpPr>
          <p:spPr>
            <a:xfrm>
              <a:off x="0" y="0"/>
              <a:ext cx="2405872" cy="264045"/>
            </a:xfrm>
            <a:custGeom>
              <a:avLst/>
              <a:gdLst/>
              <a:ahLst/>
              <a:cxnLst/>
              <a:rect l="l" t="t" r="r" b="b"/>
              <a:pathLst>
                <a:path w="2405872" h="264045">
                  <a:moveTo>
                    <a:pt x="0" y="0"/>
                  </a:moveTo>
                  <a:lnTo>
                    <a:pt x="2405872" y="0"/>
                  </a:lnTo>
                  <a:lnTo>
                    <a:pt x="2405872" y="264045"/>
                  </a:lnTo>
                  <a:lnTo>
                    <a:pt x="0" y="264045"/>
                  </a:lnTo>
                  <a:close/>
                </a:path>
              </a:pathLst>
            </a:custGeom>
            <a:solidFill>
              <a:srgbClr val="C2DCFF"/>
            </a:solidFill>
          </p:spPr>
        </p:sp>
        <p:sp>
          <p:nvSpPr>
            <p:cNvPr id="4" name="TextBox 4"/>
            <p:cNvSpPr txBox="1"/>
            <p:nvPr/>
          </p:nvSpPr>
          <p:spPr>
            <a:xfrm>
              <a:off x="0" y="28575"/>
              <a:ext cx="2405872" cy="235470"/>
            </a:xfrm>
            <a:prstGeom prst="rect">
              <a:avLst/>
            </a:prstGeom>
          </p:spPr>
          <p:txBody>
            <a:bodyPr lIns="50800" tIns="50800" rIns="50800" bIns="50800" rtlCol="0" anchor="ctr"/>
            <a:lstStyle/>
            <a:p>
              <a:pPr algn="ctr">
                <a:lnSpc>
                  <a:spcPts val="2499"/>
                </a:lnSpc>
              </a:pPr>
              <a:endParaRPr/>
            </a:p>
          </p:txBody>
        </p:sp>
      </p:grpSp>
      <p:grpSp>
        <p:nvGrpSpPr>
          <p:cNvPr id="5" name="Group 5"/>
          <p:cNvGrpSpPr/>
          <p:nvPr/>
        </p:nvGrpSpPr>
        <p:grpSpPr>
          <a:xfrm>
            <a:off x="587766" y="889212"/>
            <a:ext cx="209921" cy="1002547"/>
            <a:chOff x="0" y="0"/>
            <a:chExt cx="55288" cy="264045"/>
          </a:xfrm>
        </p:grpSpPr>
        <p:sp>
          <p:nvSpPr>
            <p:cNvPr id="6" name="Freeform 6"/>
            <p:cNvSpPr/>
            <p:nvPr/>
          </p:nvSpPr>
          <p:spPr>
            <a:xfrm>
              <a:off x="0" y="0"/>
              <a:ext cx="55288" cy="264045"/>
            </a:xfrm>
            <a:custGeom>
              <a:avLst/>
              <a:gdLst/>
              <a:ahLst/>
              <a:cxnLst/>
              <a:rect l="l" t="t" r="r" b="b"/>
              <a:pathLst>
                <a:path w="55288" h="264045">
                  <a:moveTo>
                    <a:pt x="0" y="0"/>
                  </a:moveTo>
                  <a:lnTo>
                    <a:pt x="55288" y="0"/>
                  </a:lnTo>
                  <a:lnTo>
                    <a:pt x="55288" y="264045"/>
                  </a:lnTo>
                  <a:lnTo>
                    <a:pt x="0" y="264045"/>
                  </a:lnTo>
                  <a:close/>
                </a:path>
              </a:pathLst>
            </a:custGeom>
            <a:solidFill>
              <a:srgbClr val="022B3A"/>
            </a:solidFill>
          </p:spPr>
        </p:sp>
        <p:sp>
          <p:nvSpPr>
            <p:cNvPr id="7" name="TextBox 7"/>
            <p:cNvSpPr txBox="1"/>
            <p:nvPr/>
          </p:nvSpPr>
          <p:spPr>
            <a:xfrm>
              <a:off x="0" y="28575"/>
              <a:ext cx="55288" cy="235470"/>
            </a:xfrm>
            <a:prstGeom prst="rect">
              <a:avLst/>
            </a:prstGeom>
          </p:spPr>
          <p:txBody>
            <a:bodyPr lIns="50800" tIns="50800" rIns="50800" bIns="50800" rtlCol="0" anchor="ctr"/>
            <a:lstStyle/>
            <a:p>
              <a:pPr algn="ctr">
                <a:lnSpc>
                  <a:spcPts val="2499"/>
                </a:lnSpc>
              </a:pPr>
              <a:endParaRPr/>
            </a:p>
          </p:txBody>
        </p:sp>
      </p:grpSp>
      <p:sp>
        <p:nvSpPr>
          <p:cNvPr id="8" name="Freeform 8"/>
          <p:cNvSpPr/>
          <p:nvPr/>
        </p:nvSpPr>
        <p:spPr>
          <a:xfrm>
            <a:off x="587766" y="2377535"/>
            <a:ext cx="5286499" cy="4302884"/>
          </a:xfrm>
          <a:custGeom>
            <a:avLst/>
            <a:gdLst/>
            <a:ahLst/>
            <a:cxnLst/>
            <a:rect l="l" t="t" r="r" b="b"/>
            <a:pathLst>
              <a:path w="5286499" h="4302884">
                <a:moveTo>
                  <a:pt x="0" y="0"/>
                </a:moveTo>
                <a:lnTo>
                  <a:pt x="5286499" y="0"/>
                </a:lnTo>
                <a:lnTo>
                  <a:pt x="5286499" y="4302883"/>
                </a:lnTo>
                <a:lnTo>
                  <a:pt x="0" y="4302883"/>
                </a:lnTo>
                <a:lnTo>
                  <a:pt x="0" y="0"/>
                </a:lnTo>
                <a:close/>
              </a:path>
            </a:pathLst>
          </a:custGeom>
          <a:blipFill>
            <a:blip r:embed="rId2"/>
            <a:stretch>
              <a:fillRect/>
            </a:stretch>
          </a:blipFill>
        </p:spPr>
      </p:sp>
      <p:grpSp>
        <p:nvGrpSpPr>
          <p:cNvPr id="9" name="Group 9"/>
          <p:cNvGrpSpPr/>
          <p:nvPr/>
        </p:nvGrpSpPr>
        <p:grpSpPr>
          <a:xfrm>
            <a:off x="587766" y="7162989"/>
            <a:ext cx="5286499" cy="1143109"/>
            <a:chOff x="0" y="0"/>
            <a:chExt cx="1392329" cy="301066"/>
          </a:xfrm>
        </p:grpSpPr>
        <p:sp>
          <p:nvSpPr>
            <p:cNvPr id="10" name="Freeform 10"/>
            <p:cNvSpPr/>
            <p:nvPr/>
          </p:nvSpPr>
          <p:spPr>
            <a:xfrm>
              <a:off x="0" y="0"/>
              <a:ext cx="1392329" cy="301066"/>
            </a:xfrm>
            <a:custGeom>
              <a:avLst/>
              <a:gdLst/>
              <a:ahLst/>
              <a:cxnLst/>
              <a:rect l="l" t="t" r="r" b="b"/>
              <a:pathLst>
                <a:path w="1392329" h="301066">
                  <a:moveTo>
                    <a:pt x="0" y="0"/>
                  </a:moveTo>
                  <a:lnTo>
                    <a:pt x="1392329" y="0"/>
                  </a:lnTo>
                  <a:lnTo>
                    <a:pt x="1392329" y="301066"/>
                  </a:lnTo>
                  <a:lnTo>
                    <a:pt x="0" y="301066"/>
                  </a:lnTo>
                  <a:close/>
                </a:path>
              </a:pathLst>
            </a:custGeom>
            <a:solidFill>
              <a:srgbClr val="C2DCFF"/>
            </a:solidFill>
          </p:spPr>
        </p:sp>
        <p:sp>
          <p:nvSpPr>
            <p:cNvPr id="11" name="TextBox 11"/>
            <p:cNvSpPr txBox="1"/>
            <p:nvPr/>
          </p:nvSpPr>
          <p:spPr>
            <a:xfrm>
              <a:off x="0" y="28575"/>
              <a:ext cx="1392329" cy="272491"/>
            </a:xfrm>
            <a:prstGeom prst="rect">
              <a:avLst/>
            </a:prstGeom>
          </p:spPr>
          <p:txBody>
            <a:bodyPr lIns="50800" tIns="50800" rIns="50800" bIns="50800" rtlCol="0" anchor="ctr"/>
            <a:lstStyle/>
            <a:p>
              <a:pPr algn="ctr">
                <a:lnSpc>
                  <a:spcPts val="2499"/>
                </a:lnSpc>
              </a:pPr>
              <a:endParaRPr/>
            </a:p>
          </p:txBody>
        </p:sp>
      </p:grpSp>
      <p:sp>
        <p:nvSpPr>
          <p:cNvPr id="12" name="Freeform 12"/>
          <p:cNvSpPr/>
          <p:nvPr/>
        </p:nvSpPr>
        <p:spPr>
          <a:xfrm>
            <a:off x="12119838" y="2377535"/>
            <a:ext cx="5547287" cy="3432384"/>
          </a:xfrm>
          <a:custGeom>
            <a:avLst/>
            <a:gdLst/>
            <a:ahLst/>
            <a:cxnLst/>
            <a:rect l="l" t="t" r="r" b="b"/>
            <a:pathLst>
              <a:path w="5547287" h="3432384">
                <a:moveTo>
                  <a:pt x="0" y="0"/>
                </a:moveTo>
                <a:lnTo>
                  <a:pt x="5547287" y="0"/>
                </a:lnTo>
                <a:lnTo>
                  <a:pt x="5547287" y="3432383"/>
                </a:lnTo>
                <a:lnTo>
                  <a:pt x="0" y="3432383"/>
                </a:lnTo>
                <a:lnTo>
                  <a:pt x="0" y="0"/>
                </a:lnTo>
                <a:close/>
              </a:path>
            </a:pathLst>
          </a:custGeom>
          <a:blipFill>
            <a:blip r:embed="rId3"/>
            <a:stretch>
              <a:fillRect/>
            </a:stretch>
          </a:blipFill>
        </p:spPr>
      </p:sp>
      <p:grpSp>
        <p:nvGrpSpPr>
          <p:cNvPr id="13" name="Group 13"/>
          <p:cNvGrpSpPr/>
          <p:nvPr/>
        </p:nvGrpSpPr>
        <p:grpSpPr>
          <a:xfrm>
            <a:off x="6370357" y="6359957"/>
            <a:ext cx="11296768" cy="1107810"/>
            <a:chOff x="0" y="0"/>
            <a:chExt cx="2975280" cy="291769"/>
          </a:xfrm>
        </p:grpSpPr>
        <p:sp>
          <p:nvSpPr>
            <p:cNvPr id="14" name="Freeform 14"/>
            <p:cNvSpPr/>
            <p:nvPr/>
          </p:nvSpPr>
          <p:spPr>
            <a:xfrm>
              <a:off x="0" y="0"/>
              <a:ext cx="2975280" cy="291769"/>
            </a:xfrm>
            <a:custGeom>
              <a:avLst/>
              <a:gdLst/>
              <a:ahLst/>
              <a:cxnLst/>
              <a:rect l="l" t="t" r="r" b="b"/>
              <a:pathLst>
                <a:path w="2975280" h="291769">
                  <a:moveTo>
                    <a:pt x="0" y="0"/>
                  </a:moveTo>
                  <a:lnTo>
                    <a:pt x="2975280" y="0"/>
                  </a:lnTo>
                  <a:lnTo>
                    <a:pt x="2975280" y="291769"/>
                  </a:lnTo>
                  <a:lnTo>
                    <a:pt x="0" y="291769"/>
                  </a:lnTo>
                  <a:close/>
                </a:path>
              </a:pathLst>
            </a:custGeom>
            <a:solidFill>
              <a:srgbClr val="C2DCFF"/>
            </a:solidFill>
          </p:spPr>
        </p:sp>
        <p:sp>
          <p:nvSpPr>
            <p:cNvPr id="15" name="TextBox 15"/>
            <p:cNvSpPr txBox="1"/>
            <p:nvPr/>
          </p:nvSpPr>
          <p:spPr>
            <a:xfrm>
              <a:off x="0" y="28575"/>
              <a:ext cx="2975280" cy="263194"/>
            </a:xfrm>
            <a:prstGeom prst="rect">
              <a:avLst/>
            </a:prstGeom>
          </p:spPr>
          <p:txBody>
            <a:bodyPr lIns="50800" tIns="50800" rIns="50800" bIns="50800" rtlCol="0" anchor="ctr"/>
            <a:lstStyle/>
            <a:p>
              <a:pPr algn="ctr">
                <a:lnSpc>
                  <a:spcPts val="2499"/>
                </a:lnSpc>
              </a:pPr>
              <a:endParaRPr/>
            </a:p>
          </p:txBody>
        </p:sp>
      </p:grpSp>
      <p:sp>
        <p:nvSpPr>
          <p:cNvPr id="16" name="Freeform 16"/>
          <p:cNvSpPr/>
          <p:nvPr/>
        </p:nvSpPr>
        <p:spPr>
          <a:xfrm>
            <a:off x="6370357" y="2377535"/>
            <a:ext cx="5547287" cy="3432384"/>
          </a:xfrm>
          <a:custGeom>
            <a:avLst/>
            <a:gdLst/>
            <a:ahLst/>
            <a:cxnLst/>
            <a:rect l="l" t="t" r="r" b="b"/>
            <a:pathLst>
              <a:path w="5547287" h="3432384">
                <a:moveTo>
                  <a:pt x="0" y="0"/>
                </a:moveTo>
                <a:lnTo>
                  <a:pt x="5547286" y="0"/>
                </a:lnTo>
                <a:lnTo>
                  <a:pt x="5547286" y="3432383"/>
                </a:lnTo>
                <a:lnTo>
                  <a:pt x="0" y="3432383"/>
                </a:lnTo>
                <a:lnTo>
                  <a:pt x="0" y="0"/>
                </a:lnTo>
                <a:close/>
              </a:path>
            </a:pathLst>
          </a:custGeom>
          <a:blipFill>
            <a:blip r:embed="rId4"/>
            <a:stretch>
              <a:fillRect/>
            </a:stretch>
          </a:blipFill>
        </p:spPr>
      </p:sp>
      <p:sp>
        <p:nvSpPr>
          <p:cNvPr id="17" name="TextBox 17"/>
          <p:cNvSpPr txBox="1"/>
          <p:nvPr/>
        </p:nvSpPr>
        <p:spPr>
          <a:xfrm>
            <a:off x="937605" y="980911"/>
            <a:ext cx="9134795" cy="866775"/>
          </a:xfrm>
          <a:prstGeom prst="rect">
            <a:avLst/>
          </a:prstGeom>
        </p:spPr>
        <p:txBody>
          <a:bodyPr lIns="0" tIns="0" rIns="0" bIns="0" rtlCol="0" anchor="t">
            <a:spAutoFit/>
          </a:bodyPr>
          <a:lstStyle/>
          <a:p>
            <a:pPr algn="l">
              <a:lnSpc>
                <a:spcPts val="6000"/>
              </a:lnSpc>
            </a:pPr>
            <a:r>
              <a:rPr lang="en-US" sz="6000" b="1">
                <a:solidFill>
                  <a:srgbClr val="022B3A"/>
                </a:solidFill>
                <a:latin typeface="Poppins Bold"/>
                <a:ea typeface="Poppins Bold"/>
                <a:cs typeface="Poppins Bold"/>
                <a:sym typeface="Poppins Bold"/>
              </a:rPr>
              <a:t>Performance Analysis</a:t>
            </a:r>
          </a:p>
        </p:txBody>
      </p:sp>
      <p:sp>
        <p:nvSpPr>
          <p:cNvPr id="18" name="TextBox 18"/>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13</a:t>
            </a:r>
          </a:p>
        </p:txBody>
      </p:sp>
      <p:sp>
        <p:nvSpPr>
          <p:cNvPr id="19" name="TextBox 19"/>
          <p:cNvSpPr txBox="1"/>
          <p:nvPr/>
        </p:nvSpPr>
        <p:spPr>
          <a:xfrm>
            <a:off x="801732" y="7238347"/>
            <a:ext cx="4858566" cy="907440"/>
          </a:xfrm>
          <a:prstGeom prst="rect">
            <a:avLst/>
          </a:prstGeom>
        </p:spPr>
        <p:txBody>
          <a:bodyPr lIns="0" tIns="0" rIns="0" bIns="0" rtlCol="0" anchor="t">
            <a:spAutoFit/>
          </a:bodyPr>
          <a:lstStyle/>
          <a:p>
            <a:pPr algn="ctr">
              <a:lnSpc>
                <a:spcPts val="3533"/>
              </a:lnSpc>
            </a:pPr>
            <a:r>
              <a:rPr lang="en-US" sz="2524">
                <a:solidFill>
                  <a:srgbClr val="022B3A"/>
                </a:solidFill>
                <a:latin typeface="Poppins"/>
                <a:ea typeface="Poppins"/>
                <a:cs typeface="Poppins"/>
                <a:sym typeface="Poppins"/>
              </a:rPr>
              <a:t>Most mistake happen between adjacent classes.</a:t>
            </a:r>
          </a:p>
        </p:txBody>
      </p:sp>
      <p:sp>
        <p:nvSpPr>
          <p:cNvPr id="20" name="TextBox 20"/>
          <p:cNvSpPr txBox="1"/>
          <p:nvPr/>
        </p:nvSpPr>
        <p:spPr>
          <a:xfrm>
            <a:off x="7362332" y="6412326"/>
            <a:ext cx="9515013" cy="902220"/>
          </a:xfrm>
          <a:prstGeom prst="rect">
            <a:avLst/>
          </a:prstGeom>
        </p:spPr>
        <p:txBody>
          <a:bodyPr lIns="0" tIns="0" rIns="0" bIns="0" rtlCol="0" anchor="t">
            <a:spAutoFit/>
          </a:bodyPr>
          <a:lstStyle/>
          <a:p>
            <a:pPr algn="ctr">
              <a:lnSpc>
                <a:spcPts val="3511"/>
              </a:lnSpc>
            </a:pPr>
            <a:r>
              <a:rPr lang="en-US" sz="2508">
                <a:solidFill>
                  <a:srgbClr val="022B3A"/>
                </a:solidFill>
                <a:latin typeface="Poppins"/>
                <a:ea typeface="Poppins"/>
                <a:cs typeface="Poppins"/>
                <a:sym typeface="Poppins"/>
              </a:rPr>
              <a:t>An increase in recall and a descending loss proves the improvement of the model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78539" y="1028700"/>
            <a:ext cx="9134795" cy="1002547"/>
            <a:chOff x="0" y="0"/>
            <a:chExt cx="2405872" cy="264045"/>
          </a:xfrm>
        </p:grpSpPr>
        <p:sp>
          <p:nvSpPr>
            <p:cNvPr id="3" name="Freeform 3"/>
            <p:cNvSpPr/>
            <p:nvPr/>
          </p:nvSpPr>
          <p:spPr>
            <a:xfrm>
              <a:off x="0" y="0"/>
              <a:ext cx="2405872" cy="264045"/>
            </a:xfrm>
            <a:custGeom>
              <a:avLst/>
              <a:gdLst/>
              <a:ahLst/>
              <a:cxnLst/>
              <a:rect l="l" t="t" r="r" b="b"/>
              <a:pathLst>
                <a:path w="2405872" h="264045">
                  <a:moveTo>
                    <a:pt x="0" y="0"/>
                  </a:moveTo>
                  <a:lnTo>
                    <a:pt x="2405872" y="0"/>
                  </a:lnTo>
                  <a:lnTo>
                    <a:pt x="2405872" y="264045"/>
                  </a:lnTo>
                  <a:lnTo>
                    <a:pt x="0" y="264045"/>
                  </a:lnTo>
                  <a:close/>
                </a:path>
              </a:pathLst>
            </a:custGeom>
            <a:solidFill>
              <a:srgbClr val="C2DCFF"/>
            </a:solidFill>
          </p:spPr>
        </p:sp>
        <p:sp>
          <p:nvSpPr>
            <p:cNvPr id="4" name="TextBox 4"/>
            <p:cNvSpPr txBox="1"/>
            <p:nvPr/>
          </p:nvSpPr>
          <p:spPr>
            <a:xfrm>
              <a:off x="0" y="28575"/>
              <a:ext cx="2405872" cy="235470"/>
            </a:xfrm>
            <a:prstGeom prst="rect">
              <a:avLst/>
            </a:prstGeom>
          </p:spPr>
          <p:txBody>
            <a:bodyPr lIns="50800" tIns="50800" rIns="50800" bIns="50800" rtlCol="0" anchor="ctr"/>
            <a:lstStyle/>
            <a:p>
              <a:pPr algn="ctr">
                <a:lnSpc>
                  <a:spcPts val="2499"/>
                </a:lnSpc>
              </a:pPr>
              <a:endParaRPr/>
            </a:p>
          </p:txBody>
        </p:sp>
      </p:grpSp>
      <p:grpSp>
        <p:nvGrpSpPr>
          <p:cNvPr id="5" name="Group 5"/>
          <p:cNvGrpSpPr/>
          <p:nvPr/>
        </p:nvGrpSpPr>
        <p:grpSpPr>
          <a:xfrm>
            <a:off x="1028700" y="1028700"/>
            <a:ext cx="209921" cy="1002547"/>
            <a:chOff x="0" y="0"/>
            <a:chExt cx="55288" cy="264045"/>
          </a:xfrm>
        </p:grpSpPr>
        <p:sp>
          <p:nvSpPr>
            <p:cNvPr id="6" name="Freeform 6"/>
            <p:cNvSpPr/>
            <p:nvPr/>
          </p:nvSpPr>
          <p:spPr>
            <a:xfrm>
              <a:off x="0" y="0"/>
              <a:ext cx="55288" cy="264045"/>
            </a:xfrm>
            <a:custGeom>
              <a:avLst/>
              <a:gdLst/>
              <a:ahLst/>
              <a:cxnLst/>
              <a:rect l="l" t="t" r="r" b="b"/>
              <a:pathLst>
                <a:path w="55288" h="264045">
                  <a:moveTo>
                    <a:pt x="0" y="0"/>
                  </a:moveTo>
                  <a:lnTo>
                    <a:pt x="55288" y="0"/>
                  </a:lnTo>
                  <a:lnTo>
                    <a:pt x="55288" y="264045"/>
                  </a:lnTo>
                  <a:lnTo>
                    <a:pt x="0" y="264045"/>
                  </a:lnTo>
                  <a:close/>
                </a:path>
              </a:pathLst>
            </a:custGeom>
            <a:solidFill>
              <a:srgbClr val="022B3A"/>
            </a:solidFill>
          </p:spPr>
        </p:sp>
        <p:sp>
          <p:nvSpPr>
            <p:cNvPr id="7" name="TextBox 7"/>
            <p:cNvSpPr txBox="1"/>
            <p:nvPr/>
          </p:nvSpPr>
          <p:spPr>
            <a:xfrm>
              <a:off x="0" y="28575"/>
              <a:ext cx="55288" cy="235470"/>
            </a:xfrm>
            <a:prstGeom prst="rect">
              <a:avLst/>
            </a:prstGeom>
          </p:spPr>
          <p:txBody>
            <a:bodyPr lIns="50800" tIns="50800" rIns="50800" bIns="50800" rtlCol="0" anchor="ctr"/>
            <a:lstStyle/>
            <a:p>
              <a:pPr algn="ctr">
                <a:lnSpc>
                  <a:spcPts val="2499"/>
                </a:lnSpc>
              </a:pPr>
              <a:endParaRPr/>
            </a:p>
          </p:txBody>
        </p:sp>
      </p:grpSp>
      <p:sp>
        <p:nvSpPr>
          <p:cNvPr id="8" name="Freeform 8"/>
          <p:cNvSpPr/>
          <p:nvPr/>
        </p:nvSpPr>
        <p:spPr>
          <a:xfrm>
            <a:off x="878245" y="3504969"/>
            <a:ext cx="5259445" cy="4302884"/>
          </a:xfrm>
          <a:custGeom>
            <a:avLst/>
            <a:gdLst/>
            <a:ahLst/>
            <a:cxnLst/>
            <a:rect l="l" t="t" r="r" b="b"/>
            <a:pathLst>
              <a:path w="5259445" h="4302884">
                <a:moveTo>
                  <a:pt x="0" y="0"/>
                </a:moveTo>
                <a:lnTo>
                  <a:pt x="5259446" y="0"/>
                </a:lnTo>
                <a:lnTo>
                  <a:pt x="5259446" y="4302883"/>
                </a:lnTo>
                <a:lnTo>
                  <a:pt x="0" y="4302883"/>
                </a:lnTo>
                <a:lnTo>
                  <a:pt x="0" y="0"/>
                </a:lnTo>
                <a:close/>
              </a:path>
            </a:pathLst>
          </a:custGeom>
          <a:blipFill>
            <a:blip r:embed="rId2"/>
            <a:stretch>
              <a:fillRect/>
            </a:stretch>
          </a:blipFill>
        </p:spPr>
      </p:sp>
      <p:sp>
        <p:nvSpPr>
          <p:cNvPr id="9" name="TextBox 9"/>
          <p:cNvSpPr txBox="1"/>
          <p:nvPr/>
        </p:nvSpPr>
        <p:spPr>
          <a:xfrm>
            <a:off x="1378539" y="1120399"/>
            <a:ext cx="9134795" cy="866775"/>
          </a:xfrm>
          <a:prstGeom prst="rect">
            <a:avLst/>
          </a:prstGeom>
        </p:spPr>
        <p:txBody>
          <a:bodyPr lIns="0" tIns="0" rIns="0" bIns="0" rtlCol="0" anchor="t">
            <a:spAutoFit/>
          </a:bodyPr>
          <a:lstStyle/>
          <a:p>
            <a:pPr algn="l">
              <a:lnSpc>
                <a:spcPts val="6000"/>
              </a:lnSpc>
            </a:pPr>
            <a:r>
              <a:rPr lang="en-US" sz="6000" b="1">
                <a:solidFill>
                  <a:srgbClr val="022B3A"/>
                </a:solidFill>
                <a:latin typeface="Poppins Bold"/>
                <a:ea typeface="Poppins Bold"/>
                <a:cs typeface="Poppins Bold"/>
                <a:sym typeface="Poppins Bold"/>
              </a:rPr>
              <a:t>Performance Analysis</a:t>
            </a:r>
          </a:p>
        </p:txBody>
      </p:sp>
      <p:sp>
        <p:nvSpPr>
          <p:cNvPr id="10" name="TextBox 10"/>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14</a:t>
            </a:r>
          </a:p>
        </p:txBody>
      </p:sp>
      <p:grpSp>
        <p:nvGrpSpPr>
          <p:cNvPr id="11" name="Group 11"/>
          <p:cNvGrpSpPr/>
          <p:nvPr/>
        </p:nvGrpSpPr>
        <p:grpSpPr>
          <a:xfrm>
            <a:off x="6645848" y="3504969"/>
            <a:ext cx="10750578" cy="4302884"/>
            <a:chOff x="0" y="0"/>
            <a:chExt cx="2831428" cy="1133270"/>
          </a:xfrm>
        </p:grpSpPr>
        <p:sp>
          <p:nvSpPr>
            <p:cNvPr id="12" name="Freeform 12"/>
            <p:cNvSpPr/>
            <p:nvPr/>
          </p:nvSpPr>
          <p:spPr>
            <a:xfrm>
              <a:off x="0" y="0"/>
              <a:ext cx="2831428" cy="1133270"/>
            </a:xfrm>
            <a:custGeom>
              <a:avLst/>
              <a:gdLst/>
              <a:ahLst/>
              <a:cxnLst/>
              <a:rect l="l" t="t" r="r" b="b"/>
              <a:pathLst>
                <a:path w="2831428" h="1133270">
                  <a:moveTo>
                    <a:pt x="0" y="0"/>
                  </a:moveTo>
                  <a:lnTo>
                    <a:pt x="2831428" y="0"/>
                  </a:lnTo>
                  <a:lnTo>
                    <a:pt x="2831428" y="1133270"/>
                  </a:lnTo>
                  <a:lnTo>
                    <a:pt x="0" y="1133270"/>
                  </a:lnTo>
                  <a:close/>
                </a:path>
              </a:pathLst>
            </a:custGeom>
            <a:solidFill>
              <a:srgbClr val="C2DCFF"/>
            </a:solidFill>
          </p:spPr>
        </p:sp>
        <p:sp>
          <p:nvSpPr>
            <p:cNvPr id="13" name="TextBox 13"/>
            <p:cNvSpPr txBox="1"/>
            <p:nvPr/>
          </p:nvSpPr>
          <p:spPr>
            <a:xfrm>
              <a:off x="0" y="28575"/>
              <a:ext cx="2831428" cy="1104695"/>
            </a:xfrm>
            <a:prstGeom prst="rect">
              <a:avLst/>
            </a:prstGeom>
          </p:spPr>
          <p:txBody>
            <a:bodyPr lIns="50800" tIns="50800" rIns="50800" bIns="50800" rtlCol="0" anchor="ctr"/>
            <a:lstStyle/>
            <a:p>
              <a:pPr algn="ctr">
                <a:lnSpc>
                  <a:spcPts val="2499"/>
                </a:lnSpc>
              </a:pPr>
              <a:endParaRPr/>
            </a:p>
          </p:txBody>
        </p:sp>
      </p:grpSp>
      <p:sp>
        <p:nvSpPr>
          <p:cNvPr id="14" name="TextBox 14"/>
          <p:cNvSpPr txBox="1"/>
          <p:nvPr/>
        </p:nvSpPr>
        <p:spPr>
          <a:xfrm>
            <a:off x="6744771" y="3597728"/>
            <a:ext cx="10651655" cy="4488840"/>
          </a:xfrm>
          <a:prstGeom prst="rect">
            <a:avLst/>
          </a:prstGeom>
        </p:spPr>
        <p:txBody>
          <a:bodyPr lIns="0" tIns="0" rIns="0" bIns="0" rtlCol="0" anchor="t">
            <a:spAutoFit/>
          </a:bodyPr>
          <a:lstStyle/>
          <a:p>
            <a:pPr algn="l">
              <a:lnSpc>
                <a:spcPts val="3533"/>
              </a:lnSpc>
            </a:pPr>
            <a:r>
              <a:rPr lang="en-US" sz="2524">
                <a:solidFill>
                  <a:srgbClr val="022B3A"/>
                </a:solidFill>
                <a:latin typeface="Poppins"/>
                <a:ea typeface="Poppins"/>
                <a:cs typeface="Poppins"/>
                <a:sym typeface="Poppins"/>
              </a:rPr>
              <a:t>Threshold calibration reveals a trade-off between overall performance and detecting high-sensitivity images. Using thresholds of t1=0.30 and t2=0.30 increases high-class recall to 71.4%, but reduces accuracy to 65.6% and macro-F1 to 0.596. The selected thresholds, t1=0.50 and t2=0.44, achieve a better overall balance, with 71.4% accuracy and 0.685 macro-F1, while high-class recall is 64.3%. These results were measured on the 192-image validation set; the thresholds were selected to maximize macro-F1.</a:t>
            </a:r>
          </a:p>
          <a:p>
            <a:pPr algn="l">
              <a:lnSpc>
                <a:spcPts val="3533"/>
              </a:lnSpc>
            </a:pPr>
            <a:endParaRPr lang="en-US" sz="2524">
              <a:solidFill>
                <a:srgbClr val="022B3A"/>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2045266" y="5043146"/>
            <a:ext cx="6702035" cy="985278"/>
            <a:chOff x="0" y="0"/>
            <a:chExt cx="1765145" cy="259497"/>
          </a:xfrm>
        </p:grpSpPr>
        <p:sp>
          <p:nvSpPr>
            <p:cNvPr id="3" name="Freeform 3"/>
            <p:cNvSpPr/>
            <p:nvPr/>
          </p:nvSpPr>
          <p:spPr>
            <a:xfrm>
              <a:off x="0" y="0"/>
              <a:ext cx="1765145" cy="259497"/>
            </a:xfrm>
            <a:custGeom>
              <a:avLst/>
              <a:gdLst/>
              <a:ahLst/>
              <a:cxnLst/>
              <a:rect l="l" t="t" r="r" b="b"/>
              <a:pathLst>
                <a:path w="1765145" h="259497">
                  <a:moveTo>
                    <a:pt x="0" y="0"/>
                  </a:moveTo>
                  <a:lnTo>
                    <a:pt x="1765145" y="0"/>
                  </a:lnTo>
                  <a:lnTo>
                    <a:pt x="1765145" y="259497"/>
                  </a:lnTo>
                  <a:lnTo>
                    <a:pt x="0" y="259497"/>
                  </a:lnTo>
                  <a:close/>
                </a:path>
              </a:pathLst>
            </a:custGeom>
            <a:solidFill>
              <a:srgbClr val="C2DCFF"/>
            </a:solidFill>
          </p:spPr>
          <p:txBody>
            <a:bodyPr/>
            <a:lstStyle/>
            <a:p>
              <a:endParaRPr/>
            </a:p>
          </p:txBody>
        </p:sp>
        <p:sp>
          <p:nvSpPr>
            <p:cNvPr id="4" name="TextBox 4"/>
            <p:cNvSpPr txBox="1"/>
            <p:nvPr/>
          </p:nvSpPr>
          <p:spPr>
            <a:xfrm>
              <a:off x="0" y="28575"/>
              <a:ext cx="1765145" cy="230922"/>
            </a:xfrm>
            <a:prstGeom prst="rect">
              <a:avLst/>
            </a:prstGeom>
          </p:spPr>
          <p:txBody>
            <a:bodyPr lIns="50800" tIns="50800" rIns="50800" bIns="50800" rtlCol="0" anchor="ctr"/>
            <a:lstStyle/>
            <a:p>
              <a:pPr algn="ctr">
                <a:lnSpc>
                  <a:spcPts val="2499"/>
                </a:lnSpc>
              </a:pPr>
              <a:endParaRPr/>
            </a:p>
          </p:txBody>
        </p:sp>
      </p:grpSp>
      <p:grpSp>
        <p:nvGrpSpPr>
          <p:cNvPr id="5" name="Group 5"/>
          <p:cNvGrpSpPr/>
          <p:nvPr/>
        </p:nvGrpSpPr>
        <p:grpSpPr>
          <a:xfrm>
            <a:off x="2079835" y="3514793"/>
            <a:ext cx="6702035" cy="1002547"/>
            <a:chOff x="0" y="0"/>
            <a:chExt cx="1765145" cy="264045"/>
          </a:xfrm>
        </p:grpSpPr>
        <p:sp>
          <p:nvSpPr>
            <p:cNvPr id="6" name="Freeform 6"/>
            <p:cNvSpPr/>
            <p:nvPr/>
          </p:nvSpPr>
          <p:spPr>
            <a:xfrm>
              <a:off x="0" y="0"/>
              <a:ext cx="1765145" cy="264045"/>
            </a:xfrm>
            <a:custGeom>
              <a:avLst/>
              <a:gdLst/>
              <a:ahLst/>
              <a:cxnLst/>
              <a:rect l="l" t="t" r="r" b="b"/>
              <a:pathLst>
                <a:path w="1765145" h="264045">
                  <a:moveTo>
                    <a:pt x="0" y="0"/>
                  </a:moveTo>
                  <a:lnTo>
                    <a:pt x="1765145" y="0"/>
                  </a:lnTo>
                  <a:lnTo>
                    <a:pt x="1765145" y="264045"/>
                  </a:lnTo>
                  <a:lnTo>
                    <a:pt x="0" y="264045"/>
                  </a:lnTo>
                  <a:close/>
                </a:path>
              </a:pathLst>
            </a:custGeom>
            <a:solidFill>
              <a:srgbClr val="C2DCFF"/>
            </a:solidFill>
          </p:spPr>
          <p:txBody>
            <a:bodyPr/>
            <a:lstStyle/>
            <a:p>
              <a:endParaRPr/>
            </a:p>
          </p:txBody>
        </p:sp>
        <p:sp>
          <p:nvSpPr>
            <p:cNvPr id="7" name="TextBox 7"/>
            <p:cNvSpPr txBox="1"/>
            <p:nvPr/>
          </p:nvSpPr>
          <p:spPr>
            <a:xfrm>
              <a:off x="0" y="28575"/>
              <a:ext cx="1765145" cy="235470"/>
            </a:xfrm>
            <a:prstGeom prst="rect">
              <a:avLst/>
            </a:prstGeom>
          </p:spPr>
          <p:txBody>
            <a:bodyPr lIns="50800" tIns="50800" rIns="50800" bIns="50800" rtlCol="0" anchor="ctr"/>
            <a:lstStyle/>
            <a:p>
              <a:pPr algn="ctr">
                <a:lnSpc>
                  <a:spcPts val="2499"/>
                </a:lnSpc>
              </a:pPr>
              <a:endParaRPr/>
            </a:p>
          </p:txBody>
        </p:sp>
      </p:grpSp>
      <p:sp>
        <p:nvSpPr>
          <p:cNvPr id="8" name="TextBox 8"/>
          <p:cNvSpPr txBox="1"/>
          <p:nvPr/>
        </p:nvSpPr>
        <p:spPr>
          <a:xfrm>
            <a:off x="2203417" y="3974759"/>
            <a:ext cx="6385733" cy="368300"/>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No observable sensitivity</a:t>
            </a:r>
          </a:p>
        </p:txBody>
      </p:sp>
      <p:sp>
        <p:nvSpPr>
          <p:cNvPr id="9" name="TextBox 9"/>
          <p:cNvSpPr txBox="1"/>
          <p:nvPr/>
        </p:nvSpPr>
        <p:spPr>
          <a:xfrm>
            <a:off x="2168848" y="5573885"/>
            <a:ext cx="6206629" cy="368300"/>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Moderate</a:t>
            </a:r>
            <a:r>
              <a:rPr lang="en-US" sz="2000" u="none">
                <a:solidFill>
                  <a:srgbClr val="022B3A"/>
                </a:solidFill>
                <a:latin typeface="Poppins"/>
                <a:ea typeface="Poppins"/>
                <a:cs typeface="Poppins"/>
                <a:sym typeface="Poppins"/>
              </a:rPr>
              <a:t> public relevance or harm concern.</a:t>
            </a:r>
          </a:p>
        </p:txBody>
      </p:sp>
      <p:sp>
        <p:nvSpPr>
          <p:cNvPr id="10" name="TextBox 10"/>
          <p:cNvSpPr txBox="1"/>
          <p:nvPr/>
        </p:nvSpPr>
        <p:spPr>
          <a:xfrm>
            <a:off x="2203417" y="3473142"/>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Low</a:t>
            </a:r>
          </a:p>
        </p:txBody>
      </p:sp>
      <p:sp>
        <p:nvSpPr>
          <p:cNvPr id="11" name="TextBox 11"/>
          <p:cNvSpPr txBox="1"/>
          <p:nvPr/>
        </p:nvSpPr>
        <p:spPr>
          <a:xfrm>
            <a:off x="2168848" y="4992860"/>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Medium</a:t>
            </a:r>
          </a:p>
        </p:txBody>
      </p:sp>
      <p:grpSp>
        <p:nvGrpSpPr>
          <p:cNvPr id="12" name="Group 12"/>
          <p:cNvGrpSpPr/>
          <p:nvPr/>
        </p:nvGrpSpPr>
        <p:grpSpPr>
          <a:xfrm>
            <a:off x="2079835" y="6728511"/>
            <a:ext cx="6702035" cy="985278"/>
            <a:chOff x="0" y="0"/>
            <a:chExt cx="1765145" cy="259497"/>
          </a:xfrm>
        </p:grpSpPr>
        <p:sp>
          <p:nvSpPr>
            <p:cNvPr id="13" name="Freeform 13"/>
            <p:cNvSpPr/>
            <p:nvPr/>
          </p:nvSpPr>
          <p:spPr>
            <a:xfrm>
              <a:off x="0" y="0"/>
              <a:ext cx="1765145" cy="259497"/>
            </a:xfrm>
            <a:custGeom>
              <a:avLst/>
              <a:gdLst/>
              <a:ahLst/>
              <a:cxnLst/>
              <a:rect l="l" t="t" r="r" b="b"/>
              <a:pathLst>
                <a:path w="1765145" h="259497">
                  <a:moveTo>
                    <a:pt x="0" y="0"/>
                  </a:moveTo>
                  <a:lnTo>
                    <a:pt x="1765145" y="0"/>
                  </a:lnTo>
                  <a:lnTo>
                    <a:pt x="1765145" y="259497"/>
                  </a:lnTo>
                  <a:lnTo>
                    <a:pt x="0" y="259497"/>
                  </a:lnTo>
                  <a:close/>
                </a:path>
              </a:pathLst>
            </a:custGeom>
            <a:solidFill>
              <a:srgbClr val="C2DCFF"/>
            </a:solidFill>
          </p:spPr>
          <p:txBody>
            <a:bodyPr/>
            <a:lstStyle/>
            <a:p>
              <a:endParaRPr/>
            </a:p>
          </p:txBody>
        </p:sp>
        <p:sp>
          <p:nvSpPr>
            <p:cNvPr id="14" name="TextBox 14"/>
            <p:cNvSpPr txBox="1"/>
            <p:nvPr/>
          </p:nvSpPr>
          <p:spPr>
            <a:xfrm>
              <a:off x="0" y="28575"/>
              <a:ext cx="1765145" cy="230922"/>
            </a:xfrm>
            <a:prstGeom prst="rect">
              <a:avLst/>
            </a:prstGeom>
          </p:spPr>
          <p:txBody>
            <a:bodyPr lIns="50800" tIns="50800" rIns="50800" bIns="50800" rtlCol="0" anchor="ctr"/>
            <a:lstStyle/>
            <a:p>
              <a:pPr algn="ctr">
                <a:lnSpc>
                  <a:spcPts val="2499"/>
                </a:lnSpc>
              </a:pPr>
              <a:endParaRPr/>
            </a:p>
          </p:txBody>
        </p:sp>
      </p:grpSp>
      <p:sp>
        <p:nvSpPr>
          <p:cNvPr id="15" name="TextBox 15"/>
          <p:cNvSpPr txBox="1"/>
          <p:nvPr/>
        </p:nvSpPr>
        <p:spPr>
          <a:xfrm>
            <a:off x="2204715" y="7204761"/>
            <a:ext cx="6818601" cy="368300"/>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High public relevance, urgent harm, or vulnerability.</a:t>
            </a:r>
          </a:p>
        </p:txBody>
      </p:sp>
      <p:sp>
        <p:nvSpPr>
          <p:cNvPr id="16" name="TextBox 16"/>
          <p:cNvSpPr txBox="1"/>
          <p:nvPr/>
        </p:nvSpPr>
        <p:spPr>
          <a:xfrm>
            <a:off x="2204715" y="6728511"/>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High</a:t>
            </a:r>
          </a:p>
        </p:txBody>
      </p:sp>
      <p:grpSp>
        <p:nvGrpSpPr>
          <p:cNvPr id="17" name="Group 17"/>
          <p:cNvGrpSpPr/>
          <p:nvPr/>
        </p:nvGrpSpPr>
        <p:grpSpPr>
          <a:xfrm>
            <a:off x="9613038" y="3514793"/>
            <a:ext cx="2024822" cy="1002547"/>
            <a:chOff x="0" y="0"/>
            <a:chExt cx="533286" cy="264045"/>
          </a:xfrm>
        </p:grpSpPr>
        <p:sp>
          <p:nvSpPr>
            <p:cNvPr id="18" name="Freeform 18"/>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19" name="TextBox 19"/>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grpSp>
        <p:nvGrpSpPr>
          <p:cNvPr id="20" name="Group 20"/>
          <p:cNvGrpSpPr/>
          <p:nvPr/>
        </p:nvGrpSpPr>
        <p:grpSpPr>
          <a:xfrm>
            <a:off x="12245757" y="3483937"/>
            <a:ext cx="2024822" cy="1002547"/>
            <a:chOff x="0" y="0"/>
            <a:chExt cx="533286" cy="264045"/>
          </a:xfrm>
        </p:grpSpPr>
        <p:sp>
          <p:nvSpPr>
            <p:cNvPr id="21" name="Freeform 21"/>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22" name="TextBox 22"/>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grpSp>
        <p:nvGrpSpPr>
          <p:cNvPr id="23" name="Group 23"/>
          <p:cNvGrpSpPr/>
          <p:nvPr/>
        </p:nvGrpSpPr>
        <p:grpSpPr>
          <a:xfrm>
            <a:off x="9613038" y="5043146"/>
            <a:ext cx="2024822" cy="1002547"/>
            <a:chOff x="0" y="0"/>
            <a:chExt cx="533286" cy="264045"/>
          </a:xfrm>
        </p:grpSpPr>
        <p:sp>
          <p:nvSpPr>
            <p:cNvPr id="24" name="Freeform 24"/>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25" name="TextBox 25"/>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grpSp>
        <p:nvGrpSpPr>
          <p:cNvPr id="26" name="Group 26"/>
          <p:cNvGrpSpPr/>
          <p:nvPr/>
        </p:nvGrpSpPr>
        <p:grpSpPr>
          <a:xfrm>
            <a:off x="12245757" y="5012291"/>
            <a:ext cx="2024822" cy="1002547"/>
            <a:chOff x="0" y="0"/>
            <a:chExt cx="533286" cy="264045"/>
          </a:xfrm>
        </p:grpSpPr>
        <p:sp>
          <p:nvSpPr>
            <p:cNvPr id="27" name="Freeform 27"/>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28" name="TextBox 28"/>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grpSp>
        <p:nvGrpSpPr>
          <p:cNvPr id="29" name="Group 29"/>
          <p:cNvGrpSpPr/>
          <p:nvPr/>
        </p:nvGrpSpPr>
        <p:grpSpPr>
          <a:xfrm>
            <a:off x="9613038" y="6711241"/>
            <a:ext cx="2024822" cy="1002547"/>
            <a:chOff x="0" y="0"/>
            <a:chExt cx="533286" cy="264045"/>
          </a:xfrm>
        </p:grpSpPr>
        <p:sp>
          <p:nvSpPr>
            <p:cNvPr id="30" name="Freeform 30"/>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31" name="TextBox 31"/>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grpSp>
        <p:nvGrpSpPr>
          <p:cNvPr id="32" name="Group 32"/>
          <p:cNvGrpSpPr/>
          <p:nvPr/>
        </p:nvGrpSpPr>
        <p:grpSpPr>
          <a:xfrm>
            <a:off x="12245757" y="6680386"/>
            <a:ext cx="2024822" cy="1002547"/>
            <a:chOff x="0" y="0"/>
            <a:chExt cx="533286" cy="264045"/>
          </a:xfrm>
        </p:grpSpPr>
        <p:sp>
          <p:nvSpPr>
            <p:cNvPr id="33" name="Freeform 33"/>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34" name="TextBox 34"/>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sp>
        <p:nvSpPr>
          <p:cNvPr id="35" name="TextBox 35"/>
          <p:cNvSpPr txBox="1"/>
          <p:nvPr/>
        </p:nvSpPr>
        <p:spPr>
          <a:xfrm>
            <a:off x="9569723" y="2083914"/>
            <a:ext cx="2068137" cy="1076325"/>
          </a:xfrm>
          <a:prstGeom prst="rect">
            <a:avLst/>
          </a:prstGeom>
        </p:spPr>
        <p:txBody>
          <a:bodyPr lIns="0" tIns="0" rIns="0" bIns="0" rtlCol="0" anchor="t">
            <a:spAutoFit/>
          </a:bodyPr>
          <a:lstStyle/>
          <a:p>
            <a:pPr algn="ctr">
              <a:lnSpc>
                <a:spcPts val="4200"/>
              </a:lnSpc>
            </a:pPr>
            <a:r>
              <a:rPr lang="en-US" sz="3000" b="1">
                <a:solidFill>
                  <a:srgbClr val="022B3A"/>
                </a:solidFill>
                <a:latin typeface="Poppins Bold"/>
                <a:ea typeface="Poppins Bold"/>
                <a:cs typeface="Poppins Bold"/>
                <a:sym typeface="Poppins Bold"/>
              </a:rPr>
              <a:t>Gold </a:t>
            </a:r>
          </a:p>
          <a:p>
            <a:pPr marL="0" lvl="0" indent="0" algn="ctr">
              <a:lnSpc>
                <a:spcPts val="4200"/>
              </a:lnSpc>
              <a:spcBef>
                <a:spcPct val="0"/>
              </a:spcBef>
            </a:pPr>
            <a:r>
              <a:rPr lang="en-US" sz="3000" b="1">
                <a:solidFill>
                  <a:srgbClr val="022B3A"/>
                </a:solidFill>
                <a:latin typeface="Poppins Bold"/>
                <a:ea typeface="Poppins Bold"/>
                <a:cs typeface="Poppins Bold"/>
                <a:sym typeface="Poppins Bold"/>
              </a:rPr>
              <a:t>Standard</a:t>
            </a:r>
          </a:p>
        </p:txBody>
      </p:sp>
      <p:sp>
        <p:nvSpPr>
          <p:cNvPr id="36" name="TextBox 36"/>
          <p:cNvSpPr txBox="1"/>
          <p:nvPr/>
        </p:nvSpPr>
        <p:spPr>
          <a:xfrm>
            <a:off x="12202442" y="2079327"/>
            <a:ext cx="2068137" cy="1076325"/>
          </a:xfrm>
          <a:prstGeom prst="rect">
            <a:avLst/>
          </a:prstGeom>
        </p:spPr>
        <p:txBody>
          <a:bodyPr lIns="0" tIns="0" rIns="0" bIns="0" rtlCol="0" anchor="t">
            <a:spAutoFit/>
          </a:bodyPr>
          <a:lstStyle/>
          <a:p>
            <a:pPr algn="ctr">
              <a:lnSpc>
                <a:spcPts val="4200"/>
              </a:lnSpc>
            </a:pPr>
            <a:r>
              <a:rPr lang="en-US" sz="3000" b="1">
                <a:solidFill>
                  <a:srgbClr val="022B3A"/>
                </a:solidFill>
                <a:latin typeface="Poppins Bold"/>
                <a:ea typeface="Poppins Bold"/>
                <a:cs typeface="Poppins Bold"/>
                <a:sym typeface="Poppins Bold"/>
              </a:rPr>
              <a:t>Silver</a:t>
            </a:r>
          </a:p>
          <a:p>
            <a:pPr marL="0" lvl="0" indent="0" algn="ctr">
              <a:lnSpc>
                <a:spcPts val="4200"/>
              </a:lnSpc>
              <a:spcBef>
                <a:spcPct val="0"/>
              </a:spcBef>
            </a:pPr>
            <a:r>
              <a:rPr lang="en-US" sz="3000" b="1">
                <a:solidFill>
                  <a:srgbClr val="022B3A"/>
                </a:solidFill>
                <a:latin typeface="Poppins Bold"/>
                <a:ea typeface="Poppins Bold"/>
                <a:cs typeface="Poppins Bold"/>
                <a:sym typeface="Poppins Bold"/>
              </a:rPr>
              <a:t>Standard</a:t>
            </a:r>
          </a:p>
        </p:txBody>
      </p:sp>
      <p:sp>
        <p:nvSpPr>
          <p:cNvPr id="37" name="TextBox 37"/>
          <p:cNvSpPr txBox="1"/>
          <p:nvPr/>
        </p:nvSpPr>
        <p:spPr>
          <a:xfrm>
            <a:off x="9613038" y="3324284"/>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354</a:t>
            </a:r>
          </a:p>
        </p:txBody>
      </p:sp>
      <p:sp>
        <p:nvSpPr>
          <p:cNvPr id="38" name="TextBox 38"/>
          <p:cNvSpPr txBox="1"/>
          <p:nvPr/>
        </p:nvSpPr>
        <p:spPr>
          <a:xfrm>
            <a:off x="12269673" y="3298376"/>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913</a:t>
            </a:r>
          </a:p>
        </p:txBody>
      </p:sp>
      <p:sp>
        <p:nvSpPr>
          <p:cNvPr id="39" name="TextBox 39"/>
          <p:cNvSpPr txBox="1"/>
          <p:nvPr/>
        </p:nvSpPr>
        <p:spPr>
          <a:xfrm>
            <a:off x="12269673" y="4818094"/>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2413</a:t>
            </a:r>
          </a:p>
        </p:txBody>
      </p:sp>
      <p:sp>
        <p:nvSpPr>
          <p:cNvPr id="40" name="TextBox 40"/>
          <p:cNvSpPr txBox="1"/>
          <p:nvPr/>
        </p:nvSpPr>
        <p:spPr>
          <a:xfrm>
            <a:off x="9613038" y="4871341"/>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595</a:t>
            </a:r>
          </a:p>
        </p:txBody>
      </p:sp>
      <p:sp>
        <p:nvSpPr>
          <p:cNvPr id="41" name="TextBox 41"/>
          <p:cNvSpPr txBox="1"/>
          <p:nvPr/>
        </p:nvSpPr>
        <p:spPr>
          <a:xfrm>
            <a:off x="9613038" y="6494824"/>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152</a:t>
            </a:r>
          </a:p>
        </p:txBody>
      </p:sp>
      <p:sp>
        <p:nvSpPr>
          <p:cNvPr id="42" name="TextBox 42"/>
          <p:cNvSpPr txBox="1"/>
          <p:nvPr/>
        </p:nvSpPr>
        <p:spPr>
          <a:xfrm>
            <a:off x="12202442" y="6494824"/>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72</a:t>
            </a:r>
          </a:p>
        </p:txBody>
      </p:sp>
      <p:grpSp>
        <p:nvGrpSpPr>
          <p:cNvPr id="43" name="Group 43"/>
          <p:cNvGrpSpPr/>
          <p:nvPr/>
        </p:nvGrpSpPr>
        <p:grpSpPr>
          <a:xfrm>
            <a:off x="14988117" y="3510206"/>
            <a:ext cx="2024822" cy="1002547"/>
            <a:chOff x="0" y="0"/>
            <a:chExt cx="533286" cy="264045"/>
          </a:xfrm>
        </p:grpSpPr>
        <p:sp>
          <p:nvSpPr>
            <p:cNvPr id="44" name="Freeform 44"/>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45" name="TextBox 45"/>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grpSp>
        <p:nvGrpSpPr>
          <p:cNvPr id="46" name="Group 46"/>
          <p:cNvGrpSpPr/>
          <p:nvPr/>
        </p:nvGrpSpPr>
        <p:grpSpPr>
          <a:xfrm>
            <a:off x="14988117" y="5038560"/>
            <a:ext cx="2024822" cy="1002547"/>
            <a:chOff x="0" y="0"/>
            <a:chExt cx="533286" cy="264045"/>
          </a:xfrm>
        </p:grpSpPr>
        <p:sp>
          <p:nvSpPr>
            <p:cNvPr id="47" name="Freeform 47"/>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48" name="TextBox 48"/>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grpSp>
        <p:nvGrpSpPr>
          <p:cNvPr id="49" name="Group 49"/>
          <p:cNvGrpSpPr/>
          <p:nvPr/>
        </p:nvGrpSpPr>
        <p:grpSpPr>
          <a:xfrm>
            <a:off x="14988117" y="6706655"/>
            <a:ext cx="2024822" cy="1002547"/>
            <a:chOff x="0" y="0"/>
            <a:chExt cx="533286" cy="264045"/>
          </a:xfrm>
        </p:grpSpPr>
        <p:sp>
          <p:nvSpPr>
            <p:cNvPr id="50" name="Freeform 50"/>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51" name="TextBox 51"/>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sp>
        <p:nvSpPr>
          <p:cNvPr id="52" name="TextBox 52"/>
          <p:cNvSpPr txBox="1"/>
          <p:nvPr/>
        </p:nvSpPr>
        <p:spPr>
          <a:xfrm>
            <a:off x="14810793" y="2350614"/>
            <a:ext cx="2314498" cy="5429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22B3A"/>
                </a:solidFill>
                <a:latin typeface="Poppins Bold"/>
                <a:ea typeface="Poppins Bold"/>
                <a:cs typeface="Poppins Bold"/>
                <a:sym typeface="Poppins Bold"/>
              </a:rPr>
              <a:t>Confidence</a:t>
            </a:r>
          </a:p>
        </p:txBody>
      </p:sp>
      <p:sp>
        <p:nvSpPr>
          <p:cNvPr id="53" name="TextBox 53"/>
          <p:cNvSpPr txBox="1"/>
          <p:nvPr/>
        </p:nvSpPr>
        <p:spPr>
          <a:xfrm>
            <a:off x="14988117" y="3521579"/>
            <a:ext cx="2046479" cy="793914"/>
          </a:xfrm>
          <a:prstGeom prst="rect">
            <a:avLst/>
          </a:prstGeom>
        </p:spPr>
        <p:txBody>
          <a:bodyPr lIns="0" tIns="0" rIns="0" bIns="0" rtlCol="0" anchor="t">
            <a:spAutoFit/>
          </a:bodyPr>
          <a:lstStyle/>
          <a:p>
            <a:pPr marL="0" lvl="0" indent="0" algn="ctr">
              <a:lnSpc>
                <a:spcPts val="6115"/>
              </a:lnSpc>
              <a:spcBef>
                <a:spcPct val="0"/>
              </a:spcBef>
            </a:pPr>
            <a:r>
              <a:rPr lang="en-US" sz="4368" b="1">
                <a:solidFill>
                  <a:srgbClr val="022B3A"/>
                </a:solidFill>
                <a:latin typeface="Poppins Bold"/>
                <a:ea typeface="Poppins Bold"/>
                <a:cs typeface="Poppins Bold"/>
                <a:sym typeface="Poppins Bold"/>
              </a:rPr>
              <a:t>0.6863</a:t>
            </a:r>
          </a:p>
        </p:txBody>
      </p:sp>
      <p:sp>
        <p:nvSpPr>
          <p:cNvPr id="54" name="TextBox 54"/>
          <p:cNvSpPr txBox="1"/>
          <p:nvPr/>
        </p:nvSpPr>
        <p:spPr>
          <a:xfrm>
            <a:off x="14944802" y="5094544"/>
            <a:ext cx="2046479" cy="793914"/>
          </a:xfrm>
          <a:prstGeom prst="rect">
            <a:avLst/>
          </a:prstGeom>
        </p:spPr>
        <p:txBody>
          <a:bodyPr lIns="0" tIns="0" rIns="0" bIns="0" rtlCol="0" anchor="t">
            <a:spAutoFit/>
          </a:bodyPr>
          <a:lstStyle/>
          <a:p>
            <a:pPr marL="0" lvl="0" indent="0" algn="ctr">
              <a:lnSpc>
                <a:spcPts val="6115"/>
              </a:lnSpc>
              <a:spcBef>
                <a:spcPct val="0"/>
              </a:spcBef>
            </a:pPr>
            <a:r>
              <a:rPr lang="en-US" sz="4368" b="1">
                <a:solidFill>
                  <a:srgbClr val="022B3A"/>
                </a:solidFill>
                <a:latin typeface="Poppins Bold"/>
                <a:ea typeface="Poppins Bold"/>
                <a:cs typeface="Poppins Bold"/>
                <a:sym typeface="Poppins Bold"/>
              </a:rPr>
              <a:t>0.7688</a:t>
            </a:r>
          </a:p>
        </p:txBody>
      </p:sp>
      <p:sp>
        <p:nvSpPr>
          <p:cNvPr id="55" name="TextBox 55"/>
          <p:cNvSpPr txBox="1"/>
          <p:nvPr/>
        </p:nvSpPr>
        <p:spPr>
          <a:xfrm>
            <a:off x="14988117" y="6718027"/>
            <a:ext cx="2046479" cy="793914"/>
          </a:xfrm>
          <a:prstGeom prst="rect">
            <a:avLst/>
          </a:prstGeom>
        </p:spPr>
        <p:txBody>
          <a:bodyPr lIns="0" tIns="0" rIns="0" bIns="0" rtlCol="0" anchor="t">
            <a:spAutoFit/>
          </a:bodyPr>
          <a:lstStyle/>
          <a:p>
            <a:pPr marL="0" lvl="0" indent="0" algn="ctr">
              <a:lnSpc>
                <a:spcPts val="6115"/>
              </a:lnSpc>
              <a:spcBef>
                <a:spcPct val="0"/>
              </a:spcBef>
            </a:pPr>
            <a:r>
              <a:rPr lang="en-US" sz="4368" b="1">
                <a:solidFill>
                  <a:srgbClr val="022B3A"/>
                </a:solidFill>
                <a:latin typeface="Poppins Bold"/>
                <a:ea typeface="Poppins Bold"/>
                <a:cs typeface="Poppins Bold"/>
                <a:sym typeface="Poppins Bold"/>
              </a:rPr>
              <a:t>0.6743</a:t>
            </a:r>
          </a:p>
        </p:txBody>
      </p:sp>
      <p:sp>
        <p:nvSpPr>
          <p:cNvPr id="56" name="TextBox 56"/>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11</a:t>
            </a:r>
          </a:p>
        </p:txBody>
      </p:sp>
      <p:grpSp>
        <p:nvGrpSpPr>
          <p:cNvPr id="57" name="Group 57"/>
          <p:cNvGrpSpPr/>
          <p:nvPr/>
        </p:nvGrpSpPr>
        <p:grpSpPr>
          <a:xfrm>
            <a:off x="1089890" y="475011"/>
            <a:ext cx="6356518" cy="960253"/>
            <a:chOff x="0" y="0"/>
            <a:chExt cx="1674145" cy="252906"/>
          </a:xfrm>
        </p:grpSpPr>
        <p:sp>
          <p:nvSpPr>
            <p:cNvPr id="58" name="Freeform 58"/>
            <p:cNvSpPr/>
            <p:nvPr/>
          </p:nvSpPr>
          <p:spPr>
            <a:xfrm>
              <a:off x="0" y="0"/>
              <a:ext cx="1674145" cy="252906"/>
            </a:xfrm>
            <a:custGeom>
              <a:avLst/>
              <a:gdLst/>
              <a:ahLst/>
              <a:cxnLst/>
              <a:rect l="l" t="t" r="r" b="b"/>
              <a:pathLst>
                <a:path w="1674145" h="252906">
                  <a:moveTo>
                    <a:pt x="0" y="0"/>
                  </a:moveTo>
                  <a:lnTo>
                    <a:pt x="1674145" y="0"/>
                  </a:lnTo>
                  <a:lnTo>
                    <a:pt x="1674145" y="252906"/>
                  </a:lnTo>
                  <a:lnTo>
                    <a:pt x="0" y="252906"/>
                  </a:lnTo>
                  <a:close/>
                </a:path>
              </a:pathLst>
            </a:custGeom>
            <a:solidFill>
              <a:srgbClr val="C2DCFF"/>
            </a:solidFill>
          </p:spPr>
          <p:txBody>
            <a:bodyPr/>
            <a:lstStyle/>
            <a:p>
              <a:endParaRPr/>
            </a:p>
          </p:txBody>
        </p:sp>
        <p:sp>
          <p:nvSpPr>
            <p:cNvPr id="59" name="TextBox 59"/>
            <p:cNvSpPr txBox="1"/>
            <p:nvPr/>
          </p:nvSpPr>
          <p:spPr>
            <a:xfrm>
              <a:off x="0" y="28575"/>
              <a:ext cx="1674145" cy="224331"/>
            </a:xfrm>
            <a:prstGeom prst="rect">
              <a:avLst/>
            </a:prstGeom>
          </p:spPr>
          <p:txBody>
            <a:bodyPr lIns="50800" tIns="50800" rIns="50800" bIns="50800" rtlCol="0" anchor="ctr"/>
            <a:lstStyle/>
            <a:p>
              <a:pPr algn="ctr">
                <a:lnSpc>
                  <a:spcPts val="2499"/>
                </a:lnSpc>
              </a:pPr>
              <a:endParaRPr/>
            </a:p>
          </p:txBody>
        </p:sp>
      </p:grpSp>
      <p:grpSp>
        <p:nvGrpSpPr>
          <p:cNvPr id="60" name="Group 60"/>
          <p:cNvGrpSpPr/>
          <p:nvPr/>
        </p:nvGrpSpPr>
        <p:grpSpPr>
          <a:xfrm>
            <a:off x="759765" y="475011"/>
            <a:ext cx="190207" cy="960253"/>
            <a:chOff x="0" y="0"/>
            <a:chExt cx="50096" cy="252906"/>
          </a:xfrm>
        </p:grpSpPr>
        <p:sp>
          <p:nvSpPr>
            <p:cNvPr id="61" name="Freeform 61"/>
            <p:cNvSpPr/>
            <p:nvPr/>
          </p:nvSpPr>
          <p:spPr>
            <a:xfrm>
              <a:off x="0" y="0"/>
              <a:ext cx="50096" cy="252906"/>
            </a:xfrm>
            <a:custGeom>
              <a:avLst/>
              <a:gdLst/>
              <a:ahLst/>
              <a:cxnLst/>
              <a:rect l="l" t="t" r="r" b="b"/>
              <a:pathLst>
                <a:path w="50096" h="252906">
                  <a:moveTo>
                    <a:pt x="0" y="0"/>
                  </a:moveTo>
                  <a:lnTo>
                    <a:pt x="50096" y="0"/>
                  </a:lnTo>
                  <a:lnTo>
                    <a:pt x="50096" y="252906"/>
                  </a:lnTo>
                  <a:lnTo>
                    <a:pt x="0" y="252906"/>
                  </a:lnTo>
                  <a:close/>
                </a:path>
              </a:pathLst>
            </a:custGeom>
            <a:solidFill>
              <a:srgbClr val="022B3A"/>
            </a:solidFill>
          </p:spPr>
          <p:txBody>
            <a:bodyPr/>
            <a:lstStyle/>
            <a:p>
              <a:endParaRPr/>
            </a:p>
          </p:txBody>
        </p:sp>
        <p:sp>
          <p:nvSpPr>
            <p:cNvPr id="62" name="TextBox 62"/>
            <p:cNvSpPr txBox="1"/>
            <p:nvPr/>
          </p:nvSpPr>
          <p:spPr>
            <a:xfrm>
              <a:off x="0" y="28575"/>
              <a:ext cx="50096" cy="224331"/>
            </a:xfrm>
            <a:prstGeom prst="rect">
              <a:avLst/>
            </a:prstGeom>
          </p:spPr>
          <p:txBody>
            <a:bodyPr lIns="50800" tIns="50800" rIns="50800" bIns="50800" rtlCol="0" anchor="ctr"/>
            <a:lstStyle/>
            <a:p>
              <a:pPr algn="ctr">
                <a:lnSpc>
                  <a:spcPts val="2499"/>
                </a:lnSpc>
              </a:pPr>
              <a:endParaRPr/>
            </a:p>
          </p:txBody>
        </p:sp>
      </p:grpSp>
      <p:sp>
        <p:nvSpPr>
          <p:cNvPr id="63" name="TextBox 63"/>
          <p:cNvSpPr txBox="1"/>
          <p:nvPr/>
        </p:nvSpPr>
        <p:spPr>
          <a:xfrm>
            <a:off x="1089890" y="545563"/>
            <a:ext cx="10120150" cy="866775"/>
          </a:xfrm>
          <a:prstGeom prst="rect">
            <a:avLst/>
          </a:prstGeom>
        </p:spPr>
        <p:txBody>
          <a:bodyPr lIns="0" tIns="0" rIns="0" bIns="0" rtlCol="0" anchor="t">
            <a:spAutoFit/>
          </a:bodyPr>
          <a:lstStyle/>
          <a:p>
            <a:pPr algn="l">
              <a:lnSpc>
                <a:spcPts val="6000"/>
              </a:lnSpc>
            </a:pPr>
            <a:r>
              <a:rPr lang="en-US" sz="6000" b="1">
                <a:solidFill>
                  <a:srgbClr val="022B3A"/>
                </a:solidFill>
                <a:latin typeface="Poppins Bold"/>
                <a:ea typeface="Poppins Bold"/>
                <a:cs typeface="Poppins Bold"/>
                <a:sym typeface="Poppins Bold"/>
              </a:rPr>
              <a:t>AutoAnnotator</a:t>
            </a:r>
          </a:p>
        </p:txBody>
      </p:sp>
      <p:sp>
        <p:nvSpPr>
          <p:cNvPr id="64" name="TextBox 64"/>
          <p:cNvSpPr txBox="1"/>
          <p:nvPr/>
        </p:nvSpPr>
        <p:spPr>
          <a:xfrm>
            <a:off x="759765" y="1553664"/>
            <a:ext cx="1146175" cy="431798"/>
          </a:xfrm>
          <a:prstGeom prst="rect">
            <a:avLst/>
          </a:prstGeom>
        </p:spPr>
        <p:txBody>
          <a:bodyPr lIns="0" tIns="0" rIns="0" bIns="0" rtlCol="0" anchor="t">
            <a:spAutoFit/>
          </a:bodyPr>
          <a:lstStyle/>
          <a:p>
            <a:pPr algn="ctr">
              <a:lnSpc>
                <a:spcPts val="3500"/>
              </a:lnSpc>
            </a:pPr>
            <a:r>
              <a:rPr lang="en-US" sz="2500" b="1">
                <a:solidFill>
                  <a:srgbClr val="022B3A"/>
                </a:solidFill>
                <a:latin typeface="Open Sans Bold"/>
                <a:ea typeface="Open Sans Bold"/>
                <a:cs typeface="Open Sans Bold"/>
                <a:sym typeface="Open Sans Bold"/>
              </a:rPr>
              <a:t>Output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40068-4EC1-0500-8892-55022643B50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B626591-153B-1CE5-7367-148F21D88427}"/>
              </a:ext>
            </a:extLst>
          </p:cNvPr>
          <p:cNvGrpSpPr/>
          <p:nvPr/>
        </p:nvGrpSpPr>
        <p:grpSpPr>
          <a:xfrm>
            <a:off x="-189370" y="1028700"/>
            <a:ext cx="3127322" cy="4610949"/>
            <a:chOff x="0" y="0"/>
            <a:chExt cx="823657" cy="1214406"/>
          </a:xfrm>
        </p:grpSpPr>
        <p:sp>
          <p:nvSpPr>
            <p:cNvPr id="3" name="Freeform 3">
              <a:extLst>
                <a:ext uri="{FF2B5EF4-FFF2-40B4-BE49-F238E27FC236}">
                  <a16:creationId xmlns:a16="http://schemas.microsoft.com/office/drawing/2014/main" id="{8A793AC5-B9B8-7CC6-2C32-362D4E022E12}"/>
                </a:ext>
              </a:extLst>
            </p:cNvPr>
            <p:cNvSpPr/>
            <p:nvPr/>
          </p:nvSpPr>
          <p:spPr>
            <a:xfrm>
              <a:off x="0" y="0"/>
              <a:ext cx="823657" cy="1214406"/>
            </a:xfrm>
            <a:custGeom>
              <a:avLst/>
              <a:gdLst/>
              <a:ahLst/>
              <a:cxnLst/>
              <a:rect l="l" t="t" r="r" b="b"/>
              <a:pathLst>
                <a:path w="823657" h="1214406">
                  <a:moveTo>
                    <a:pt x="0" y="0"/>
                  </a:moveTo>
                  <a:lnTo>
                    <a:pt x="823657" y="0"/>
                  </a:lnTo>
                  <a:lnTo>
                    <a:pt x="823657" y="1214406"/>
                  </a:lnTo>
                  <a:lnTo>
                    <a:pt x="0" y="1214406"/>
                  </a:lnTo>
                  <a:close/>
                </a:path>
              </a:pathLst>
            </a:custGeom>
            <a:solidFill>
              <a:srgbClr val="C2DCFF"/>
            </a:solidFill>
          </p:spPr>
          <p:txBody>
            <a:bodyPr/>
            <a:lstStyle/>
            <a:p>
              <a:endParaRPr/>
            </a:p>
          </p:txBody>
        </p:sp>
        <p:sp>
          <p:nvSpPr>
            <p:cNvPr id="4" name="TextBox 4">
              <a:extLst>
                <a:ext uri="{FF2B5EF4-FFF2-40B4-BE49-F238E27FC236}">
                  <a16:creationId xmlns:a16="http://schemas.microsoft.com/office/drawing/2014/main" id="{C09C25AF-5C80-097F-42E2-183DF400EBC6}"/>
                </a:ext>
              </a:extLst>
            </p:cNvPr>
            <p:cNvSpPr txBox="1"/>
            <p:nvPr/>
          </p:nvSpPr>
          <p:spPr>
            <a:xfrm>
              <a:off x="0" y="28575"/>
              <a:ext cx="823657" cy="1185831"/>
            </a:xfrm>
            <a:prstGeom prst="rect">
              <a:avLst/>
            </a:prstGeom>
          </p:spPr>
          <p:txBody>
            <a:bodyPr lIns="50800" tIns="50800" rIns="50800" bIns="50800" rtlCol="0" anchor="ctr"/>
            <a:lstStyle/>
            <a:p>
              <a:pPr algn="ctr">
                <a:lnSpc>
                  <a:spcPts val="2499"/>
                </a:lnSpc>
              </a:pPr>
              <a:endParaRPr/>
            </a:p>
          </p:txBody>
        </p:sp>
      </p:grpSp>
      <p:sp>
        <p:nvSpPr>
          <p:cNvPr id="5" name="TextBox 5">
            <a:extLst>
              <a:ext uri="{FF2B5EF4-FFF2-40B4-BE49-F238E27FC236}">
                <a16:creationId xmlns:a16="http://schemas.microsoft.com/office/drawing/2014/main" id="{B530587C-B139-201E-679A-123D9D84BB67}"/>
              </a:ext>
            </a:extLst>
          </p:cNvPr>
          <p:cNvSpPr txBox="1"/>
          <p:nvPr/>
        </p:nvSpPr>
        <p:spPr>
          <a:xfrm>
            <a:off x="3252276" y="1771764"/>
            <a:ext cx="6590224" cy="1561966"/>
          </a:xfrm>
          <a:prstGeom prst="rect">
            <a:avLst/>
          </a:prstGeom>
        </p:spPr>
        <p:txBody>
          <a:bodyPr lIns="0" tIns="0" rIns="0" bIns="0" rtlCol="0" anchor="t">
            <a:spAutoFit/>
          </a:bodyPr>
          <a:lstStyle/>
          <a:p>
            <a:pPr algn="l">
              <a:lnSpc>
                <a:spcPts val="6000"/>
              </a:lnSpc>
            </a:pPr>
            <a:r>
              <a:rPr lang="en-US" sz="6000" b="1" spc="-60" dirty="0">
                <a:solidFill>
                  <a:srgbClr val="022B3A"/>
                </a:solidFill>
                <a:latin typeface="Poppins Bold"/>
                <a:ea typeface="Poppins Bold"/>
                <a:cs typeface="Poppins Bold"/>
                <a:sym typeface="Poppins Bold"/>
              </a:rPr>
              <a:t>Effort Benchmark</a:t>
            </a:r>
          </a:p>
        </p:txBody>
      </p:sp>
      <p:sp>
        <p:nvSpPr>
          <p:cNvPr id="6" name="TextBox 6">
            <a:extLst>
              <a:ext uri="{FF2B5EF4-FFF2-40B4-BE49-F238E27FC236}">
                <a16:creationId xmlns:a16="http://schemas.microsoft.com/office/drawing/2014/main" id="{6D30C454-08A5-1E04-47E6-95BD728ECACC}"/>
              </a:ext>
            </a:extLst>
          </p:cNvPr>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17</a:t>
            </a:r>
          </a:p>
        </p:txBody>
      </p:sp>
    </p:spTree>
    <p:extLst>
      <p:ext uri="{BB962C8B-B14F-4D97-AF65-F5344CB8AC3E}">
        <p14:creationId xmlns:p14="http://schemas.microsoft.com/office/powerpoint/2010/main" val="962775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1249454" y="5826135"/>
            <a:ext cx="5090146" cy="1685315"/>
          </a:xfrm>
          <a:custGeom>
            <a:avLst/>
            <a:gdLst/>
            <a:ahLst/>
            <a:cxnLst/>
            <a:rect l="l" t="t" r="r" b="b"/>
            <a:pathLst>
              <a:path w="5090146" h="1685315">
                <a:moveTo>
                  <a:pt x="0" y="0"/>
                </a:moveTo>
                <a:lnTo>
                  <a:pt x="5090146" y="0"/>
                </a:lnTo>
                <a:lnTo>
                  <a:pt x="5090146" y="1685315"/>
                </a:lnTo>
                <a:lnTo>
                  <a:pt x="0" y="1685315"/>
                </a:lnTo>
                <a:lnTo>
                  <a:pt x="0" y="0"/>
                </a:lnTo>
                <a:close/>
              </a:path>
            </a:pathLst>
          </a:custGeom>
          <a:blipFill>
            <a:blip r:embed="rId2"/>
            <a:stretch>
              <a:fillRect t="-2239" b="-2239"/>
            </a:stretch>
          </a:blipFill>
        </p:spPr>
        <p:txBody>
          <a:bodyPr/>
          <a:lstStyle/>
          <a:p>
            <a:endParaRPr/>
          </a:p>
        </p:txBody>
      </p:sp>
      <p:sp>
        <p:nvSpPr>
          <p:cNvPr id="3" name="TextBox 3"/>
          <p:cNvSpPr txBox="1"/>
          <p:nvPr/>
        </p:nvSpPr>
        <p:spPr>
          <a:xfrm>
            <a:off x="759765" y="1998199"/>
            <a:ext cx="7264910" cy="2215334"/>
          </a:xfrm>
          <a:prstGeom prst="rect">
            <a:avLst/>
          </a:prstGeom>
        </p:spPr>
        <p:txBody>
          <a:bodyPr lIns="0" tIns="0" rIns="0" bIns="0" rtlCol="0" anchor="t">
            <a:spAutoFit/>
          </a:bodyPr>
          <a:lstStyle/>
          <a:p>
            <a:pPr algn="l">
              <a:lnSpc>
                <a:spcPts val="3505"/>
              </a:lnSpc>
            </a:pPr>
            <a:r>
              <a:rPr lang="en-US" sz="2504">
                <a:solidFill>
                  <a:srgbClr val="022B3A"/>
                </a:solidFill>
                <a:latin typeface="Poppins"/>
                <a:ea typeface="Poppins"/>
                <a:cs typeface="Poppins"/>
                <a:sym typeface="Poppins"/>
              </a:rPr>
              <a:t>To perform the benchmark the model used was Effort, a method integrated into </a:t>
            </a:r>
            <a:r>
              <a:rPr lang="en-US" sz="2504" b="1">
                <a:solidFill>
                  <a:srgbClr val="022B3A"/>
                </a:solidFill>
                <a:latin typeface="Poppins Bold"/>
                <a:ea typeface="Poppins Bold"/>
                <a:cs typeface="Poppins Bold"/>
                <a:sym typeface="Poppins Bold"/>
              </a:rPr>
              <a:t>DeepfakeBench </a:t>
            </a:r>
            <a:r>
              <a:rPr lang="en-US" sz="2504">
                <a:solidFill>
                  <a:srgbClr val="022B3A"/>
                </a:solidFill>
                <a:latin typeface="Poppins"/>
                <a:ea typeface="Poppins"/>
                <a:cs typeface="Poppins"/>
                <a:sym typeface="Poppins"/>
              </a:rPr>
              <a:t>for generalizable AI-generated image (AIGI) and deepfake detection.</a:t>
            </a:r>
          </a:p>
        </p:txBody>
      </p:sp>
      <p:sp>
        <p:nvSpPr>
          <p:cNvPr id="4" name="TextBox 4"/>
          <p:cNvSpPr txBox="1"/>
          <p:nvPr/>
        </p:nvSpPr>
        <p:spPr>
          <a:xfrm>
            <a:off x="759765" y="4489758"/>
            <a:ext cx="7264910" cy="1336376"/>
          </a:xfrm>
          <a:prstGeom prst="rect">
            <a:avLst/>
          </a:prstGeom>
        </p:spPr>
        <p:txBody>
          <a:bodyPr lIns="0" tIns="0" rIns="0" bIns="0" rtlCol="0" anchor="t">
            <a:spAutoFit/>
          </a:bodyPr>
          <a:lstStyle/>
          <a:p>
            <a:pPr algn="l">
              <a:lnSpc>
                <a:spcPts val="3505"/>
              </a:lnSpc>
            </a:pPr>
            <a:r>
              <a:rPr lang="en-US" sz="2504">
                <a:solidFill>
                  <a:srgbClr val="022B3A"/>
                </a:solidFill>
                <a:latin typeface="Poppins"/>
                <a:ea typeface="Poppins"/>
                <a:cs typeface="Poppins"/>
                <a:sym typeface="Poppins"/>
              </a:rPr>
              <a:t>The sensitivity metric was introduced following this formula </a:t>
            </a:r>
          </a:p>
          <a:p>
            <a:pPr algn="l">
              <a:lnSpc>
                <a:spcPts val="3505"/>
              </a:lnSpc>
            </a:pPr>
            <a:endParaRPr lang="en-US" sz="2504">
              <a:solidFill>
                <a:srgbClr val="022B3A"/>
              </a:solidFill>
              <a:latin typeface="Poppins"/>
              <a:ea typeface="Poppins"/>
              <a:cs typeface="Poppins"/>
              <a:sym typeface="Poppins"/>
            </a:endParaRPr>
          </a:p>
        </p:txBody>
      </p:sp>
      <p:sp>
        <p:nvSpPr>
          <p:cNvPr id="5" name="TextBox 5"/>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12</a:t>
            </a:r>
          </a:p>
        </p:txBody>
      </p:sp>
      <p:sp>
        <p:nvSpPr>
          <p:cNvPr id="6" name="TextBox 6"/>
          <p:cNvSpPr txBox="1"/>
          <p:nvPr/>
        </p:nvSpPr>
        <p:spPr>
          <a:xfrm>
            <a:off x="759765" y="8005669"/>
            <a:ext cx="7264910" cy="2218898"/>
          </a:xfrm>
          <a:prstGeom prst="rect">
            <a:avLst/>
          </a:prstGeom>
        </p:spPr>
        <p:txBody>
          <a:bodyPr lIns="0" tIns="0" rIns="0" bIns="0" rtlCol="0" anchor="t">
            <a:spAutoFit/>
          </a:bodyPr>
          <a:lstStyle/>
          <a:p>
            <a:pPr algn="l">
              <a:lnSpc>
                <a:spcPts val="3505"/>
              </a:lnSpc>
            </a:pPr>
            <a:r>
              <a:rPr lang="en-US" sz="2504">
                <a:solidFill>
                  <a:srgbClr val="022B3A"/>
                </a:solidFill>
                <a:latin typeface="Poppins"/>
                <a:ea typeface="Poppins"/>
                <a:cs typeface="Poppins"/>
                <a:sym typeface="Poppins"/>
              </a:rPr>
              <a:t>Where w is the weight given by the sensitivity score of i,  that gets multiplied by 1 if the prediction is correct. This way an error on a higher sensitivity image is worth more</a:t>
            </a:r>
          </a:p>
          <a:p>
            <a:pPr algn="l">
              <a:lnSpc>
                <a:spcPts val="3505"/>
              </a:lnSpc>
            </a:pPr>
            <a:endParaRPr lang="en-US" sz="2504">
              <a:solidFill>
                <a:srgbClr val="022B3A"/>
              </a:solidFill>
              <a:latin typeface="Poppins"/>
              <a:ea typeface="Poppins"/>
              <a:cs typeface="Poppins"/>
              <a:sym typeface="Poppins"/>
            </a:endParaRPr>
          </a:p>
        </p:txBody>
      </p:sp>
      <p:sp>
        <p:nvSpPr>
          <p:cNvPr id="7" name="TextBox 7"/>
          <p:cNvSpPr txBox="1"/>
          <p:nvPr/>
        </p:nvSpPr>
        <p:spPr>
          <a:xfrm>
            <a:off x="8475889" y="1556480"/>
            <a:ext cx="7264910" cy="1777637"/>
          </a:xfrm>
          <a:prstGeom prst="rect">
            <a:avLst/>
          </a:prstGeom>
        </p:spPr>
        <p:txBody>
          <a:bodyPr lIns="0" tIns="0" rIns="0" bIns="0" rtlCol="0" anchor="t">
            <a:spAutoFit/>
          </a:bodyPr>
          <a:lstStyle/>
          <a:p>
            <a:pPr algn="l">
              <a:lnSpc>
                <a:spcPts val="3505"/>
              </a:lnSpc>
            </a:pPr>
            <a:r>
              <a:rPr lang="en-US" sz="2504">
                <a:solidFill>
                  <a:srgbClr val="022B3A"/>
                </a:solidFill>
                <a:latin typeface="Poppins"/>
                <a:ea typeface="Poppins"/>
                <a:cs typeface="Poppins"/>
                <a:sym typeface="Poppins"/>
              </a:rPr>
              <a:t>Additionally, the evaluator was told to change its evaluation metric based on the sensitivity of the image.</a:t>
            </a:r>
          </a:p>
          <a:p>
            <a:pPr algn="l">
              <a:lnSpc>
                <a:spcPts val="3505"/>
              </a:lnSpc>
            </a:pPr>
            <a:endParaRPr lang="en-US" sz="2504">
              <a:solidFill>
                <a:srgbClr val="022B3A"/>
              </a:solidFill>
              <a:latin typeface="Poppins"/>
              <a:ea typeface="Poppins"/>
              <a:cs typeface="Poppins"/>
              <a:sym typeface="Poppins"/>
            </a:endParaRPr>
          </a:p>
        </p:txBody>
      </p:sp>
      <p:grpSp>
        <p:nvGrpSpPr>
          <p:cNvPr id="8" name="Group 8"/>
          <p:cNvGrpSpPr/>
          <p:nvPr/>
        </p:nvGrpSpPr>
        <p:grpSpPr>
          <a:xfrm>
            <a:off x="8475889" y="4472474"/>
            <a:ext cx="3992696" cy="1002547"/>
            <a:chOff x="0" y="0"/>
            <a:chExt cx="1051574" cy="264045"/>
          </a:xfrm>
        </p:grpSpPr>
        <p:sp>
          <p:nvSpPr>
            <p:cNvPr id="9" name="Freeform 9"/>
            <p:cNvSpPr/>
            <p:nvPr/>
          </p:nvSpPr>
          <p:spPr>
            <a:xfrm>
              <a:off x="0" y="0"/>
              <a:ext cx="1051574" cy="264045"/>
            </a:xfrm>
            <a:custGeom>
              <a:avLst/>
              <a:gdLst/>
              <a:ahLst/>
              <a:cxnLst/>
              <a:rect l="l" t="t" r="r" b="b"/>
              <a:pathLst>
                <a:path w="1051574" h="264045">
                  <a:moveTo>
                    <a:pt x="0" y="0"/>
                  </a:moveTo>
                  <a:lnTo>
                    <a:pt x="1051574" y="0"/>
                  </a:lnTo>
                  <a:lnTo>
                    <a:pt x="1051574" y="264045"/>
                  </a:lnTo>
                  <a:lnTo>
                    <a:pt x="0" y="264045"/>
                  </a:lnTo>
                  <a:close/>
                </a:path>
              </a:pathLst>
            </a:custGeom>
            <a:solidFill>
              <a:srgbClr val="C2DCFF"/>
            </a:solidFill>
          </p:spPr>
          <p:txBody>
            <a:bodyPr/>
            <a:lstStyle/>
            <a:p>
              <a:endParaRPr/>
            </a:p>
          </p:txBody>
        </p:sp>
        <p:sp>
          <p:nvSpPr>
            <p:cNvPr id="10" name="TextBox 10"/>
            <p:cNvSpPr txBox="1"/>
            <p:nvPr/>
          </p:nvSpPr>
          <p:spPr>
            <a:xfrm>
              <a:off x="0" y="28575"/>
              <a:ext cx="1051574" cy="235470"/>
            </a:xfrm>
            <a:prstGeom prst="rect">
              <a:avLst/>
            </a:prstGeom>
          </p:spPr>
          <p:txBody>
            <a:bodyPr lIns="50800" tIns="50800" rIns="50800" bIns="50800" rtlCol="0" anchor="ctr"/>
            <a:lstStyle/>
            <a:p>
              <a:pPr algn="ctr">
                <a:lnSpc>
                  <a:spcPts val="2499"/>
                </a:lnSpc>
              </a:pPr>
              <a:endParaRPr/>
            </a:p>
          </p:txBody>
        </p:sp>
      </p:grpSp>
      <p:grpSp>
        <p:nvGrpSpPr>
          <p:cNvPr id="11" name="Group 11"/>
          <p:cNvGrpSpPr/>
          <p:nvPr/>
        </p:nvGrpSpPr>
        <p:grpSpPr>
          <a:xfrm>
            <a:off x="8447415" y="6014413"/>
            <a:ext cx="3992696" cy="1002547"/>
            <a:chOff x="0" y="0"/>
            <a:chExt cx="1051574" cy="264045"/>
          </a:xfrm>
        </p:grpSpPr>
        <p:sp>
          <p:nvSpPr>
            <p:cNvPr id="12" name="Freeform 12"/>
            <p:cNvSpPr/>
            <p:nvPr/>
          </p:nvSpPr>
          <p:spPr>
            <a:xfrm>
              <a:off x="0" y="0"/>
              <a:ext cx="1051574" cy="264045"/>
            </a:xfrm>
            <a:custGeom>
              <a:avLst/>
              <a:gdLst/>
              <a:ahLst/>
              <a:cxnLst/>
              <a:rect l="l" t="t" r="r" b="b"/>
              <a:pathLst>
                <a:path w="1051574" h="264045">
                  <a:moveTo>
                    <a:pt x="0" y="0"/>
                  </a:moveTo>
                  <a:lnTo>
                    <a:pt x="1051574" y="0"/>
                  </a:lnTo>
                  <a:lnTo>
                    <a:pt x="1051574" y="264045"/>
                  </a:lnTo>
                  <a:lnTo>
                    <a:pt x="0" y="264045"/>
                  </a:lnTo>
                  <a:close/>
                </a:path>
              </a:pathLst>
            </a:custGeom>
            <a:solidFill>
              <a:srgbClr val="C2DCFF"/>
            </a:solidFill>
          </p:spPr>
          <p:txBody>
            <a:bodyPr/>
            <a:lstStyle/>
            <a:p>
              <a:endParaRPr/>
            </a:p>
          </p:txBody>
        </p:sp>
        <p:sp>
          <p:nvSpPr>
            <p:cNvPr id="13" name="TextBox 13"/>
            <p:cNvSpPr txBox="1"/>
            <p:nvPr/>
          </p:nvSpPr>
          <p:spPr>
            <a:xfrm>
              <a:off x="0" y="28575"/>
              <a:ext cx="1051574" cy="235470"/>
            </a:xfrm>
            <a:prstGeom prst="rect">
              <a:avLst/>
            </a:prstGeom>
          </p:spPr>
          <p:txBody>
            <a:bodyPr lIns="50800" tIns="50800" rIns="50800" bIns="50800" rtlCol="0" anchor="ctr"/>
            <a:lstStyle/>
            <a:p>
              <a:pPr algn="ctr">
                <a:lnSpc>
                  <a:spcPts val="2499"/>
                </a:lnSpc>
              </a:pPr>
              <a:endParaRPr/>
            </a:p>
          </p:txBody>
        </p:sp>
      </p:grpSp>
      <p:grpSp>
        <p:nvGrpSpPr>
          <p:cNvPr id="14" name="Group 14"/>
          <p:cNvGrpSpPr/>
          <p:nvPr/>
        </p:nvGrpSpPr>
        <p:grpSpPr>
          <a:xfrm>
            <a:off x="8493534" y="7620040"/>
            <a:ext cx="3992696" cy="1002547"/>
            <a:chOff x="0" y="0"/>
            <a:chExt cx="1051574" cy="264045"/>
          </a:xfrm>
        </p:grpSpPr>
        <p:sp>
          <p:nvSpPr>
            <p:cNvPr id="15" name="Freeform 15"/>
            <p:cNvSpPr/>
            <p:nvPr/>
          </p:nvSpPr>
          <p:spPr>
            <a:xfrm>
              <a:off x="0" y="0"/>
              <a:ext cx="1051574" cy="264045"/>
            </a:xfrm>
            <a:custGeom>
              <a:avLst/>
              <a:gdLst/>
              <a:ahLst/>
              <a:cxnLst/>
              <a:rect l="l" t="t" r="r" b="b"/>
              <a:pathLst>
                <a:path w="1051574" h="264045">
                  <a:moveTo>
                    <a:pt x="0" y="0"/>
                  </a:moveTo>
                  <a:lnTo>
                    <a:pt x="1051574" y="0"/>
                  </a:lnTo>
                  <a:lnTo>
                    <a:pt x="1051574" y="264045"/>
                  </a:lnTo>
                  <a:lnTo>
                    <a:pt x="0" y="264045"/>
                  </a:lnTo>
                  <a:close/>
                </a:path>
              </a:pathLst>
            </a:custGeom>
            <a:solidFill>
              <a:srgbClr val="C2DCFF"/>
            </a:solidFill>
          </p:spPr>
          <p:txBody>
            <a:bodyPr/>
            <a:lstStyle/>
            <a:p>
              <a:endParaRPr/>
            </a:p>
          </p:txBody>
        </p:sp>
        <p:sp>
          <p:nvSpPr>
            <p:cNvPr id="16" name="TextBox 16"/>
            <p:cNvSpPr txBox="1"/>
            <p:nvPr/>
          </p:nvSpPr>
          <p:spPr>
            <a:xfrm>
              <a:off x="0" y="28575"/>
              <a:ext cx="1051574" cy="235470"/>
            </a:xfrm>
            <a:prstGeom prst="rect">
              <a:avLst/>
            </a:prstGeom>
          </p:spPr>
          <p:txBody>
            <a:bodyPr lIns="50800" tIns="50800" rIns="50800" bIns="50800" rtlCol="0" anchor="ctr"/>
            <a:lstStyle/>
            <a:p>
              <a:pPr algn="ctr">
                <a:lnSpc>
                  <a:spcPts val="2499"/>
                </a:lnSpc>
              </a:pPr>
              <a:endParaRPr/>
            </a:p>
          </p:txBody>
        </p:sp>
      </p:grpSp>
      <p:sp>
        <p:nvSpPr>
          <p:cNvPr id="17" name="TextBox 17"/>
          <p:cNvSpPr txBox="1"/>
          <p:nvPr/>
        </p:nvSpPr>
        <p:spPr>
          <a:xfrm>
            <a:off x="8145483" y="3686089"/>
            <a:ext cx="4392412" cy="5429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22B3A"/>
                </a:solidFill>
                <a:latin typeface="Poppins Bold"/>
                <a:ea typeface="Poppins Bold"/>
                <a:cs typeface="Poppins Bold"/>
                <a:sym typeface="Poppins Bold"/>
              </a:rPr>
              <a:t>Sensitivity Rating</a:t>
            </a:r>
          </a:p>
        </p:txBody>
      </p:sp>
      <p:sp>
        <p:nvSpPr>
          <p:cNvPr id="18" name="TextBox 18"/>
          <p:cNvSpPr txBox="1"/>
          <p:nvPr/>
        </p:nvSpPr>
        <p:spPr>
          <a:xfrm>
            <a:off x="8310616" y="4286913"/>
            <a:ext cx="4323241"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Low</a:t>
            </a:r>
          </a:p>
        </p:txBody>
      </p:sp>
      <p:sp>
        <p:nvSpPr>
          <p:cNvPr id="19" name="TextBox 19"/>
          <p:cNvSpPr txBox="1"/>
          <p:nvPr/>
        </p:nvSpPr>
        <p:spPr>
          <a:xfrm>
            <a:off x="8265937" y="5846122"/>
            <a:ext cx="4412598"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Medium</a:t>
            </a:r>
          </a:p>
        </p:txBody>
      </p:sp>
      <p:sp>
        <p:nvSpPr>
          <p:cNvPr id="20" name="TextBox 20"/>
          <p:cNvSpPr txBox="1"/>
          <p:nvPr/>
        </p:nvSpPr>
        <p:spPr>
          <a:xfrm>
            <a:off x="8475889" y="7410292"/>
            <a:ext cx="3971038"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High</a:t>
            </a:r>
          </a:p>
        </p:txBody>
      </p:sp>
      <p:grpSp>
        <p:nvGrpSpPr>
          <p:cNvPr id="21" name="Group 21"/>
          <p:cNvGrpSpPr/>
          <p:nvPr/>
        </p:nvGrpSpPr>
        <p:grpSpPr>
          <a:xfrm>
            <a:off x="13186122" y="4498743"/>
            <a:ext cx="2024822" cy="1002547"/>
            <a:chOff x="0" y="0"/>
            <a:chExt cx="533286" cy="264045"/>
          </a:xfrm>
        </p:grpSpPr>
        <p:sp>
          <p:nvSpPr>
            <p:cNvPr id="22" name="Freeform 22"/>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23" name="TextBox 23"/>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grpSp>
        <p:nvGrpSpPr>
          <p:cNvPr id="24" name="Group 24"/>
          <p:cNvGrpSpPr/>
          <p:nvPr/>
        </p:nvGrpSpPr>
        <p:grpSpPr>
          <a:xfrm>
            <a:off x="13186122" y="6027097"/>
            <a:ext cx="2024822" cy="1002547"/>
            <a:chOff x="0" y="0"/>
            <a:chExt cx="533286" cy="264045"/>
          </a:xfrm>
        </p:grpSpPr>
        <p:sp>
          <p:nvSpPr>
            <p:cNvPr id="25" name="Freeform 25"/>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26" name="TextBox 26"/>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grpSp>
        <p:nvGrpSpPr>
          <p:cNvPr id="27" name="Group 27"/>
          <p:cNvGrpSpPr/>
          <p:nvPr/>
        </p:nvGrpSpPr>
        <p:grpSpPr>
          <a:xfrm>
            <a:off x="13203768" y="7646309"/>
            <a:ext cx="2024822" cy="1002547"/>
            <a:chOff x="0" y="0"/>
            <a:chExt cx="533286" cy="264045"/>
          </a:xfrm>
        </p:grpSpPr>
        <p:sp>
          <p:nvSpPr>
            <p:cNvPr id="28" name="Freeform 28"/>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29" name="TextBox 29"/>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sp>
        <p:nvSpPr>
          <p:cNvPr id="30" name="TextBox 30"/>
          <p:cNvSpPr txBox="1"/>
          <p:nvPr/>
        </p:nvSpPr>
        <p:spPr>
          <a:xfrm>
            <a:off x="13008798" y="3686089"/>
            <a:ext cx="2314498" cy="5429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22B3A"/>
                </a:solidFill>
                <a:latin typeface="Poppins Bold"/>
                <a:ea typeface="Poppins Bold"/>
                <a:cs typeface="Poppins Bold"/>
                <a:sym typeface="Poppins Bold"/>
              </a:rPr>
              <a:t>Threshold</a:t>
            </a:r>
          </a:p>
        </p:txBody>
      </p:sp>
      <p:sp>
        <p:nvSpPr>
          <p:cNvPr id="31" name="TextBox 31"/>
          <p:cNvSpPr txBox="1"/>
          <p:nvPr/>
        </p:nvSpPr>
        <p:spPr>
          <a:xfrm>
            <a:off x="13142808" y="4322355"/>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0.5</a:t>
            </a:r>
          </a:p>
        </p:txBody>
      </p:sp>
      <p:sp>
        <p:nvSpPr>
          <p:cNvPr id="32" name="TextBox 32"/>
          <p:cNvSpPr txBox="1"/>
          <p:nvPr/>
        </p:nvSpPr>
        <p:spPr>
          <a:xfrm>
            <a:off x="13175294" y="5824265"/>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0.4</a:t>
            </a:r>
          </a:p>
        </p:txBody>
      </p:sp>
      <p:sp>
        <p:nvSpPr>
          <p:cNvPr id="33" name="TextBox 33"/>
          <p:cNvSpPr txBox="1"/>
          <p:nvPr/>
        </p:nvSpPr>
        <p:spPr>
          <a:xfrm>
            <a:off x="13192939" y="7469920"/>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0.3</a:t>
            </a:r>
          </a:p>
        </p:txBody>
      </p:sp>
      <p:grpSp>
        <p:nvGrpSpPr>
          <p:cNvPr id="34" name="Group 34"/>
          <p:cNvGrpSpPr/>
          <p:nvPr/>
        </p:nvGrpSpPr>
        <p:grpSpPr>
          <a:xfrm>
            <a:off x="1089890" y="475011"/>
            <a:ext cx="5009327" cy="960253"/>
            <a:chOff x="0" y="0"/>
            <a:chExt cx="1319329" cy="252906"/>
          </a:xfrm>
        </p:grpSpPr>
        <p:sp>
          <p:nvSpPr>
            <p:cNvPr id="35" name="Freeform 35"/>
            <p:cNvSpPr/>
            <p:nvPr/>
          </p:nvSpPr>
          <p:spPr>
            <a:xfrm>
              <a:off x="0" y="0"/>
              <a:ext cx="1319329" cy="252906"/>
            </a:xfrm>
            <a:custGeom>
              <a:avLst/>
              <a:gdLst/>
              <a:ahLst/>
              <a:cxnLst/>
              <a:rect l="l" t="t" r="r" b="b"/>
              <a:pathLst>
                <a:path w="1319329" h="252906">
                  <a:moveTo>
                    <a:pt x="0" y="0"/>
                  </a:moveTo>
                  <a:lnTo>
                    <a:pt x="1319329" y="0"/>
                  </a:lnTo>
                  <a:lnTo>
                    <a:pt x="1319329" y="252906"/>
                  </a:lnTo>
                  <a:lnTo>
                    <a:pt x="0" y="252906"/>
                  </a:lnTo>
                  <a:close/>
                </a:path>
              </a:pathLst>
            </a:custGeom>
            <a:solidFill>
              <a:srgbClr val="C2DCFF"/>
            </a:solidFill>
          </p:spPr>
          <p:txBody>
            <a:bodyPr/>
            <a:lstStyle/>
            <a:p>
              <a:endParaRPr/>
            </a:p>
          </p:txBody>
        </p:sp>
        <p:sp>
          <p:nvSpPr>
            <p:cNvPr id="36" name="TextBox 36"/>
            <p:cNvSpPr txBox="1"/>
            <p:nvPr/>
          </p:nvSpPr>
          <p:spPr>
            <a:xfrm>
              <a:off x="0" y="28575"/>
              <a:ext cx="1319329" cy="224331"/>
            </a:xfrm>
            <a:prstGeom prst="rect">
              <a:avLst/>
            </a:prstGeom>
          </p:spPr>
          <p:txBody>
            <a:bodyPr lIns="50800" tIns="50800" rIns="50800" bIns="50800" rtlCol="0" anchor="ctr"/>
            <a:lstStyle/>
            <a:p>
              <a:pPr algn="ctr">
                <a:lnSpc>
                  <a:spcPts val="2499"/>
                </a:lnSpc>
              </a:pPr>
              <a:endParaRPr/>
            </a:p>
          </p:txBody>
        </p:sp>
      </p:grpSp>
      <p:grpSp>
        <p:nvGrpSpPr>
          <p:cNvPr id="37" name="Group 37"/>
          <p:cNvGrpSpPr/>
          <p:nvPr/>
        </p:nvGrpSpPr>
        <p:grpSpPr>
          <a:xfrm>
            <a:off x="759765" y="475011"/>
            <a:ext cx="190207" cy="960253"/>
            <a:chOff x="0" y="0"/>
            <a:chExt cx="50096" cy="252906"/>
          </a:xfrm>
        </p:grpSpPr>
        <p:sp>
          <p:nvSpPr>
            <p:cNvPr id="38" name="Freeform 38"/>
            <p:cNvSpPr/>
            <p:nvPr/>
          </p:nvSpPr>
          <p:spPr>
            <a:xfrm>
              <a:off x="0" y="0"/>
              <a:ext cx="50096" cy="252906"/>
            </a:xfrm>
            <a:custGeom>
              <a:avLst/>
              <a:gdLst/>
              <a:ahLst/>
              <a:cxnLst/>
              <a:rect l="l" t="t" r="r" b="b"/>
              <a:pathLst>
                <a:path w="50096" h="252906">
                  <a:moveTo>
                    <a:pt x="0" y="0"/>
                  </a:moveTo>
                  <a:lnTo>
                    <a:pt x="50096" y="0"/>
                  </a:lnTo>
                  <a:lnTo>
                    <a:pt x="50096" y="252906"/>
                  </a:lnTo>
                  <a:lnTo>
                    <a:pt x="0" y="252906"/>
                  </a:lnTo>
                  <a:close/>
                </a:path>
              </a:pathLst>
            </a:custGeom>
            <a:solidFill>
              <a:srgbClr val="022B3A"/>
            </a:solidFill>
          </p:spPr>
          <p:txBody>
            <a:bodyPr/>
            <a:lstStyle/>
            <a:p>
              <a:endParaRPr/>
            </a:p>
          </p:txBody>
        </p:sp>
        <p:sp>
          <p:nvSpPr>
            <p:cNvPr id="39" name="TextBox 39"/>
            <p:cNvSpPr txBox="1"/>
            <p:nvPr/>
          </p:nvSpPr>
          <p:spPr>
            <a:xfrm>
              <a:off x="0" y="28575"/>
              <a:ext cx="50096" cy="224331"/>
            </a:xfrm>
            <a:prstGeom prst="rect">
              <a:avLst/>
            </a:prstGeom>
          </p:spPr>
          <p:txBody>
            <a:bodyPr lIns="50800" tIns="50800" rIns="50800" bIns="50800" rtlCol="0" anchor="ctr"/>
            <a:lstStyle/>
            <a:p>
              <a:pPr algn="ctr">
                <a:lnSpc>
                  <a:spcPts val="2499"/>
                </a:lnSpc>
              </a:pPr>
              <a:endParaRPr/>
            </a:p>
          </p:txBody>
        </p:sp>
      </p:grpSp>
      <p:sp>
        <p:nvSpPr>
          <p:cNvPr id="40" name="TextBox 40"/>
          <p:cNvSpPr txBox="1"/>
          <p:nvPr/>
        </p:nvSpPr>
        <p:spPr>
          <a:xfrm>
            <a:off x="1213472" y="566710"/>
            <a:ext cx="10120150" cy="1628775"/>
          </a:xfrm>
          <a:prstGeom prst="rect">
            <a:avLst/>
          </a:prstGeom>
        </p:spPr>
        <p:txBody>
          <a:bodyPr lIns="0" tIns="0" rIns="0" bIns="0" rtlCol="0" anchor="t">
            <a:spAutoFit/>
          </a:bodyPr>
          <a:lstStyle/>
          <a:p>
            <a:pPr algn="l">
              <a:lnSpc>
                <a:spcPts val="6000"/>
              </a:lnSpc>
            </a:pPr>
            <a:r>
              <a:rPr lang="en-US" sz="6000" b="1">
                <a:solidFill>
                  <a:srgbClr val="022B3A"/>
                </a:solidFill>
                <a:latin typeface="Poppins Bold"/>
                <a:ea typeface="Poppins Bold"/>
                <a:cs typeface="Poppins Bold"/>
                <a:sym typeface="Poppins Bold"/>
              </a:rPr>
              <a:t>Benchmark</a:t>
            </a:r>
          </a:p>
          <a:p>
            <a:pPr algn="l">
              <a:lnSpc>
                <a:spcPts val="6000"/>
              </a:lnSpc>
            </a:pPr>
            <a:endParaRPr lang="en-US" sz="6000" b="1">
              <a:solidFill>
                <a:srgbClr val="022B3A"/>
              </a:solidFill>
              <a:latin typeface="Poppins Bold"/>
              <a:ea typeface="Poppins Bold"/>
              <a:cs typeface="Poppins Bold"/>
              <a:sym typeface="Poppins Bold"/>
            </a:endParaRPr>
          </a:p>
        </p:txBody>
      </p:sp>
      <p:sp>
        <p:nvSpPr>
          <p:cNvPr id="41" name="TextBox 41"/>
          <p:cNvSpPr txBox="1"/>
          <p:nvPr/>
        </p:nvSpPr>
        <p:spPr>
          <a:xfrm>
            <a:off x="759765" y="1510357"/>
            <a:ext cx="3322796" cy="431798"/>
          </a:xfrm>
          <a:prstGeom prst="rect">
            <a:avLst/>
          </a:prstGeom>
        </p:spPr>
        <p:txBody>
          <a:bodyPr lIns="0" tIns="0" rIns="0" bIns="0" rtlCol="0" anchor="t">
            <a:spAutoFit/>
          </a:bodyPr>
          <a:lstStyle/>
          <a:p>
            <a:pPr algn="ctr">
              <a:lnSpc>
                <a:spcPts val="3500"/>
              </a:lnSpc>
            </a:pPr>
            <a:r>
              <a:rPr lang="en-US" sz="2500" b="1">
                <a:solidFill>
                  <a:srgbClr val="022B3A"/>
                </a:solidFill>
                <a:latin typeface="Open Sans Bold"/>
                <a:ea typeface="Open Sans Bold"/>
                <a:cs typeface="Open Sans Bold"/>
                <a:sym typeface="Open Sans Bold"/>
              </a:rPr>
              <a:t>Sensitivity Threshold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2045266" y="1028700"/>
            <a:ext cx="8113220" cy="1002547"/>
            <a:chOff x="0" y="0"/>
            <a:chExt cx="2136815" cy="264045"/>
          </a:xfrm>
        </p:grpSpPr>
        <p:sp>
          <p:nvSpPr>
            <p:cNvPr id="3" name="Freeform 3"/>
            <p:cNvSpPr/>
            <p:nvPr/>
          </p:nvSpPr>
          <p:spPr>
            <a:xfrm>
              <a:off x="0" y="0"/>
              <a:ext cx="2136815" cy="264045"/>
            </a:xfrm>
            <a:custGeom>
              <a:avLst/>
              <a:gdLst/>
              <a:ahLst/>
              <a:cxnLst/>
              <a:rect l="l" t="t" r="r" b="b"/>
              <a:pathLst>
                <a:path w="2136815" h="264045">
                  <a:moveTo>
                    <a:pt x="0" y="0"/>
                  </a:moveTo>
                  <a:lnTo>
                    <a:pt x="2136815" y="0"/>
                  </a:lnTo>
                  <a:lnTo>
                    <a:pt x="2136815" y="264045"/>
                  </a:lnTo>
                  <a:lnTo>
                    <a:pt x="0" y="264045"/>
                  </a:lnTo>
                  <a:close/>
                </a:path>
              </a:pathLst>
            </a:custGeom>
            <a:solidFill>
              <a:srgbClr val="C2DCFF"/>
            </a:solidFill>
          </p:spPr>
          <p:txBody>
            <a:bodyPr/>
            <a:lstStyle/>
            <a:p>
              <a:endParaRPr/>
            </a:p>
          </p:txBody>
        </p:sp>
        <p:sp>
          <p:nvSpPr>
            <p:cNvPr id="4" name="TextBox 4"/>
            <p:cNvSpPr txBox="1"/>
            <p:nvPr/>
          </p:nvSpPr>
          <p:spPr>
            <a:xfrm>
              <a:off x="0" y="28575"/>
              <a:ext cx="2136815" cy="235470"/>
            </a:xfrm>
            <a:prstGeom prst="rect">
              <a:avLst/>
            </a:prstGeom>
          </p:spPr>
          <p:txBody>
            <a:bodyPr lIns="50800" tIns="50800" rIns="50800" bIns="50800" rtlCol="0" anchor="ctr"/>
            <a:lstStyle/>
            <a:p>
              <a:pPr algn="ctr">
                <a:lnSpc>
                  <a:spcPts val="2499"/>
                </a:lnSpc>
              </a:pPr>
              <a:endParaRPr/>
            </a:p>
          </p:txBody>
        </p:sp>
      </p:grpSp>
      <p:sp>
        <p:nvSpPr>
          <p:cNvPr id="5" name="TextBox 5"/>
          <p:cNvSpPr txBox="1"/>
          <p:nvPr/>
        </p:nvSpPr>
        <p:spPr>
          <a:xfrm>
            <a:off x="2168848" y="1120399"/>
            <a:ext cx="8449930" cy="866775"/>
          </a:xfrm>
          <a:prstGeom prst="rect">
            <a:avLst/>
          </a:prstGeom>
        </p:spPr>
        <p:txBody>
          <a:bodyPr lIns="0" tIns="0" rIns="0" bIns="0" rtlCol="0" anchor="t">
            <a:spAutoFit/>
          </a:bodyPr>
          <a:lstStyle/>
          <a:p>
            <a:pPr algn="l">
              <a:lnSpc>
                <a:spcPts val="6000"/>
              </a:lnSpc>
            </a:pPr>
            <a:r>
              <a:rPr lang="en-US" sz="6000" b="1">
                <a:solidFill>
                  <a:srgbClr val="022B3A"/>
                </a:solidFill>
                <a:latin typeface="Poppins Bold"/>
                <a:ea typeface="Poppins Bold"/>
                <a:cs typeface="Poppins Bold"/>
                <a:sym typeface="Poppins Bold"/>
              </a:rPr>
              <a:t>Benchmark pipeline</a:t>
            </a:r>
          </a:p>
        </p:txBody>
      </p:sp>
      <p:grpSp>
        <p:nvGrpSpPr>
          <p:cNvPr id="6" name="Group 6"/>
          <p:cNvGrpSpPr/>
          <p:nvPr/>
        </p:nvGrpSpPr>
        <p:grpSpPr>
          <a:xfrm>
            <a:off x="1124239" y="3783759"/>
            <a:ext cx="3292478" cy="3123185"/>
            <a:chOff x="0" y="0"/>
            <a:chExt cx="867155" cy="822567"/>
          </a:xfrm>
        </p:grpSpPr>
        <p:sp>
          <p:nvSpPr>
            <p:cNvPr id="7" name="Freeform 7"/>
            <p:cNvSpPr/>
            <p:nvPr/>
          </p:nvSpPr>
          <p:spPr>
            <a:xfrm>
              <a:off x="0" y="0"/>
              <a:ext cx="867155" cy="822567"/>
            </a:xfrm>
            <a:custGeom>
              <a:avLst/>
              <a:gdLst/>
              <a:ahLst/>
              <a:cxnLst/>
              <a:rect l="l" t="t" r="r" b="b"/>
              <a:pathLst>
                <a:path w="867155" h="822567">
                  <a:moveTo>
                    <a:pt x="0" y="0"/>
                  </a:moveTo>
                  <a:lnTo>
                    <a:pt x="867155" y="0"/>
                  </a:lnTo>
                  <a:lnTo>
                    <a:pt x="867155" y="822567"/>
                  </a:lnTo>
                  <a:lnTo>
                    <a:pt x="0" y="822567"/>
                  </a:lnTo>
                  <a:close/>
                </a:path>
              </a:pathLst>
            </a:custGeom>
            <a:solidFill>
              <a:srgbClr val="C2DCFF"/>
            </a:solidFill>
          </p:spPr>
          <p:txBody>
            <a:bodyPr/>
            <a:lstStyle/>
            <a:p>
              <a:endParaRPr/>
            </a:p>
          </p:txBody>
        </p:sp>
        <p:sp>
          <p:nvSpPr>
            <p:cNvPr id="8" name="TextBox 8"/>
            <p:cNvSpPr txBox="1"/>
            <p:nvPr/>
          </p:nvSpPr>
          <p:spPr>
            <a:xfrm>
              <a:off x="0" y="28575"/>
              <a:ext cx="867155" cy="793992"/>
            </a:xfrm>
            <a:prstGeom prst="rect">
              <a:avLst/>
            </a:prstGeom>
          </p:spPr>
          <p:txBody>
            <a:bodyPr lIns="50800" tIns="50800" rIns="50800" bIns="50800" rtlCol="0" anchor="ctr"/>
            <a:lstStyle/>
            <a:p>
              <a:pPr algn="ctr">
                <a:lnSpc>
                  <a:spcPts val="2499"/>
                </a:lnSpc>
              </a:pPr>
              <a:endParaRPr/>
            </a:p>
          </p:txBody>
        </p:sp>
      </p:grpSp>
      <p:sp>
        <p:nvSpPr>
          <p:cNvPr id="9" name="TextBox 9"/>
          <p:cNvSpPr txBox="1"/>
          <p:nvPr/>
        </p:nvSpPr>
        <p:spPr>
          <a:xfrm>
            <a:off x="1428097" y="5094615"/>
            <a:ext cx="2684761" cy="1425575"/>
          </a:xfrm>
          <a:prstGeom prst="rect">
            <a:avLst/>
          </a:prstGeom>
        </p:spPr>
        <p:txBody>
          <a:bodyPr lIns="0" tIns="0" rIns="0" bIns="0" rtlCol="0" anchor="t">
            <a:spAutoFit/>
          </a:bodyPr>
          <a:lstStyle/>
          <a:p>
            <a:pPr algn="ctr">
              <a:lnSpc>
                <a:spcPts val="2800"/>
              </a:lnSpc>
            </a:pPr>
            <a:r>
              <a:rPr lang="en-US" sz="2000">
                <a:solidFill>
                  <a:srgbClr val="022B3A"/>
                </a:solidFill>
                <a:latin typeface="Poppins"/>
                <a:ea typeface="Poppins"/>
                <a:cs typeface="Poppins"/>
                <a:sym typeface="Poppins"/>
              </a:rPr>
              <a:t>4,499 images </a:t>
            </a:r>
          </a:p>
          <a:p>
            <a:pPr algn="ctr">
              <a:lnSpc>
                <a:spcPts val="2800"/>
              </a:lnSpc>
            </a:pPr>
            <a:r>
              <a:rPr lang="en-US" sz="2000">
                <a:solidFill>
                  <a:srgbClr val="022B3A"/>
                </a:solidFill>
                <a:latin typeface="Poppins"/>
                <a:ea typeface="Poppins"/>
                <a:cs typeface="Poppins"/>
                <a:sym typeface="Poppins"/>
              </a:rPr>
              <a:t>real / fake labels</a:t>
            </a:r>
          </a:p>
          <a:p>
            <a:pPr algn="ctr">
              <a:lnSpc>
                <a:spcPts val="2800"/>
              </a:lnSpc>
            </a:pPr>
            <a:endParaRPr lang="en-US" sz="2000">
              <a:solidFill>
                <a:srgbClr val="022B3A"/>
              </a:solidFill>
              <a:latin typeface="Poppins"/>
              <a:ea typeface="Poppins"/>
              <a:cs typeface="Poppins"/>
              <a:sym typeface="Poppins"/>
            </a:endParaRPr>
          </a:p>
          <a:p>
            <a:pPr marL="0" lvl="0" indent="0" algn="ctr">
              <a:lnSpc>
                <a:spcPts val="2800"/>
              </a:lnSpc>
              <a:spcBef>
                <a:spcPct val="0"/>
              </a:spcBef>
            </a:pPr>
            <a:r>
              <a:rPr lang="en-US" sz="2000">
                <a:solidFill>
                  <a:srgbClr val="022B3A"/>
                </a:solidFill>
                <a:latin typeface="Poppins"/>
                <a:ea typeface="Poppins"/>
                <a:cs typeface="Poppins"/>
                <a:sym typeface="Poppins"/>
              </a:rPr>
              <a:t>low / medium / high</a:t>
            </a:r>
          </a:p>
        </p:txBody>
      </p:sp>
      <p:sp>
        <p:nvSpPr>
          <p:cNvPr id="10" name="TextBox 10"/>
          <p:cNvSpPr txBox="1"/>
          <p:nvPr/>
        </p:nvSpPr>
        <p:spPr>
          <a:xfrm>
            <a:off x="1227800" y="3882764"/>
            <a:ext cx="3103315" cy="10763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22B3A"/>
                </a:solidFill>
                <a:latin typeface="Poppins Bold"/>
                <a:ea typeface="Poppins Bold"/>
                <a:cs typeface="Poppins Bold"/>
                <a:sym typeface="Poppins Bold"/>
              </a:rPr>
              <a:t>Validated manifest</a:t>
            </a:r>
          </a:p>
        </p:txBody>
      </p:sp>
      <p:grpSp>
        <p:nvGrpSpPr>
          <p:cNvPr id="11" name="Group 11"/>
          <p:cNvGrpSpPr/>
          <p:nvPr/>
        </p:nvGrpSpPr>
        <p:grpSpPr>
          <a:xfrm>
            <a:off x="1695427" y="1028700"/>
            <a:ext cx="209921" cy="1002547"/>
            <a:chOff x="0" y="0"/>
            <a:chExt cx="55288" cy="264045"/>
          </a:xfrm>
        </p:grpSpPr>
        <p:sp>
          <p:nvSpPr>
            <p:cNvPr id="12" name="Freeform 12"/>
            <p:cNvSpPr/>
            <p:nvPr/>
          </p:nvSpPr>
          <p:spPr>
            <a:xfrm>
              <a:off x="0" y="0"/>
              <a:ext cx="55288" cy="264045"/>
            </a:xfrm>
            <a:custGeom>
              <a:avLst/>
              <a:gdLst/>
              <a:ahLst/>
              <a:cxnLst/>
              <a:rect l="l" t="t" r="r" b="b"/>
              <a:pathLst>
                <a:path w="55288" h="264045">
                  <a:moveTo>
                    <a:pt x="0" y="0"/>
                  </a:moveTo>
                  <a:lnTo>
                    <a:pt x="55288" y="0"/>
                  </a:lnTo>
                  <a:lnTo>
                    <a:pt x="55288" y="264045"/>
                  </a:lnTo>
                  <a:lnTo>
                    <a:pt x="0" y="264045"/>
                  </a:lnTo>
                  <a:close/>
                </a:path>
              </a:pathLst>
            </a:custGeom>
            <a:solidFill>
              <a:srgbClr val="022B3A"/>
            </a:solidFill>
          </p:spPr>
          <p:txBody>
            <a:bodyPr/>
            <a:lstStyle/>
            <a:p>
              <a:endParaRPr/>
            </a:p>
          </p:txBody>
        </p:sp>
        <p:sp>
          <p:nvSpPr>
            <p:cNvPr id="13" name="TextBox 13"/>
            <p:cNvSpPr txBox="1"/>
            <p:nvPr/>
          </p:nvSpPr>
          <p:spPr>
            <a:xfrm>
              <a:off x="0" y="28575"/>
              <a:ext cx="55288" cy="235470"/>
            </a:xfrm>
            <a:prstGeom prst="rect">
              <a:avLst/>
            </a:prstGeom>
          </p:spPr>
          <p:txBody>
            <a:bodyPr lIns="50800" tIns="50800" rIns="50800" bIns="50800" rtlCol="0" anchor="ctr"/>
            <a:lstStyle/>
            <a:p>
              <a:pPr algn="ctr">
                <a:lnSpc>
                  <a:spcPts val="2499"/>
                </a:lnSpc>
              </a:pPr>
              <a:endParaRPr/>
            </a:p>
          </p:txBody>
        </p:sp>
      </p:grpSp>
      <p:grpSp>
        <p:nvGrpSpPr>
          <p:cNvPr id="14" name="Group 14"/>
          <p:cNvGrpSpPr/>
          <p:nvPr/>
        </p:nvGrpSpPr>
        <p:grpSpPr>
          <a:xfrm>
            <a:off x="5375766" y="3783759"/>
            <a:ext cx="3292478" cy="2632469"/>
            <a:chOff x="0" y="0"/>
            <a:chExt cx="867155" cy="693325"/>
          </a:xfrm>
        </p:grpSpPr>
        <p:sp>
          <p:nvSpPr>
            <p:cNvPr id="15" name="Freeform 15"/>
            <p:cNvSpPr/>
            <p:nvPr/>
          </p:nvSpPr>
          <p:spPr>
            <a:xfrm>
              <a:off x="0" y="0"/>
              <a:ext cx="867155" cy="693325"/>
            </a:xfrm>
            <a:custGeom>
              <a:avLst/>
              <a:gdLst/>
              <a:ahLst/>
              <a:cxnLst/>
              <a:rect l="l" t="t" r="r" b="b"/>
              <a:pathLst>
                <a:path w="867155" h="693325">
                  <a:moveTo>
                    <a:pt x="0" y="0"/>
                  </a:moveTo>
                  <a:lnTo>
                    <a:pt x="867155" y="0"/>
                  </a:lnTo>
                  <a:lnTo>
                    <a:pt x="867155" y="693325"/>
                  </a:lnTo>
                  <a:lnTo>
                    <a:pt x="0" y="693325"/>
                  </a:lnTo>
                  <a:close/>
                </a:path>
              </a:pathLst>
            </a:custGeom>
            <a:solidFill>
              <a:srgbClr val="C2DCFF"/>
            </a:solidFill>
          </p:spPr>
          <p:txBody>
            <a:bodyPr/>
            <a:lstStyle/>
            <a:p>
              <a:endParaRPr/>
            </a:p>
          </p:txBody>
        </p:sp>
        <p:sp>
          <p:nvSpPr>
            <p:cNvPr id="16" name="TextBox 16"/>
            <p:cNvSpPr txBox="1"/>
            <p:nvPr/>
          </p:nvSpPr>
          <p:spPr>
            <a:xfrm>
              <a:off x="0" y="28575"/>
              <a:ext cx="867155" cy="664750"/>
            </a:xfrm>
            <a:prstGeom prst="rect">
              <a:avLst/>
            </a:prstGeom>
          </p:spPr>
          <p:txBody>
            <a:bodyPr lIns="50800" tIns="50800" rIns="50800" bIns="50800" rtlCol="0" anchor="ctr"/>
            <a:lstStyle/>
            <a:p>
              <a:pPr algn="ctr">
                <a:lnSpc>
                  <a:spcPts val="2499"/>
                </a:lnSpc>
              </a:pPr>
              <a:endParaRPr/>
            </a:p>
          </p:txBody>
        </p:sp>
      </p:grpSp>
      <p:sp>
        <p:nvSpPr>
          <p:cNvPr id="17" name="TextBox 17"/>
          <p:cNvSpPr txBox="1"/>
          <p:nvPr/>
        </p:nvSpPr>
        <p:spPr>
          <a:xfrm>
            <a:off x="5434515" y="5094615"/>
            <a:ext cx="3141741" cy="720725"/>
          </a:xfrm>
          <a:prstGeom prst="rect">
            <a:avLst/>
          </a:prstGeom>
        </p:spPr>
        <p:txBody>
          <a:bodyPr lIns="0" tIns="0" rIns="0" bIns="0" rtlCol="0" anchor="t">
            <a:spAutoFit/>
          </a:bodyPr>
          <a:lstStyle/>
          <a:p>
            <a:pPr algn="ctr">
              <a:lnSpc>
                <a:spcPts val="2800"/>
              </a:lnSpc>
            </a:pPr>
            <a:r>
              <a:rPr lang="en-US" sz="2000">
                <a:solidFill>
                  <a:srgbClr val="022B3A"/>
                </a:solidFill>
                <a:latin typeface="Poppins"/>
                <a:ea typeface="Poppins"/>
                <a:cs typeface="Poppins"/>
                <a:sym typeface="Poppins"/>
              </a:rPr>
              <a:t>Effort backbone </a:t>
            </a:r>
          </a:p>
          <a:p>
            <a:pPr marL="0" lvl="0" indent="0" algn="ctr">
              <a:lnSpc>
                <a:spcPts val="2800"/>
              </a:lnSpc>
              <a:spcBef>
                <a:spcPct val="0"/>
              </a:spcBef>
            </a:pPr>
            <a:r>
              <a:rPr lang="en-US" sz="2000">
                <a:solidFill>
                  <a:srgbClr val="022B3A"/>
                </a:solidFill>
                <a:latin typeface="Poppins"/>
                <a:ea typeface="Poppins"/>
                <a:cs typeface="Poppins"/>
                <a:sym typeface="Poppins"/>
              </a:rPr>
              <a:t>224 × 224 preprocessing</a:t>
            </a:r>
          </a:p>
        </p:txBody>
      </p:sp>
      <p:sp>
        <p:nvSpPr>
          <p:cNvPr id="18" name="TextBox 18"/>
          <p:cNvSpPr txBox="1"/>
          <p:nvPr/>
        </p:nvSpPr>
        <p:spPr>
          <a:xfrm>
            <a:off x="5453728" y="4127015"/>
            <a:ext cx="3103315" cy="5429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22B3A"/>
                </a:solidFill>
                <a:latin typeface="Poppins Bold"/>
                <a:ea typeface="Poppins Bold"/>
                <a:cs typeface="Poppins Bold"/>
                <a:sym typeface="Poppins Bold"/>
              </a:rPr>
              <a:t>Effort detector</a:t>
            </a:r>
          </a:p>
        </p:txBody>
      </p:sp>
      <p:grpSp>
        <p:nvGrpSpPr>
          <p:cNvPr id="19" name="Group 19"/>
          <p:cNvGrpSpPr/>
          <p:nvPr/>
        </p:nvGrpSpPr>
        <p:grpSpPr>
          <a:xfrm>
            <a:off x="9576218" y="3783759"/>
            <a:ext cx="3292478" cy="2838463"/>
            <a:chOff x="0" y="0"/>
            <a:chExt cx="867155" cy="747579"/>
          </a:xfrm>
        </p:grpSpPr>
        <p:sp>
          <p:nvSpPr>
            <p:cNvPr id="20" name="Freeform 20"/>
            <p:cNvSpPr/>
            <p:nvPr/>
          </p:nvSpPr>
          <p:spPr>
            <a:xfrm>
              <a:off x="0" y="0"/>
              <a:ext cx="867155" cy="747579"/>
            </a:xfrm>
            <a:custGeom>
              <a:avLst/>
              <a:gdLst/>
              <a:ahLst/>
              <a:cxnLst/>
              <a:rect l="l" t="t" r="r" b="b"/>
              <a:pathLst>
                <a:path w="867155" h="747579">
                  <a:moveTo>
                    <a:pt x="0" y="0"/>
                  </a:moveTo>
                  <a:lnTo>
                    <a:pt x="867155" y="0"/>
                  </a:lnTo>
                  <a:lnTo>
                    <a:pt x="867155" y="747579"/>
                  </a:lnTo>
                  <a:lnTo>
                    <a:pt x="0" y="747579"/>
                  </a:lnTo>
                  <a:close/>
                </a:path>
              </a:pathLst>
            </a:custGeom>
            <a:solidFill>
              <a:srgbClr val="C2DCFF"/>
            </a:solidFill>
          </p:spPr>
          <p:txBody>
            <a:bodyPr/>
            <a:lstStyle/>
            <a:p>
              <a:endParaRPr/>
            </a:p>
          </p:txBody>
        </p:sp>
        <p:sp>
          <p:nvSpPr>
            <p:cNvPr id="21" name="TextBox 21"/>
            <p:cNvSpPr txBox="1"/>
            <p:nvPr/>
          </p:nvSpPr>
          <p:spPr>
            <a:xfrm>
              <a:off x="0" y="28575"/>
              <a:ext cx="867155" cy="719004"/>
            </a:xfrm>
            <a:prstGeom prst="rect">
              <a:avLst/>
            </a:prstGeom>
          </p:spPr>
          <p:txBody>
            <a:bodyPr lIns="50800" tIns="50800" rIns="50800" bIns="50800" rtlCol="0" anchor="ctr"/>
            <a:lstStyle/>
            <a:p>
              <a:pPr algn="ctr">
                <a:lnSpc>
                  <a:spcPts val="2499"/>
                </a:lnSpc>
              </a:pPr>
              <a:endParaRPr/>
            </a:p>
          </p:txBody>
        </p:sp>
      </p:grpSp>
      <p:sp>
        <p:nvSpPr>
          <p:cNvPr id="22" name="TextBox 22"/>
          <p:cNvSpPr txBox="1"/>
          <p:nvPr/>
        </p:nvSpPr>
        <p:spPr>
          <a:xfrm>
            <a:off x="9880076" y="4892414"/>
            <a:ext cx="2684761" cy="142557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22B3A"/>
                </a:solidFill>
                <a:latin typeface="Poppins"/>
                <a:ea typeface="Poppins"/>
                <a:cs typeface="Poppins"/>
                <a:sym typeface="Poppins"/>
              </a:rPr>
              <a:t>Severity-adaptive threshold: 0.5 (low), 0.4 (medium), 0.3 (high)</a:t>
            </a:r>
          </a:p>
        </p:txBody>
      </p:sp>
      <p:sp>
        <p:nvSpPr>
          <p:cNvPr id="23" name="TextBox 23"/>
          <p:cNvSpPr txBox="1"/>
          <p:nvPr/>
        </p:nvSpPr>
        <p:spPr>
          <a:xfrm>
            <a:off x="9670799" y="4149464"/>
            <a:ext cx="3103315" cy="5429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22B3A"/>
                </a:solidFill>
                <a:latin typeface="Poppins Bold"/>
                <a:ea typeface="Poppins Bold"/>
                <a:cs typeface="Poppins Bold"/>
                <a:sym typeface="Poppins Bold"/>
              </a:rPr>
              <a:t>Predictions</a:t>
            </a:r>
          </a:p>
        </p:txBody>
      </p:sp>
      <p:grpSp>
        <p:nvGrpSpPr>
          <p:cNvPr id="24" name="Group 24"/>
          <p:cNvGrpSpPr/>
          <p:nvPr/>
        </p:nvGrpSpPr>
        <p:grpSpPr>
          <a:xfrm>
            <a:off x="13802145" y="4337448"/>
            <a:ext cx="3292478" cy="1766623"/>
            <a:chOff x="0" y="0"/>
            <a:chExt cx="867155" cy="465284"/>
          </a:xfrm>
        </p:grpSpPr>
        <p:sp>
          <p:nvSpPr>
            <p:cNvPr id="25" name="Freeform 25"/>
            <p:cNvSpPr/>
            <p:nvPr/>
          </p:nvSpPr>
          <p:spPr>
            <a:xfrm>
              <a:off x="0" y="0"/>
              <a:ext cx="867155" cy="465284"/>
            </a:xfrm>
            <a:custGeom>
              <a:avLst/>
              <a:gdLst/>
              <a:ahLst/>
              <a:cxnLst/>
              <a:rect l="l" t="t" r="r" b="b"/>
              <a:pathLst>
                <a:path w="867155" h="465284">
                  <a:moveTo>
                    <a:pt x="0" y="0"/>
                  </a:moveTo>
                  <a:lnTo>
                    <a:pt x="867155" y="0"/>
                  </a:lnTo>
                  <a:lnTo>
                    <a:pt x="867155" y="465284"/>
                  </a:lnTo>
                  <a:lnTo>
                    <a:pt x="0" y="465284"/>
                  </a:lnTo>
                  <a:close/>
                </a:path>
              </a:pathLst>
            </a:custGeom>
            <a:solidFill>
              <a:srgbClr val="C2DCFF"/>
            </a:solidFill>
          </p:spPr>
          <p:txBody>
            <a:bodyPr/>
            <a:lstStyle/>
            <a:p>
              <a:endParaRPr/>
            </a:p>
          </p:txBody>
        </p:sp>
        <p:sp>
          <p:nvSpPr>
            <p:cNvPr id="26" name="TextBox 26"/>
            <p:cNvSpPr txBox="1"/>
            <p:nvPr/>
          </p:nvSpPr>
          <p:spPr>
            <a:xfrm>
              <a:off x="0" y="28575"/>
              <a:ext cx="867155" cy="436709"/>
            </a:xfrm>
            <a:prstGeom prst="rect">
              <a:avLst/>
            </a:prstGeom>
          </p:spPr>
          <p:txBody>
            <a:bodyPr lIns="50800" tIns="50800" rIns="50800" bIns="50800" rtlCol="0" anchor="ctr"/>
            <a:lstStyle/>
            <a:p>
              <a:pPr algn="ctr">
                <a:lnSpc>
                  <a:spcPts val="2499"/>
                </a:lnSpc>
              </a:pPr>
              <a:endParaRPr/>
            </a:p>
          </p:txBody>
        </p:sp>
      </p:grpSp>
      <p:sp>
        <p:nvSpPr>
          <p:cNvPr id="27" name="TextBox 27"/>
          <p:cNvSpPr txBox="1"/>
          <p:nvPr/>
        </p:nvSpPr>
        <p:spPr>
          <a:xfrm>
            <a:off x="14106004" y="5072166"/>
            <a:ext cx="2684761" cy="72072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22B3A"/>
                </a:solidFill>
                <a:latin typeface="Poppins"/>
                <a:ea typeface="Poppins"/>
                <a:cs typeface="Poppins"/>
                <a:sym typeface="Poppins"/>
              </a:rPr>
              <a:t>Accuracy ROC-AUC Recall / F1</a:t>
            </a:r>
          </a:p>
        </p:txBody>
      </p:sp>
      <p:sp>
        <p:nvSpPr>
          <p:cNvPr id="28" name="TextBox 28"/>
          <p:cNvSpPr txBox="1"/>
          <p:nvPr/>
        </p:nvSpPr>
        <p:spPr>
          <a:xfrm>
            <a:off x="13891158" y="4355615"/>
            <a:ext cx="3103315" cy="5429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22B3A"/>
                </a:solidFill>
                <a:latin typeface="Poppins Bold"/>
                <a:ea typeface="Poppins Bold"/>
                <a:cs typeface="Poppins Bold"/>
                <a:sym typeface="Poppins Bold"/>
              </a:rPr>
              <a:t>Analysis</a:t>
            </a:r>
          </a:p>
        </p:txBody>
      </p:sp>
      <p:sp>
        <p:nvSpPr>
          <p:cNvPr id="29" name="AutoShape 29"/>
          <p:cNvSpPr/>
          <p:nvPr/>
        </p:nvSpPr>
        <p:spPr>
          <a:xfrm flipV="1">
            <a:off x="4416717" y="5345352"/>
            <a:ext cx="1048079" cy="0"/>
          </a:xfrm>
          <a:prstGeom prst="line">
            <a:avLst/>
          </a:prstGeom>
          <a:ln w="38100" cap="flat">
            <a:solidFill>
              <a:srgbClr val="022B3A"/>
            </a:solidFill>
            <a:prstDash val="solid"/>
            <a:headEnd type="none" w="sm" len="sm"/>
            <a:tailEnd type="triangle" w="lg" len="med"/>
          </a:ln>
        </p:spPr>
        <p:txBody>
          <a:bodyPr/>
          <a:lstStyle/>
          <a:p>
            <a:endParaRPr/>
          </a:p>
        </p:txBody>
      </p:sp>
      <p:sp>
        <p:nvSpPr>
          <p:cNvPr id="30" name="AutoShape 30"/>
          <p:cNvSpPr/>
          <p:nvPr/>
        </p:nvSpPr>
        <p:spPr>
          <a:xfrm>
            <a:off x="8668243" y="5542083"/>
            <a:ext cx="882499" cy="3399"/>
          </a:xfrm>
          <a:prstGeom prst="line">
            <a:avLst/>
          </a:prstGeom>
          <a:ln w="38100" cap="flat">
            <a:solidFill>
              <a:srgbClr val="022B3A"/>
            </a:solidFill>
            <a:prstDash val="solid"/>
            <a:headEnd type="none" w="sm" len="sm"/>
            <a:tailEnd type="triangle" w="lg" len="med"/>
          </a:ln>
        </p:spPr>
        <p:txBody>
          <a:bodyPr/>
          <a:lstStyle/>
          <a:p>
            <a:endParaRPr/>
          </a:p>
        </p:txBody>
      </p:sp>
      <p:sp>
        <p:nvSpPr>
          <p:cNvPr id="31" name="AutoShape 31"/>
          <p:cNvSpPr/>
          <p:nvPr/>
        </p:nvSpPr>
        <p:spPr>
          <a:xfrm>
            <a:off x="12894171" y="5543783"/>
            <a:ext cx="882499" cy="3399"/>
          </a:xfrm>
          <a:prstGeom prst="line">
            <a:avLst/>
          </a:prstGeom>
          <a:ln w="38100" cap="flat">
            <a:solidFill>
              <a:srgbClr val="022B3A"/>
            </a:solidFill>
            <a:prstDash val="solid"/>
            <a:headEnd type="none" w="sm" len="sm"/>
            <a:tailEnd type="triangle" w="lg" len="med"/>
          </a:ln>
        </p:spPr>
        <p:txBody>
          <a:bodyPr/>
          <a:lstStyle/>
          <a:p>
            <a:endParaRPr/>
          </a:p>
        </p:txBody>
      </p:sp>
      <p:sp>
        <p:nvSpPr>
          <p:cNvPr id="32" name="TextBox 32"/>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13</a:t>
            </a:r>
          </a:p>
        </p:txBody>
      </p:sp>
      <p:grpSp>
        <p:nvGrpSpPr>
          <p:cNvPr id="33" name="Group 33"/>
          <p:cNvGrpSpPr/>
          <p:nvPr/>
        </p:nvGrpSpPr>
        <p:grpSpPr>
          <a:xfrm>
            <a:off x="1158808" y="7420809"/>
            <a:ext cx="15970384" cy="1475461"/>
            <a:chOff x="0" y="0"/>
            <a:chExt cx="4206192" cy="388599"/>
          </a:xfrm>
        </p:grpSpPr>
        <p:sp>
          <p:nvSpPr>
            <p:cNvPr id="34" name="Freeform 34"/>
            <p:cNvSpPr/>
            <p:nvPr/>
          </p:nvSpPr>
          <p:spPr>
            <a:xfrm>
              <a:off x="0" y="0"/>
              <a:ext cx="4206192" cy="388599"/>
            </a:xfrm>
            <a:custGeom>
              <a:avLst/>
              <a:gdLst/>
              <a:ahLst/>
              <a:cxnLst/>
              <a:rect l="l" t="t" r="r" b="b"/>
              <a:pathLst>
                <a:path w="4206192" h="388599">
                  <a:moveTo>
                    <a:pt x="0" y="0"/>
                  </a:moveTo>
                  <a:lnTo>
                    <a:pt x="4206192" y="0"/>
                  </a:lnTo>
                  <a:lnTo>
                    <a:pt x="4206192" y="388599"/>
                  </a:lnTo>
                  <a:lnTo>
                    <a:pt x="0" y="388599"/>
                  </a:lnTo>
                  <a:close/>
                </a:path>
              </a:pathLst>
            </a:custGeom>
            <a:solidFill>
              <a:srgbClr val="C2DCFF"/>
            </a:solidFill>
          </p:spPr>
          <p:txBody>
            <a:bodyPr/>
            <a:lstStyle/>
            <a:p>
              <a:endParaRPr/>
            </a:p>
          </p:txBody>
        </p:sp>
        <p:sp>
          <p:nvSpPr>
            <p:cNvPr id="35" name="TextBox 35"/>
            <p:cNvSpPr txBox="1"/>
            <p:nvPr/>
          </p:nvSpPr>
          <p:spPr>
            <a:xfrm>
              <a:off x="0" y="28575"/>
              <a:ext cx="4206192" cy="360024"/>
            </a:xfrm>
            <a:prstGeom prst="rect">
              <a:avLst/>
            </a:prstGeom>
          </p:spPr>
          <p:txBody>
            <a:bodyPr lIns="50800" tIns="50800" rIns="50800" bIns="50800" rtlCol="0" anchor="ctr"/>
            <a:lstStyle/>
            <a:p>
              <a:pPr algn="ctr">
                <a:lnSpc>
                  <a:spcPts val="2499"/>
                </a:lnSpc>
              </a:pPr>
              <a:endParaRPr/>
            </a:p>
          </p:txBody>
        </p:sp>
      </p:grpSp>
      <p:sp>
        <p:nvSpPr>
          <p:cNvPr id="36" name="TextBox 36"/>
          <p:cNvSpPr txBox="1"/>
          <p:nvPr/>
        </p:nvSpPr>
        <p:spPr>
          <a:xfrm>
            <a:off x="1175792" y="7624260"/>
            <a:ext cx="15936416" cy="982835"/>
          </a:xfrm>
          <a:prstGeom prst="rect">
            <a:avLst/>
          </a:prstGeom>
        </p:spPr>
        <p:txBody>
          <a:bodyPr lIns="0" tIns="0" rIns="0" bIns="0" rtlCol="0" anchor="t">
            <a:spAutoFit/>
          </a:bodyPr>
          <a:lstStyle/>
          <a:p>
            <a:pPr marL="0" lvl="0" indent="0" algn="ctr">
              <a:lnSpc>
                <a:spcPts val="3840"/>
              </a:lnSpc>
              <a:spcBef>
                <a:spcPct val="0"/>
              </a:spcBef>
            </a:pPr>
            <a:r>
              <a:rPr lang="en-US" sz="2743">
                <a:solidFill>
                  <a:srgbClr val="022B3A"/>
                </a:solidFill>
                <a:latin typeface="Poppins"/>
                <a:ea typeface="Poppins"/>
                <a:cs typeface="Poppins"/>
                <a:sym typeface="Poppins"/>
              </a:rPr>
              <a:t>The benchmark pipeline processes a validated dataset through the Effort detector, generates predictions, and evaluates performance using standard classification metrics.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2045266" y="5043146"/>
            <a:ext cx="6702035" cy="985278"/>
            <a:chOff x="0" y="0"/>
            <a:chExt cx="1765145" cy="259497"/>
          </a:xfrm>
        </p:grpSpPr>
        <p:sp>
          <p:nvSpPr>
            <p:cNvPr id="3" name="Freeform 3"/>
            <p:cNvSpPr/>
            <p:nvPr/>
          </p:nvSpPr>
          <p:spPr>
            <a:xfrm>
              <a:off x="0" y="0"/>
              <a:ext cx="1765145" cy="259497"/>
            </a:xfrm>
            <a:custGeom>
              <a:avLst/>
              <a:gdLst/>
              <a:ahLst/>
              <a:cxnLst/>
              <a:rect l="l" t="t" r="r" b="b"/>
              <a:pathLst>
                <a:path w="1765145" h="259497">
                  <a:moveTo>
                    <a:pt x="0" y="0"/>
                  </a:moveTo>
                  <a:lnTo>
                    <a:pt x="1765145" y="0"/>
                  </a:lnTo>
                  <a:lnTo>
                    <a:pt x="1765145" y="259497"/>
                  </a:lnTo>
                  <a:lnTo>
                    <a:pt x="0" y="259497"/>
                  </a:lnTo>
                  <a:close/>
                </a:path>
              </a:pathLst>
            </a:custGeom>
            <a:solidFill>
              <a:srgbClr val="C2DCFF"/>
            </a:solidFill>
          </p:spPr>
          <p:txBody>
            <a:bodyPr/>
            <a:lstStyle/>
            <a:p>
              <a:endParaRPr/>
            </a:p>
          </p:txBody>
        </p:sp>
        <p:sp>
          <p:nvSpPr>
            <p:cNvPr id="4" name="TextBox 4"/>
            <p:cNvSpPr txBox="1"/>
            <p:nvPr/>
          </p:nvSpPr>
          <p:spPr>
            <a:xfrm>
              <a:off x="0" y="28575"/>
              <a:ext cx="1765145" cy="230922"/>
            </a:xfrm>
            <a:prstGeom prst="rect">
              <a:avLst/>
            </a:prstGeom>
          </p:spPr>
          <p:txBody>
            <a:bodyPr lIns="50800" tIns="50800" rIns="50800" bIns="50800" rtlCol="0" anchor="ctr"/>
            <a:lstStyle/>
            <a:p>
              <a:pPr algn="ctr">
                <a:lnSpc>
                  <a:spcPts val="2499"/>
                </a:lnSpc>
              </a:pPr>
              <a:endParaRPr/>
            </a:p>
          </p:txBody>
        </p:sp>
      </p:grpSp>
      <p:grpSp>
        <p:nvGrpSpPr>
          <p:cNvPr id="5" name="Group 5"/>
          <p:cNvGrpSpPr/>
          <p:nvPr/>
        </p:nvGrpSpPr>
        <p:grpSpPr>
          <a:xfrm>
            <a:off x="2079835" y="3514793"/>
            <a:ext cx="6702035" cy="1002547"/>
            <a:chOff x="0" y="0"/>
            <a:chExt cx="1765145" cy="264045"/>
          </a:xfrm>
        </p:grpSpPr>
        <p:sp>
          <p:nvSpPr>
            <p:cNvPr id="6" name="Freeform 6"/>
            <p:cNvSpPr/>
            <p:nvPr/>
          </p:nvSpPr>
          <p:spPr>
            <a:xfrm>
              <a:off x="0" y="0"/>
              <a:ext cx="1765145" cy="264045"/>
            </a:xfrm>
            <a:custGeom>
              <a:avLst/>
              <a:gdLst/>
              <a:ahLst/>
              <a:cxnLst/>
              <a:rect l="l" t="t" r="r" b="b"/>
              <a:pathLst>
                <a:path w="1765145" h="264045">
                  <a:moveTo>
                    <a:pt x="0" y="0"/>
                  </a:moveTo>
                  <a:lnTo>
                    <a:pt x="1765145" y="0"/>
                  </a:lnTo>
                  <a:lnTo>
                    <a:pt x="1765145" y="264045"/>
                  </a:lnTo>
                  <a:lnTo>
                    <a:pt x="0" y="264045"/>
                  </a:lnTo>
                  <a:close/>
                </a:path>
              </a:pathLst>
            </a:custGeom>
            <a:solidFill>
              <a:srgbClr val="C2DCFF"/>
            </a:solidFill>
          </p:spPr>
          <p:txBody>
            <a:bodyPr/>
            <a:lstStyle/>
            <a:p>
              <a:endParaRPr/>
            </a:p>
          </p:txBody>
        </p:sp>
        <p:sp>
          <p:nvSpPr>
            <p:cNvPr id="7" name="TextBox 7"/>
            <p:cNvSpPr txBox="1"/>
            <p:nvPr/>
          </p:nvSpPr>
          <p:spPr>
            <a:xfrm>
              <a:off x="0" y="28575"/>
              <a:ext cx="1765145" cy="235470"/>
            </a:xfrm>
            <a:prstGeom prst="rect">
              <a:avLst/>
            </a:prstGeom>
          </p:spPr>
          <p:txBody>
            <a:bodyPr lIns="50800" tIns="50800" rIns="50800" bIns="50800" rtlCol="0" anchor="ctr"/>
            <a:lstStyle/>
            <a:p>
              <a:pPr algn="ctr">
                <a:lnSpc>
                  <a:spcPts val="2499"/>
                </a:lnSpc>
              </a:pPr>
              <a:endParaRPr/>
            </a:p>
          </p:txBody>
        </p:sp>
      </p:grpSp>
      <p:sp>
        <p:nvSpPr>
          <p:cNvPr id="8" name="TextBox 8"/>
          <p:cNvSpPr txBox="1"/>
          <p:nvPr/>
        </p:nvSpPr>
        <p:spPr>
          <a:xfrm>
            <a:off x="2203417" y="3974759"/>
            <a:ext cx="6385733" cy="368300"/>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No observable sensitivity</a:t>
            </a:r>
          </a:p>
        </p:txBody>
      </p:sp>
      <p:sp>
        <p:nvSpPr>
          <p:cNvPr id="9" name="TextBox 9"/>
          <p:cNvSpPr txBox="1"/>
          <p:nvPr/>
        </p:nvSpPr>
        <p:spPr>
          <a:xfrm>
            <a:off x="2168848" y="5573885"/>
            <a:ext cx="6206629" cy="368300"/>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Moderate</a:t>
            </a:r>
            <a:r>
              <a:rPr lang="en-US" sz="2000" u="none">
                <a:solidFill>
                  <a:srgbClr val="022B3A"/>
                </a:solidFill>
                <a:latin typeface="Poppins"/>
                <a:ea typeface="Poppins"/>
                <a:cs typeface="Poppins"/>
                <a:sym typeface="Poppins"/>
              </a:rPr>
              <a:t> public relevance or harm concern.</a:t>
            </a:r>
          </a:p>
        </p:txBody>
      </p:sp>
      <p:sp>
        <p:nvSpPr>
          <p:cNvPr id="10" name="TextBox 10"/>
          <p:cNvSpPr txBox="1"/>
          <p:nvPr/>
        </p:nvSpPr>
        <p:spPr>
          <a:xfrm>
            <a:off x="2203417" y="3473142"/>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Low</a:t>
            </a:r>
          </a:p>
        </p:txBody>
      </p:sp>
      <p:sp>
        <p:nvSpPr>
          <p:cNvPr id="11" name="TextBox 11"/>
          <p:cNvSpPr txBox="1"/>
          <p:nvPr/>
        </p:nvSpPr>
        <p:spPr>
          <a:xfrm>
            <a:off x="2168848" y="4992860"/>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Medium</a:t>
            </a:r>
          </a:p>
        </p:txBody>
      </p:sp>
      <p:grpSp>
        <p:nvGrpSpPr>
          <p:cNvPr id="12" name="Group 12"/>
          <p:cNvGrpSpPr/>
          <p:nvPr/>
        </p:nvGrpSpPr>
        <p:grpSpPr>
          <a:xfrm>
            <a:off x="2079835" y="6728511"/>
            <a:ext cx="6702035" cy="985278"/>
            <a:chOff x="0" y="0"/>
            <a:chExt cx="1765145" cy="259497"/>
          </a:xfrm>
        </p:grpSpPr>
        <p:sp>
          <p:nvSpPr>
            <p:cNvPr id="13" name="Freeform 13"/>
            <p:cNvSpPr/>
            <p:nvPr/>
          </p:nvSpPr>
          <p:spPr>
            <a:xfrm>
              <a:off x="0" y="0"/>
              <a:ext cx="1765145" cy="259497"/>
            </a:xfrm>
            <a:custGeom>
              <a:avLst/>
              <a:gdLst/>
              <a:ahLst/>
              <a:cxnLst/>
              <a:rect l="l" t="t" r="r" b="b"/>
              <a:pathLst>
                <a:path w="1765145" h="259497">
                  <a:moveTo>
                    <a:pt x="0" y="0"/>
                  </a:moveTo>
                  <a:lnTo>
                    <a:pt x="1765145" y="0"/>
                  </a:lnTo>
                  <a:lnTo>
                    <a:pt x="1765145" y="259497"/>
                  </a:lnTo>
                  <a:lnTo>
                    <a:pt x="0" y="259497"/>
                  </a:lnTo>
                  <a:close/>
                </a:path>
              </a:pathLst>
            </a:custGeom>
            <a:solidFill>
              <a:srgbClr val="C2DCFF"/>
            </a:solidFill>
          </p:spPr>
          <p:txBody>
            <a:bodyPr/>
            <a:lstStyle/>
            <a:p>
              <a:endParaRPr/>
            </a:p>
          </p:txBody>
        </p:sp>
        <p:sp>
          <p:nvSpPr>
            <p:cNvPr id="14" name="TextBox 14"/>
            <p:cNvSpPr txBox="1"/>
            <p:nvPr/>
          </p:nvSpPr>
          <p:spPr>
            <a:xfrm>
              <a:off x="0" y="28575"/>
              <a:ext cx="1765145" cy="230922"/>
            </a:xfrm>
            <a:prstGeom prst="rect">
              <a:avLst/>
            </a:prstGeom>
          </p:spPr>
          <p:txBody>
            <a:bodyPr lIns="50800" tIns="50800" rIns="50800" bIns="50800" rtlCol="0" anchor="ctr"/>
            <a:lstStyle/>
            <a:p>
              <a:pPr algn="ctr">
                <a:lnSpc>
                  <a:spcPts val="2499"/>
                </a:lnSpc>
              </a:pPr>
              <a:endParaRPr/>
            </a:p>
          </p:txBody>
        </p:sp>
      </p:grpSp>
      <p:sp>
        <p:nvSpPr>
          <p:cNvPr id="15" name="TextBox 15"/>
          <p:cNvSpPr txBox="1"/>
          <p:nvPr/>
        </p:nvSpPr>
        <p:spPr>
          <a:xfrm>
            <a:off x="2204715" y="7204761"/>
            <a:ext cx="6818601" cy="368300"/>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High public relevance, urgent harm, or vulnerability.</a:t>
            </a:r>
          </a:p>
        </p:txBody>
      </p:sp>
      <p:sp>
        <p:nvSpPr>
          <p:cNvPr id="16" name="TextBox 16"/>
          <p:cNvSpPr txBox="1"/>
          <p:nvPr/>
        </p:nvSpPr>
        <p:spPr>
          <a:xfrm>
            <a:off x="2204715" y="6728511"/>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High</a:t>
            </a:r>
          </a:p>
        </p:txBody>
      </p:sp>
      <p:grpSp>
        <p:nvGrpSpPr>
          <p:cNvPr id="17" name="Group 17"/>
          <p:cNvGrpSpPr/>
          <p:nvPr/>
        </p:nvGrpSpPr>
        <p:grpSpPr>
          <a:xfrm>
            <a:off x="9682348" y="3474764"/>
            <a:ext cx="2024822" cy="1002547"/>
            <a:chOff x="0" y="0"/>
            <a:chExt cx="533286" cy="264045"/>
          </a:xfrm>
        </p:grpSpPr>
        <p:sp>
          <p:nvSpPr>
            <p:cNvPr id="18" name="Freeform 18"/>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19" name="TextBox 19"/>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grpSp>
        <p:nvGrpSpPr>
          <p:cNvPr id="20" name="Group 20"/>
          <p:cNvGrpSpPr/>
          <p:nvPr/>
        </p:nvGrpSpPr>
        <p:grpSpPr>
          <a:xfrm>
            <a:off x="9682348" y="5003118"/>
            <a:ext cx="2024822" cy="1002547"/>
            <a:chOff x="0" y="0"/>
            <a:chExt cx="533286" cy="264045"/>
          </a:xfrm>
        </p:grpSpPr>
        <p:sp>
          <p:nvSpPr>
            <p:cNvPr id="21" name="Freeform 21"/>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22" name="TextBox 22"/>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grpSp>
        <p:nvGrpSpPr>
          <p:cNvPr id="23" name="Group 23"/>
          <p:cNvGrpSpPr/>
          <p:nvPr/>
        </p:nvGrpSpPr>
        <p:grpSpPr>
          <a:xfrm>
            <a:off x="9682348" y="6671213"/>
            <a:ext cx="2024822" cy="1002547"/>
            <a:chOff x="0" y="0"/>
            <a:chExt cx="533286" cy="264045"/>
          </a:xfrm>
        </p:grpSpPr>
        <p:sp>
          <p:nvSpPr>
            <p:cNvPr id="24" name="Freeform 24"/>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25" name="TextBox 25"/>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sp>
        <p:nvSpPr>
          <p:cNvPr id="26" name="TextBox 26"/>
          <p:cNvSpPr txBox="1"/>
          <p:nvPr/>
        </p:nvSpPr>
        <p:spPr>
          <a:xfrm>
            <a:off x="9626850" y="2343561"/>
            <a:ext cx="2068137" cy="5429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22B3A"/>
                </a:solidFill>
                <a:latin typeface="Poppins Bold"/>
                <a:ea typeface="Poppins Bold"/>
                <a:cs typeface="Poppins Bold"/>
                <a:sym typeface="Poppins Bold"/>
              </a:rPr>
              <a:t>Accuracy</a:t>
            </a:r>
          </a:p>
        </p:txBody>
      </p:sp>
      <p:sp>
        <p:nvSpPr>
          <p:cNvPr id="27" name="TextBox 27"/>
          <p:cNvSpPr txBox="1"/>
          <p:nvPr/>
        </p:nvSpPr>
        <p:spPr>
          <a:xfrm>
            <a:off x="9706264" y="3289203"/>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0.711</a:t>
            </a:r>
          </a:p>
        </p:txBody>
      </p:sp>
      <p:sp>
        <p:nvSpPr>
          <p:cNvPr id="28" name="TextBox 28"/>
          <p:cNvSpPr txBox="1"/>
          <p:nvPr/>
        </p:nvSpPr>
        <p:spPr>
          <a:xfrm>
            <a:off x="9569723" y="4812970"/>
            <a:ext cx="2206758"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0.75</a:t>
            </a:r>
          </a:p>
        </p:txBody>
      </p:sp>
      <p:sp>
        <p:nvSpPr>
          <p:cNvPr id="29" name="TextBox 29"/>
          <p:cNvSpPr txBox="1"/>
          <p:nvPr/>
        </p:nvSpPr>
        <p:spPr>
          <a:xfrm>
            <a:off x="9639034" y="6485651"/>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0.88</a:t>
            </a:r>
          </a:p>
        </p:txBody>
      </p:sp>
      <p:grpSp>
        <p:nvGrpSpPr>
          <p:cNvPr id="30" name="Group 30"/>
          <p:cNvGrpSpPr/>
          <p:nvPr/>
        </p:nvGrpSpPr>
        <p:grpSpPr>
          <a:xfrm>
            <a:off x="12424708" y="3501034"/>
            <a:ext cx="2024822" cy="1002547"/>
            <a:chOff x="0" y="0"/>
            <a:chExt cx="533286" cy="264045"/>
          </a:xfrm>
        </p:grpSpPr>
        <p:sp>
          <p:nvSpPr>
            <p:cNvPr id="31" name="Freeform 31"/>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32" name="TextBox 32"/>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grpSp>
        <p:nvGrpSpPr>
          <p:cNvPr id="33" name="Group 33"/>
          <p:cNvGrpSpPr/>
          <p:nvPr/>
        </p:nvGrpSpPr>
        <p:grpSpPr>
          <a:xfrm>
            <a:off x="12424708" y="5029387"/>
            <a:ext cx="2024822" cy="1002547"/>
            <a:chOff x="0" y="0"/>
            <a:chExt cx="533286" cy="264045"/>
          </a:xfrm>
        </p:grpSpPr>
        <p:sp>
          <p:nvSpPr>
            <p:cNvPr id="34" name="Freeform 34"/>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35" name="TextBox 35"/>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grpSp>
        <p:nvGrpSpPr>
          <p:cNvPr id="36" name="Group 36"/>
          <p:cNvGrpSpPr/>
          <p:nvPr/>
        </p:nvGrpSpPr>
        <p:grpSpPr>
          <a:xfrm>
            <a:off x="12424708" y="6697482"/>
            <a:ext cx="2024822" cy="1002547"/>
            <a:chOff x="0" y="0"/>
            <a:chExt cx="533286" cy="264045"/>
          </a:xfrm>
        </p:grpSpPr>
        <p:sp>
          <p:nvSpPr>
            <p:cNvPr id="37" name="Freeform 37"/>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38" name="TextBox 38"/>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sp>
        <p:nvSpPr>
          <p:cNvPr id="39" name="TextBox 39"/>
          <p:cNvSpPr txBox="1"/>
          <p:nvPr/>
        </p:nvSpPr>
        <p:spPr>
          <a:xfrm>
            <a:off x="12247384" y="2341441"/>
            <a:ext cx="2314498" cy="5429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22B3A"/>
                </a:solidFill>
                <a:latin typeface="Poppins Bold"/>
                <a:ea typeface="Poppins Bold"/>
                <a:cs typeface="Poppins Bold"/>
                <a:sym typeface="Poppins Bold"/>
              </a:rPr>
              <a:t>Recall</a:t>
            </a:r>
          </a:p>
        </p:txBody>
      </p:sp>
      <p:sp>
        <p:nvSpPr>
          <p:cNvPr id="40" name="TextBox 40"/>
          <p:cNvSpPr txBox="1"/>
          <p:nvPr/>
        </p:nvSpPr>
        <p:spPr>
          <a:xfrm>
            <a:off x="12381394" y="3324645"/>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0.91</a:t>
            </a:r>
          </a:p>
        </p:txBody>
      </p:sp>
      <p:sp>
        <p:nvSpPr>
          <p:cNvPr id="41" name="TextBox 41"/>
          <p:cNvSpPr txBox="1"/>
          <p:nvPr/>
        </p:nvSpPr>
        <p:spPr>
          <a:xfrm>
            <a:off x="12413880" y="4826556"/>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0.92</a:t>
            </a:r>
          </a:p>
        </p:txBody>
      </p:sp>
      <p:sp>
        <p:nvSpPr>
          <p:cNvPr id="42" name="TextBox 42"/>
          <p:cNvSpPr txBox="1"/>
          <p:nvPr/>
        </p:nvSpPr>
        <p:spPr>
          <a:xfrm>
            <a:off x="12413880" y="6521093"/>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0.97</a:t>
            </a:r>
          </a:p>
        </p:txBody>
      </p:sp>
      <p:grpSp>
        <p:nvGrpSpPr>
          <p:cNvPr id="43" name="Group 43"/>
          <p:cNvGrpSpPr/>
          <p:nvPr/>
        </p:nvGrpSpPr>
        <p:grpSpPr>
          <a:xfrm>
            <a:off x="15167224" y="3514793"/>
            <a:ext cx="2024822" cy="1002547"/>
            <a:chOff x="0" y="0"/>
            <a:chExt cx="533286" cy="264045"/>
          </a:xfrm>
        </p:grpSpPr>
        <p:sp>
          <p:nvSpPr>
            <p:cNvPr id="44" name="Freeform 44"/>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45" name="TextBox 45"/>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grpSp>
        <p:nvGrpSpPr>
          <p:cNvPr id="46" name="Group 46"/>
          <p:cNvGrpSpPr/>
          <p:nvPr/>
        </p:nvGrpSpPr>
        <p:grpSpPr>
          <a:xfrm>
            <a:off x="15167224" y="5043146"/>
            <a:ext cx="2024822" cy="1002547"/>
            <a:chOff x="0" y="0"/>
            <a:chExt cx="533286" cy="264045"/>
          </a:xfrm>
        </p:grpSpPr>
        <p:sp>
          <p:nvSpPr>
            <p:cNvPr id="47" name="Freeform 47"/>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48" name="TextBox 48"/>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grpSp>
        <p:nvGrpSpPr>
          <p:cNvPr id="49" name="Group 49"/>
          <p:cNvGrpSpPr/>
          <p:nvPr/>
        </p:nvGrpSpPr>
        <p:grpSpPr>
          <a:xfrm>
            <a:off x="15167224" y="6711241"/>
            <a:ext cx="2024822" cy="1002547"/>
            <a:chOff x="0" y="0"/>
            <a:chExt cx="533286" cy="264045"/>
          </a:xfrm>
        </p:grpSpPr>
        <p:sp>
          <p:nvSpPr>
            <p:cNvPr id="50" name="Freeform 50"/>
            <p:cNvSpPr/>
            <p:nvPr/>
          </p:nvSpPr>
          <p:spPr>
            <a:xfrm>
              <a:off x="0" y="0"/>
              <a:ext cx="533286" cy="264045"/>
            </a:xfrm>
            <a:custGeom>
              <a:avLst/>
              <a:gdLst/>
              <a:ahLst/>
              <a:cxnLst/>
              <a:rect l="l" t="t" r="r" b="b"/>
              <a:pathLst>
                <a:path w="533286" h="264045">
                  <a:moveTo>
                    <a:pt x="0" y="0"/>
                  </a:moveTo>
                  <a:lnTo>
                    <a:pt x="533286" y="0"/>
                  </a:lnTo>
                  <a:lnTo>
                    <a:pt x="533286" y="264045"/>
                  </a:lnTo>
                  <a:lnTo>
                    <a:pt x="0" y="264045"/>
                  </a:lnTo>
                  <a:close/>
                </a:path>
              </a:pathLst>
            </a:custGeom>
            <a:solidFill>
              <a:srgbClr val="C2DCFF"/>
            </a:solidFill>
          </p:spPr>
          <p:txBody>
            <a:bodyPr/>
            <a:lstStyle/>
            <a:p>
              <a:endParaRPr/>
            </a:p>
          </p:txBody>
        </p:sp>
        <p:sp>
          <p:nvSpPr>
            <p:cNvPr id="51" name="TextBox 51"/>
            <p:cNvSpPr txBox="1"/>
            <p:nvPr/>
          </p:nvSpPr>
          <p:spPr>
            <a:xfrm>
              <a:off x="0" y="28575"/>
              <a:ext cx="533286" cy="235470"/>
            </a:xfrm>
            <a:prstGeom prst="rect">
              <a:avLst/>
            </a:prstGeom>
          </p:spPr>
          <p:txBody>
            <a:bodyPr lIns="50800" tIns="50800" rIns="50800" bIns="50800" rtlCol="0" anchor="ctr"/>
            <a:lstStyle/>
            <a:p>
              <a:pPr algn="ctr">
                <a:lnSpc>
                  <a:spcPts val="2499"/>
                </a:lnSpc>
              </a:pPr>
              <a:endParaRPr/>
            </a:p>
          </p:txBody>
        </p:sp>
      </p:grpSp>
      <p:sp>
        <p:nvSpPr>
          <p:cNvPr id="52" name="TextBox 52"/>
          <p:cNvSpPr txBox="1"/>
          <p:nvPr/>
        </p:nvSpPr>
        <p:spPr>
          <a:xfrm>
            <a:off x="15123857" y="2352734"/>
            <a:ext cx="2068137" cy="542925"/>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22B3A"/>
                </a:solidFill>
                <a:latin typeface="Poppins Bold"/>
                <a:ea typeface="Poppins Bold"/>
                <a:cs typeface="Poppins Bold"/>
                <a:sym typeface="Poppins Bold"/>
              </a:rPr>
              <a:t>F1</a:t>
            </a:r>
          </a:p>
        </p:txBody>
      </p:sp>
      <p:sp>
        <p:nvSpPr>
          <p:cNvPr id="53" name="TextBox 53"/>
          <p:cNvSpPr txBox="1"/>
          <p:nvPr/>
        </p:nvSpPr>
        <p:spPr>
          <a:xfrm>
            <a:off x="15167224" y="3324284"/>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0.76</a:t>
            </a:r>
          </a:p>
        </p:txBody>
      </p:sp>
      <p:sp>
        <p:nvSpPr>
          <p:cNvPr id="54" name="TextBox 54"/>
          <p:cNvSpPr txBox="1"/>
          <p:nvPr/>
        </p:nvSpPr>
        <p:spPr>
          <a:xfrm>
            <a:off x="15167224" y="4871341"/>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0.78</a:t>
            </a:r>
          </a:p>
        </p:txBody>
      </p:sp>
      <p:sp>
        <p:nvSpPr>
          <p:cNvPr id="55" name="TextBox 55"/>
          <p:cNvSpPr txBox="1"/>
          <p:nvPr/>
        </p:nvSpPr>
        <p:spPr>
          <a:xfrm>
            <a:off x="15167224" y="6494824"/>
            <a:ext cx="2046479" cy="1192695"/>
          </a:xfrm>
          <a:prstGeom prst="rect">
            <a:avLst/>
          </a:prstGeom>
        </p:spPr>
        <p:txBody>
          <a:bodyPr lIns="0" tIns="0" rIns="0" bIns="0" rtlCol="0" anchor="t">
            <a:spAutoFit/>
          </a:bodyPr>
          <a:lstStyle/>
          <a:p>
            <a:pPr marL="0" lvl="0" indent="0" algn="ctr">
              <a:lnSpc>
                <a:spcPts val="9335"/>
              </a:lnSpc>
              <a:spcBef>
                <a:spcPct val="0"/>
              </a:spcBef>
            </a:pPr>
            <a:r>
              <a:rPr lang="en-US" sz="6668" b="1">
                <a:solidFill>
                  <a:srgbClr val="022B3A"/>
                </a:solidFill>
                <a:latin typeface="Poppins Bold"/>
                <a:ea typeface="Poppins Bold"/>
                <a:cs typeface="Poppins Bold"/>
                <a:sym typeface="Poppins Bold"/>
              </a:rPr>
              <a:t>0.92</a:t>
            </a:r>
          </a:p>
        </p:txBody>
      </p:sp>
      <p:sp>
        <p:nvSpPr>
          <p:cNvPr id="56" name="TextBox 56"/>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14</a:t>
            </a:r>
          </a:p>
        </p:txBody>
      </p:sp>
      <p:grpSp>
        <p:nvGrpSpPr>
          <p:cNvPr id="57" name="Group 57"/>
          <p:cNvGrpSpPr/>
          <p:nvPr/>
        </p:nvGrpSpPr>
        <p:grpSpPr>
          <a:xfrm>
            <a:off x="1089890" y="475011"/>
            <a:ext cx="5009327" cy="960253"/>
            <a:chOff x="0" y="0"/>
            <a:chExt cx="1319329" cy="252906"/>
          </a:xfrm>
        </p:grpSpPr>
        <p:sp>
          <p:nvSpPr>
            <p:cNvPr id="58" name="Freeform 58"/>
            <p:cNvSpPr/>
            <p:nvPr/>
          </p:nvSpPr>
          <p:spPr>
            <a:xfrm>
              <a:off x="0" y="0"/>
              <a:ext cx="1319329" cy="252906"/>
            </a:xfrm>
            <a:custGeom>
              <a:avLst/>
              <a:gdLst/>
              <a:ahLst/>
              <a:cxnLst/>
              <a:rect l="l" t="t" r="r" b="b"/>
              <a:pathLst>
                <a:path w="1319329" h="252906">
                  <a:moveTo>
                    <a:pt x="0" y="0"/>
                  </a:moveTo>
                  <a:lnTo>
                    <a:pt x="1319329" y="0"/>
                  </a:lnTo>
                  <a:lnTo>
                    <a:pt x="1319329" y="252906"/>
                  </a:lnTo>
                  <a:lnTo>
                    <a:pt x="0" y="252906"/>
                  </a:lnTo>
                  <a:close/>
                </a:path>
              </a:pathLst>
            </a:custGeom>
            <a:solidFill>
              <a:srgbClr val="C2DCFF"/>
            </a:solidFill>
          </p:spPr>
          <p:txBody>
            <a:bodyPr/>
            <a:lstStyle/>
            <a:p>
              <a:endParaRPr/>
            </a:p>
          </p:txBody>
        </p:sp>
        <p:sp>
          <p:nvSpPr>
            <p:cNvPr id="59" name="TextBox 59"/>
            <p:cNvSpPr txBox="1"/>
            <p:nvPr/>
          </p:nvSpPr>
          <p:spPr>
            <a:xfrm>
              <a:off x="0" y="28575"/>
              <a:ext cx="1319329" cy="224331"/>
            </a:xfrm>
            <a:prstGeom prst="rect">
              <a:avLst/>
            </a:prstGeom>
          </p:spPr>
          <p:txBody>
            <a:bodyPr lIns="50800" tIns="50800" rIns="50800" bIns="50800" rtlCol="0" anchor="ctr"/>
            <a:lstStyle/>
            <a:p>
              <a:pPr algn="ctr">
                <a:lnSpc>
                  <a:spcPts val="2499"/>
                </a:lnSpc>
              </a:pPr>
              <a:endParaRPr/>
            </a:p>
          </p:txBody>
        </p:sp>
      </p:grpSp>
      <p:grpSp>
        <p:nvGrpSpPr>
          <p:cNvPr id="60" name="Group 60"/>
          <p:cNvGrpSpPr/>
          <p:nvPr/>
        </p:nvGrpSpPr>
        <p:grpSpPr>
          <a:xfrm>
            <a:off x="759765" y="475011"/>
            <a:ext cx="190207" cy="960253"/>
            <a:chOff x="0" y="0"/>
            <a:chExt cx="50096" cy="252906"/>
          </a:xfrm>
        </p:grpSpPr>
        <p:sp>
          <p:nvSpPr>
            <p:cNvPr id="61" name="Freeform 61"/>
            <p:cNvSpPr/>
            <p:nvPr/>
          </p:nvSpPr>
          <p:spPr>
            <a:xfrm>
              <a:off x="0" y="0"/>
              <a:ext cx="50096" cy="252906"/>
            </a:xfrm>
            <a:custGeom>
              <a:avLst/>
              <a:gdLst/>
              <a:ahLst/>
              <a:cxnLst/>
              <a:rect l="l" t="t" r="r" b="b"/>
              <a:pathLst>
                <a:path w="50096" h="252906">
                  <a:moveTo>
                    <a:pt x="0" y="0"/>
                  </a:moveTo>
                  <a:lnTo>
                    <a:pt x="50096" y="0"/>
                  </a:lnTo>
                  <a:lnTo>
                    <a:pt x="50096" y="252906"/>
                  </a:lnTo>
                  <a:lnTo>
                    <a:pt x="0" y="252906"/>
                  </a:lnTo>
                  <a:close/>
                </a:path>
              </a:pathLst>
            </a:custGeom>
            <a:solidFill>
              <a:srgbClr val="022B3A"/>
            </a:solidFill>
          </p:spPr>
          <p:txBody>
            <a:bodyPr/>
            <a:lstStyle/>
            <a:p>
              <a:endParaRPr/>
            </a:p>
          </p:txBody>
        </p:sp>
        <p:sp>
          <p:nvSpPr>
            <p:cNvPr id="62" name="TextBox 62"/>
            <p:cNvSpPr txBox="1"/>
            <p:nvPr/>
          </p:nvSpPr>
          <p:spPr>
            <a:xfrm>
              <a:off x="0" y="28575"/>
              <a:ext cx="50096" cy="224331"/>
            </a:xfrm>
            <a:prstGeom prst="rect">
              <a:avLst/>
            </a:prstGeom>
          </p:spPr>
          <p:txBody>
            <a:bodyPr lIns="50800" tIns="50800" rIns="50800" bIns="50800" rtlCol="0" anchor="ctr"/>
            <a:lstStyle/>
            <a:p>
              <a:pPr algn="ctr">
                <a:lnSpc>
                  <a:spcPts val="2499"/>
                </a:lnSpc>
              </a:pPr>
              <a:endParaRPr/>
            </a:p>
          </p:txBody>
        </p:sp>
      </p:grpSp>
      <p:sp>
        <p:nvSpPr>
          <p:cNvPr id="63" name="TextBox 63"/>
          <p:cNvSpPr txBox="1"/>
          <p:nvPr/>
        </p:nvSpPr>
        <p:spPr>
          <a:xfrm>
            <a:off x="1213472" y="566710"/>
            <a:ext cx="10120150" cy="1628775"/>
          </a:xfrm>
          <a:prstGeom prst="rect">
            <a:avLst/>
          </a:prstGeom>
        </p:spPr>
        <p:txBody>
          <a:bodyPr lIns="0" tIns="0" rIns="0" bIns="0" rtlCol="0" anchor="t">
            <a:spAutoFit/>
          </a:bodyPr>
          <a:lstStyle/>
          <a:p>
            <a:pPr algn="l">
              <a:lnSpc>
                <a:spcPts val="6000"/>
              </a:lnSpc>
            </a:pPr>
            <a:r>
              <a:rPr lang="en-US" sz="6000" b="1">
                <a:solidFill>
                  <a:srgbClr val="022B3A"/>
                </a:solidFill>
                <a:latin typeface="Poppins Bold"/>
                <a:ea typeface="Poppins Bold"/>
                <a:cs typeface="Poppins Bold"/>
                <a:sym typeface="Poppins Bold"/>
              </a:rPr>
              <a:t>Benchmark</a:t>
            </a:r>
          </a:p>
          <a:p>
            <a:pPr algn="l">
              <a:lnSpc>
                <a:spcPts val="6000"/>
              </a:lnSpc>
            </a:pPr>
            <a:endParaRPr lang="en-US" sz="6000" b="1">
              <a:solidFill>
                <a:srgbClr val="022B3A"/>
              </a:solidFill>
              <a:latin typeface="Poppins Bold"/>
              <a:ea typeface="Poppins Bold"/>
              <a:cs typeface="Poppins Bold"/>
              <a:sym typeface="Poppins Bold"/>
            </a:endParaRPr>
          </a:p>
        </p:txBody>
      </p:sp>
      <p:sp>
        <p:nvSpPr>
          <p:cNvPr id="64" name="TextBox 64"/>
          <p:cNvSpPr txBox="1"/>
          <p:nvPr/>
        </p:nvSpPr>
        <p:spPr>
          <a:xfrm>
            <a:off x="759765" y="1568468"/>
            <a:ext cx="1155859" cy="431798"/>
          </a:xfrm>
          <a:prstGeom prst="rect">
            <a:avLst/>
          </a:prstGeom>
        </p:spPr>
        <p:txBody>
          <a:bodyPr lIns="0" tIns="0" rIns="0" bIns="0" rtlCol="0" anchor="t">
            <a:spAutoFit/>
          </a:bodyPr>
          <a:lstStyle/>
          <a:p>
            <a:pPr algn="ctr">
              <a:lnSpc>
                <a:spcPts val="3500"/>
              </a:lnSpc>
            </a:pPr>
            <a:r>
              <a:rPr lang="en-US" sz="2500" b="1">
                <a:solidFill>
                  <a:srgbClr val="022B3A"/>
                </a:solidFill>
                <a:latin typeface="Open Sans Bold"/>
                <a:ea typeface="Open Sans Bold"/>
                <a:cs typeface="Open Sans Bold"/>
                <a:sym typeface="Open Sans Bold"/>
              </a:rPr>
              <a:t>Results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089890" y="475011"/>
            <a:ext cx="5009327" cy="960253"/>
            <a:chOff x="0" y="0"/>
            <a:chExt cx="1319329" cy="252906"/>
          </a:xfrm>
        </p:grpSpPr>
        <p:sp>
          <p:nvSpPr>
            <p:cNvPr id="3" name="Freeform 3"/>
            <p:cNvSpPr/>
            <p:nvPr/>
          </p:nvSpPr>
          <p:spPr>
            <a:xfrm>
              <a:off x="0" y="0"/>
              <a:ext cx="1319329" cy="252906"/>
            </a:xfrm>
            <a:custGeom>
              <a:avLst/>
              <a:gdLst/>
              <a:ahLst/>
              <a:cxnLst/>
              <a:rect l="l" t="t" r="r" b="b"/>
              <a:pathLst>
                <a:path w="1319329" h="252906">
                  <a:moveTo>
                    <a:pt x="0" y="0"/>
                  </a:moveTo>
                  <a:lnTo>
                    <a:pt x="1319329" y="0"/>
                  </a:lnTo>
                  <a:lnTo>
                    <a:pt x="1319329" y="252906"/>
                  </a:lnTo>
                  <a:lnTo>
                    <a:pt x="0" y="252906"/>
                  </a:lnTo>
                  <a:close/>
                </a:path>
              </a:pathLst>
            </a:custGeom>
            <a:solidFill>
              <a:srgbClr val="C2DCFF"/>
            </a:solidFill>
          </p:spPr>
          <p:txBody>
            <a:bodyPr/>
            <a:lstStyle/>
            <a:p>
              <a:endParaRPr/>
            </a:p>
          </p:txBody>
        </p:sp>
        <p:sp>
          <p:nvSpPr>
            <p:cNvPr id="4" name="TextBox 4"/>
            <p:cNvSpPr txBox="1"/>
            <p:nvPr/>
          </p:nvSpPr>
          <p:spPr>
            <a:xfrm>
              <a:off x="0" y="28575"/>
              <a:ext cx="1319329" cy="224331"/>
            </a:xfrm>
            <a:prstGeom prst="rect">
              <a:avLst/>
            </a:prstGeom>
          </p:spPr>
          <p:txBody>
            <a:bodyPr lIns="50800" tIns="50800" rIns="50800" bIns="50800" rtlCol="0" anchor="ctr"/>
            <a:lstStyle/>
            <a:p>
              <a:pPr algn="ctr">
                <a:lnSpc>
                  <a:spcPts val="2499"/>
                </a:lnSpc>
              </a:pPr>
              <a:endParaRPr/>
            </a:p>
          </p:txBody>
        </p:sp>
      </p:grpSp>
      <p:grpSp>
        <p:nvGrpSpPr>
          <p:cNvPr id="5" name="Group 5"/>
          <p:cNvGrpSpPr/>
          <p:nvPr/>
        </p:nvGrpSpPr>
        <p:grpSpPr>
          <a:xfrm>
            <a:off x="759765" y="475011"/>
            <a:ext cx="190207" cy="960253"/>
            <a:chOff x="0" y="0"/>
            <a:chExt cx="50096" cy="252906"/>
          </a:xfrm>
        </p:grpSpPr>
        <p:sp>
          <p:nvSpPr>
            <p:cNvPr id="6" name="Freeform 6"/>
            <p:cNvSpPr/>
            <p:nvPr/>
          </p:nvSpPr>
          <p:spPr>
            <a:xfrm>
              <a:off x="0" y="0"/>
              <a:ext cx="50096" cy="252906"/>
            </a:xfrm>
            <a:custGeom>
              <a:avLst/>
              <a:gdLst/>
              <a:ahLst/>
              <a:cxnLst/>
              <a:rect l="l" t="t" r="r" b="b"/>
              <a:pathLst>
                <a:path w="50096" h="252906">
                  <a:moveTo>
                    <a:pt x="0" y="0"/>
                  </a:moveTo>
                  <a:lnTo>
                    <a:pt x="50096" y="0"/>
                  </a:lnTo>
                  <a:lnTo>
                    <a:pt x="50096" y="252906"/>
                  </a:lnTo>
                  <a:lnTo>
                    <a:pt x="0" y="252906"/>
                  </a:lnTo>
                  <a:close/>
                </a:path>
              </a:pathLst>
            </a:custGeom>
            <a:solidFill>
              <a:srgbClr val="022B3A"/>
            </a:solidFill>
          </p:spPr>
          <p:txBody>
            <a:bodyPr/>
            <a:lstStyle/>
            <a:p>
              <a:endParaRPr/>
            </a:p>
          </p:txBody>
        </p:sp>
        <p:sp>
          <p:nvSpPr>
            <p:cNvPr id="7" name="TextBox 7"/>
            <p:cNvSpPr txBox="1"/>
            <p:nvPr/>
          </p:nvSpPr>
          <p:spPr>
            <a:xfrm>
              <a:off x="0" y="28575"/>
              <a:ext cx="50096" cy="224331"/>
            </a:xfrm>
            <a:prstGeom prst="rect">
              <a:avLst/>
            </a:prstGeom>
          </p:spPr>
          <p:txBody>
            <a:bodyPr lIns="50800" tIns="50800" rIns="50800" bIns="50800" rtlCol="0" anchor="ctr"/>
            <a:lstStyle/>
            <a:p>
              <a:pPr algn="ctr">
                <a:lnSpc>
                  <a:spcPts val="2499"/>
                </a:lnSpc>
              </a:pPr>
              <a:endParaRPr/>
            </a:p>
          </p:txBody>
        </p:sp>
      </p:grpSp>
      <p:sp>
        <p:nvSpPr>
          <p:cNvPr id="8" name="Freeform 8"/>
          <p:cNvSpPr/>
          <p:nvPr/>
        </p:nvSpPr>
        <p:spPr>
          <a:xfrm>
            <a:off x="260861" y="3617588"/>
            <a:ext cx="5838356" cy="4670685"/>
          </a:xfrm>
          <a:custGeom>
            <a:avLst/>
            <a:gdLst/>
            <a:ahLst/>
            <a:cxnLst/>
            <a:rect l="l" t="t" r="r" b="b"/>
            <a:pathLst>
              <a:path w="5838356" h="4670685">
                <a:moveTo>
                  <a:pt x="0" y="0"/>
                </a:moveTo>
                <a:lnTo>
                  <a:pt x="5838355" y="0"/>
                </a:lnTo>
                <a:lnTo>
                  <a:pt x="5838355" y="4670685"/>
                </a:lnTo>
                <a:lnTo>
                  <a:pt x="0" y="4670685"/>
                </a:lnTo>
                <a:lnTo>
                  <a:pt x="0" y="0"/>
                </a:lnTo>
                <a:close/>
              </a:path>
            </a:pathLst>
          </a:custGeom>
          <a:blipFill>
            <a:blip r:embed="rId2"/>
            <a:stretch>
              <a:fillRect/>
            </a:stretch>
          </a:blipFill>
        </p:spPr>
        <p:txBody>
          <a:bodyPr/>
          <a:lstStyle/>
          <a:p>
            <a:endParaRPr/>
          </a:p>
        </p:txBody>
      </p:sp>
      <p:sp>
        <p:nvSpPr>
          <p:cNvPr id="9" name="Freeform 9"/>
          <p:cNvSpPr/>
          <p:nvPr/>
        </p:nvSpPr>
        <p:spPr>
          <a:xfrm>
            <a:off x="6224822" y="3617588"/>
            <a:ext cx="5838356" cy="4670685"/>
          </a:xfrm>
          <a:custGeom>
            <a:avLst/>
            <a:gdLst/>
            <a:ahLst/>
            <a:cxnLst/>
            <a:rect l="l" t="t" r="r" b="b"/>
            <a:pathLst>
              <a:path w="5838356" h="4670685">
                <a:moveTo>
                  <a:pt x="0" y="0"/>
                </a:moveTo>
                <a:lnTo>
                  <a:pt x="5838356" y="0"/>
                </a:lnTo>
                <a:lnTo>
                  <a:pt x="5838356" y="4670685"/>
                </a:lnTo>
                <a:lnTo>
                  <a:pt x="0" y="4670685"/>
                </a:lnTo>
                <a:lnTo>
                  <a:pt x="0" y="0"/>
                </a:lnTo>
                <a:close/>
              </a:path>
            </a:pathLst>
          </a:custGeom>
          <a:blipFill>
            <a:blip r:embed="rId3"/>
            <a:stretch>
              <a:fillRect/>
            </a:stretch>
          </a:blipFill>
        </p:spPr>
        <p:txBody>
          <a:bodyPr/>
          <a:lstStyle/>
          <a:p>
            <a:endParaRPr/>
          </a:p>
        </p:txBody>
      </p:sp>
      <p:sp>
        <p:nvSpPr>
          <p:cNvPr id="10" name="Freeform 10"/>
          <p:cNvSpPr/>
          <p:nvPr/>
        </p:nvSpPr>
        <p:spPr>
          <a:xfrm>
            <a:off x="12187003" y="3617588"/>
            <a:ext cx="5838356" cy="4670685"/>
          </a:xfrm>
          <a:custGeom>
            <a:avLst/>
            <a:gdLst/>
            <a:ahLst/>
            <a:cxnLst/>
            <a:rect l="l" t="t" r="r" b="b"/>
            <a:pathLst>
              <a:path w="5838356" h="4670685">
                <a:moveTo>
                  <a:pt x="0" y="0"/>
                </a:moveTo>
                <a:lnTo>
                  <a:pt x="5838356" y="0"/>
                </a:lnTo>
                <a:lnTo>
                  <a:pt x="5838356" y="4670685"/>
                </a:lnTo>
                <a:lnTo>
                  <a:pt x="0" y="4670685"/>
                </a:lnTo>
                <a:lnTo>
                  <a:pt x="0" y="0"/>
                </a:lnTo>
                <a:close/>
              </a:path>
            </a:pathLst>
          </a:custGeom>
          <a:blipFill>
            <a:blip r:embed="rId4"/>
            <a:stretch>
              <a:fillRect/>
            </a:stretch>
          </a:blipFill>
        </p:spPr>
        <p:txBody>
          <a:bodyPr/>
          <a:lstStyle/>
          <a:p>
            <a:endParaRPr/>
          </a:p>
        </p:txBody>
      </p:sp>
      <p:sp>
        <p:nvSpPr>
          <p:cNvPr id="11" name="TextBox 11"/>
          <p:cNvSpPr txBox="1"/>
          <p:nvPr/>
        </p:nvSpPr>
        <p:spPr>
          <a:xfrm>
            <a:off x="1213472" y="566710"/>
            <a:ext cx="10120150" cy="1628775"/>
          </a:xfrm>
          <a:prstGeom prst="rect">
            <a:avLst/>
          </a:prstGeom>
        </p:spPr>
        <p:txBody>
          <a:bodyPr lIns="0" tIns="0" rIns="0" bIns="0" rtlCol="0" anchor="t">
            <a:spAutoFit/>
          </a:bodyPr>
          <a:lstStyle/>
          <a:p>
            <a:pPr algn="l">
              <a:lnSpc>
                <a:spcPts val="6000"/>
              </a:lnSpc>
            </a:pPr>
            <a:r>
              <a:rPr lang="en-US" sz="6000" b="1">
                <a:solidFill>
                  <a:srgbClr val="022B3A"/>
                </a:solidFill>
                <a:latin typeface="Poppins Bold"/>
                <a:ea typeface="Poppins Bold"/>
                <a:cs typeface="Poppins Bold"/>
                <a:sym typeface="Poppins Bold"/>
              </a:rPr>
              <a:t>Benchmark</a:t>
            </a:r>
          </a:p>
          <a:p>
            <a:pPr algn="l">
              <a:lnSpc>
                <a:spcPts val="6000"/>
              </a:lnSpc>
            </a:pPr>
            <a:endParaRPr lang="en-US" sz="6000" b="1">
              <a:solidFill>
                <a:srgbClr val="022B3A"/>
              </a:solidFill>
              <a:latin typeface="Poppins Bold"/>
              <a:ea typeface="Poppins Bold"/>
              <a:cs typeface="Poppins Bold"/>
              <a:sym typeface="Poppins Bold"/>
            </a:endParaRPr>
          </a:p>
        </p:txBody>
      </p:sp>
      <p:sp>
        <p:nvSpPr>
          <p:cNvPr id="12" name="TextBox 12"/>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15</a:t>
            </a:r>
          </a:p>
        </p:txBody>
      </p:sp>
      <p:grpSp>
        <p:nvGrpSpPr>
          <p:cNvPr id="13" name="Group 13"/>
          <p:cNvGrpSpPr/>
          <p:nvPr/>
        </p:nvGrpSpPr>
        <p:grpSpPr>
          <a:xfrm>
            <a:off x="261751" y="8478773"/>
            <a:ext cx="17764498" cy="930340"/>
            <a:chOff x="0" y="0"/>
            <a:chExt cx="4678715" cy="245028"/>
          </a:xfrm>
        </p:grpSpPr>
        <p:sp>
          <p:nvSpPr>
            <p:cNvPr id="14" name="Freeform 14"/>
            <p:cNvSpPr/>
            <p:nvPr/>
          </p:nvSpPr>
          <p:spPr>
            <a:xfrm>
              <a:off x="0" y="0"/>
              <a:ext cx="4678716" cy="245028"/>
            </a:xfrm>
            <a:custGeom>
              <a:avLst/>
              <a:gdLst/>
              <a:ahLst/>
              <a:cxnLst/>
              <a:rect l="l" t="t" r="r" b="b"/>
              <a:pathLst>
                <a:path w="4678716" h="245028">
                  <a:moveTo>
                    <a:pt x="0" y="0"/>
                  </a:moveTo>
                  <a:lnTo>
                    <a:pt x="4678716" y="0"/>
                  </a:lnTo>
                  <a:lnTo>
                    <a:pt x="4678716" y="245028"/>
                  </a:lnTo>
                  <a:lnTo>
                    <a:pt x="0" y="245028"/>
                  </a:lnTo>
                  <a:close/>
                </a:path>
              </a:pathLst>
            </a:custGeom>
            <a:solidFill>
              <a:srgbClr val="C2DCFF"/>
            </a:solidFill>
          </p:spPr>
          <p:txBody>
            <a:bodyPr/>
            <a:lstStyle/>
            <a:p>
              <a:endParaRPr/>
            </a:p>
          </p:txBody>
        </p:sp>
        <p:sp>
          <p:nvSpPr>
            <p:cNvPr id="15" name="TextBox 15"/>
            <p:cNvSpPr txBox="1"/>
            <p:nvPr/>
          </p:nvSpPr>
          <p:spPr>
            <a:xfrm>
              <a:off x="0" y="28575"/>
              <a:ext cx="4678715" cy="216453"/>
            </a:xfrm>
            <a:prstGeom prst="rect">
              <a:avLst/>
            </a:prstGeom>
          </p:spPr>
          <p:txBody>
            <a:bodyPr lIns="50800" tIns="50800" rIns="50800" bIns="50800" rtlCol="0" anchor="ctr"/>
            <a:lstStyle/>
            <a:p>
              <a:pPr algn="ctr">
                <a:lnSpc>
                  <a:spcPts val="2499"/>
                </a:lnSpc>
              </a:pPr>
              <a:endParaRPr/>
            </a:p>
          </p:txBody>
        </p:sp>
      </p:grpSp>
      <p:sp>
        <p:nvSpPr>
          <p:cNvPr id="16" name="TextBox 16"/>
          <p:cNvSpPr txBox="1"/>
          <p:nvPr/>
        </p:nvSpPr>
        <p:spPr>
          <a:xfrm>
            <a:off x="799750" y="8537575"/>
            <a:ext cx="16690281" cy="72072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22B3A"/>
                </a:solidFill>
                <a:latin typeface="Poppins"/>
                <a:ea typeface="Poppins"/>
                <a:cs typeface="Poppins"/>
                <a:sym typeface="Poppins"/>
              </a:rPr>
              <a:t>The low presence of false negatives satisfies the policies of the project. The higher severity of the evaluation toward more sensitive images led to a much higher recall and a higher F1.</a:t>
            </a:r>
          </a:p>
        </p:txBody>
      </p:sp>
      <p:sp>
        <p:nvSpPr>
          <p:cNvPr id="17" name="TextBox 17"/>
          <p:cNvSpPr txBox="1"/>
          <p:nvPr/>
        </p:nvSpPr>
        <p:spPr>
          <a:xfrm>
            <a:off x="609600" y="1526963"/>
            <a:ext cx="4269435" cy="431798"/>
          </a:xfrm>
          <a:prstGeom prst="rect">
            <a:avLst/>
          </a:prstGeom>
        </p:spPr>
        <p:txBody>
          <a:bodyPr wrap="square" lIns="0" tIns="0" rIns="0" bIns="0" rtlCol="0" anchor="t">
            <a:spAutoFit/>
          </a:bodyPr>
          <a:lstStyle/>
          <a:p>
            <a:pPr algn="ctr">
              <a:lnSpc>
                <a:spcPts val="3500"/>
              </a:lnSpc>
            </a:pPr>
            <a:r>
              <a:rPr lang="en-US" sz="2500" b="1" dirty="0">
                <a:solidFill>
                  <a:srgbClr val="022B3A"/>
                </a:solidFill>
                <a:latin typeface="Open Sans Bold"/>
                <a:ea typeface="Open Sans Bold"/>
                <a:cs typeface="Open Sans Bold"/>
                <a:sym typeface="Open Sans Bold"/>
              </a:rPr>
              <a:t>Evaluation on Sensitivity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681537" y="3617588"/>
            <a:ext cx="5254520" cy="4670685"/>
          </a:xfrm>
          <a:custGeom>
            <a:avLst/>
            <a:gdLst/>
            <a:ahLst/>
            <a:cxnLst/>
            <a:rect l="l" t="t" r="r" b="b"/>
            <a:pathLst>
              <a:path w="5254520" h="4670685">
                <a:moveTo>
                  <a:pt x="0" y="0"/>
                </a:moveTo>
                <a:lnTo>
                  <a:pt x="5254521" y="0"/>
                </a:lnTo>
                <a:lnTo>
                  <a:pt x="5254521" y="4670685"/>
                </a:lnTo>
                <a:lnTo>
                  <a:pt x="0" y="4670685"/>
                </a:lnTo>
                <a:lnTo>
                  <a:pt x="0" y="0"/>
                </a:lnTo>
                <a:close/>
              </a:path>
            </a:pathLst>
          </a:custGeom>
          <a:blipFill>
            <a:blip r:embed="rId2"/>
            <a:stretch>
              <a:fillRect/>
            </a:stretch>
          </a:blipFill>
        </p:spPr>
        <p:txBody>
          <a:bodyPr/>
          <a:lstStyle/>
          <a:p>
            <a:endParaRPr/>
          </a:p>
        </p:txBody>
      </p:sp>
      <p:sp>
        <p:nvSpPr>
          <p:cNvPr id="3" name="Freeform 3"/>
          <p:cNvSpPr/>
          <p:nvPr/>
        </p:nvSpPr>
        <p:spPr>
          <a:xfrm>
            <a:off x="6595301" y="3617588"/>
            <a:ext cx="5254520" cy="4670685"/>
          </a:xfrm>
          <a:custGeom>
            <a:avLst/>
            <a:gdLst/>
            <a:ahLst/>
            <a:cxnLst/>
            <a:rect l="l" t="t" r="r" b="b"/>
            <a:pathLst>
              <a:path w="5254520" h="4670685">
                <a:moveTo>
                  <a:pt x="0" y="0"/>
                </a:moveTo>
                <a:lnTo>
                  <a:pt x="5254520" y="0"/>
                </a:lnTo>
                <a:lnTo>
                  <a:pt x="5254520" y="4670685"/>
                </a:lnTo>
                <a:lnTo>
                  <a:pt x="0" y="4670685"/>
                </a:lnTo>
                <a:lnTo>
                  <a:pt x="0" y="0"/>
                </a:lnTo>
                <a:close/>
              </a:path>
            </a:pathLst>
          </a:custGeom>
          <a:blipFill>
            <a:blip r:embed="rId3"/>
            <a:stretch>
              <a:fillRect/>
            </a:stretch>
          </a:blipFill>
        </p:spPr>
        <p:txBody>
          <a:bodyPr/>
          <a:lstStyle/>
          <a:p>
            <a:endParaRPr/>
          </a:p>
        </p:txBody>
      </p:sp>
      <p:sp>
        <p:nvSpPr>
          <p:cNvPr id="4" name="Freeform 4"/>
          <p:cNvSpPr/>
          <p:nvPr/>
        </p:nvSpPr>
        <p:spPr>
          <a:xfrm>
            <a:off x="12455819" y="3629288"/>
            <a:ext cx="5228195" cy="4647284"/>
          </a:xfrm>
          <a:custGeom>
            <a:avLst/>
            <a:gdLst/>
            <a:ahLst/>
            <a:cxnLst/>
            <a:rect l="l" t="t" r="r" b="b"/>
            <a:pathLst>
              <a:path w="5228195" h="4647284">
                <a:moveTo>
                  <a:pt x="0" y="0"/>
                </a:moveTo>
                <a:lnTo>
                  <a:pt x="5228195" y="0"/>
                </a:lnTo>
                <a:lnTo>
                  <a:pt x="5228195" y="4647285"/>
                </a:lnTo>
                <a:lnTo>
                  <a:pt x="0" y="4647285"/>
                </a:lnTo>
                <a:lnTo>
                  <a:pt x="0" y="0"/>
                </a:lnTo>
                <a:close/>
              </a:path>
            </a:pathLst>
          </a:custGeom>
          <a:blipFill>
            <a:blip r:embed="rId4"/>
            <a:stretch>
              <a:fillRect/>
            </a:stretch>
          </a:blipFill>
        </p:spPr>
        <p:txBody>
          <a:bodyPr/>
          <a:lstStyle/>
          <a:p>
            <a:endParaRPr/>
          </a:p>
        </p:txBody>
      </p:sp>
      <p:sp>
        <p:nvSpPr>
          <p:cNvPr id="5" name="TextBox 5"/>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16</a:t>
            </a:r>
          </a:p>
        </p:txBody>
      </p:sp>
      <p:grpSp>
        <p:nvGrpSpPr>
          <p:cNvPr id="6" name="Group 6"/>
          <p:cNvGrpSpPr/>
          <p:nvPr/>
        </p:nvGrpSpPr>
        <p:grpSpPr>
          <a:xfrm>
            <a:off x="681537" y="8478773"/>
            <a:ext cx="5254520" cy="1396238"/>
            <a:chOff x="0" y="0"/>
            <a:chExt cx="1383907" cy="367734"/>
          </a:xfrm>
        </p:grpSpPr>
        <p:sp>
          <p:nvSpPr>
            <p:cNvPr id="7" name="Freeform 7"/>
            <p:cNvSpPr/>
            <p:nvPr/>
          </p:nvSpPr>
          <p:spPr>
            <a:xfrm>
              <a:off x="0" y="0"/>
              <a:ext cx="1383907" cy="367734"/>
            </a:xfrm>
            <a:custGeom>
              <a:avLst/>
              <a:gdLst/>
              <a:ahLst/>
              <a:cxnLst/>
              <a:rect l="l" t="t" r="r" b="b"/>
              <a:pathLst>
                <a:path w="1383907" h="367734">
                  <a:moveTo>
                    <a:pt x="0" y="0"/>
                  </a:moveTo>
                  <a:lnTo>
                    <a:pt x="1383907" y="0"/>
                  </a:lnTo>
                  <a:lnTo>
                    <a:pt x="1383907" y="367734"/>
                  </a:lnTo>
                  <a:lnTo>
                    <a:pt x="0" y="367734"/>
                  </a:lnTo>
                  <a:close/>
                </a:path>
              </a:pathLst>
            </a:custGeom>
            <a:solidFill>
              <a:srgbClr val="C2DCFF"/>
            </a:solidFill>
          </p:spPr>
          <p:txBody>
            <a:bodyPr/>
            <a:lstStyle/>
            <a:p>
              <a:endParaRPr/>
            </a:p>
          </p:txBody>
        </p:sp>
        <p:sp>
          <p:nvSpPr>
            <p:cNvPr id="8" name="TextBox 8"/>
            <p:cNvSpPr txBox="1"/>
            <p:nvPr/>
          </p:nvSpPr>
          <p:spPr>
            <a:xfrm>
              <a:off x="0" y="28575"/>
              <a:ext cx="1383907" cy="339159"/>
            </a:xfrm>
            <a:prstGeom prst="rect">
              <a:avLst/>
            </a:prstGeom>
          </p:spPr>
          <p:txBody>
            <a:bodyPr lIns="50800" tIns="50800" rIns="50800" bIns="50800" rtlCol="0" anchor="ctr"/>
            <a:lstStyle/>
            <a:p>
              <a:pPr algn="ctr">
                <a:lnSpc>
                  <a:spcPts val="2499"/>
                </a:lnSpc>
              </a:pPr>
              <a:endParaRPr/>
            </a:p>
          </p:txBody>
        </p:sp>
      </p:grpSp>
      <p:grpSp>
        <p:nvGrpSpPr>
          <p:cNvPr id="9" name="Group 9"/>
          <p:cNvGrpSpPr/>
          <p:nvPr/>
        </p:nvGrpSpPr>
        <p:grpSpPr>
          <a:xfrm>
            <a:off x="1618846" y="2693643"/>
            <a:ext cx="3379902" cy="821006"/>
            <a:chOff x="0" y="0"/>
            <a:chExt cx="890180" cy="216232"/>
          </a:xfrm>
        </p:grpSpPr>
        <p:sp>
          <p:nvSpPr>
            <p:cNvPr id="10" name="Freeform 10"/>
            <p:cNvSpPr/>
            <p:nvPr/>
          </p:nvSpPr>
          <p:spPr>
            <a:xfrm>
              <a:off x="0" y="0"/>
              <a:ext cx="890180" cy="216232"/>
            </a:xfrm>
            <a:custGeom>
              <a:avLst/>
              <a:gdLst/>
              <a:ahLst/>
              <a:cxnLst/>
              <a:rect l="l" t="t" r="r" b="b"/>
              <a:pathLst>
                <a:path w="890180" h="216232">
                  <a:moveTo>
                    <a:pt x="0" y="0"/>
                  </a:moveTo>
                  <a:lnTo>
                    <a:pt x="890180" y="0"/>
                  </a:lnTo>
                  <a:lnTo>
                    <a:pt x="890180" y="216232"/>
                  </a:lnTo>
                  <a:lnTo>
                    <a:pt x="0" y="216232"/>
                  </a:lnTo>
                  <a:close/>
                </a:path>
              </a:pathLst>
            </a:custGeom>
            <a:solidFill>
              <a:srgbClr val="C2DCFF"/>
            </a:solidFill>
          </p:spPr>
          <p:txBody>
            <a:bodyPr/>
            <a:lstStyle/>
            <a:p>
              <a:endParaRPr/>
            </a:p>
          </p:txBody>
        </p:sp>
        <p:sp>
          <p:nvSpPr>
            <p:cNvPr id="11" name="TextBox 11"/>
            <p:cNvSpPr txBox="1"/>
            <p:nvPr/>
          </p:nvSpPr>
          <p:spPr>
            <a:xfrm>
              <a:off x="0" y="28575"/>
              <a:ext cx="890180" cy="187657"/>
            </a:xfrm>
            <a:prstGeom prst="rect">
              <a:avLst/>
            </a:prstGeom>
          </p:spPr>
          <p:txBody>
            <a:bodyPr lIns="50800" tIns="50800" rIns="50800" bIns="50800" rtlCol="0" anchor="ctr"/>
            <a:lstStyle/>
            <a:p>
              <a:pPr algn="ctr">
                <a:lnSpc>
                  <a:spcPts val="2499"/>
                </a:lnSpc>
              </a:pPr>
              <a:endParaRPr/>
            </a:p>
          </p:txBody>
        </p:sp>
      </p:grpSp>
      <p:sp>
        <p:nvSpPr>
          <p:cNvPr id="12" name="TextBox 12"/>
          <p:cNvSpPr txBox="1"/>
          <p:nvPr/>
        </p:nvSpPr>
        <p:spPr>
          <a:xfrm>
            <a:off x="1971059" y="2710446"/>
            <a:ext cx="2675476" cy="72072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22B3A"/>
                </a:solidFill>
                <a:latin typeface="Poppins"/>
                <a:ea typeface="Poppins"/>
                <a:cs typeface="Poppins"/>
                <a:sym typeface="Poppins"/>
              </a:rPr>
              <a:t>General social-media images</a:t>
            </a:r>
          </a:p>
        </p:txBody>
      </p:sp>
      <p:grpSp>
        <p:nvGrpSpPr>
          <p:cNvPr id="13" name="Group 13"/>
          <p:cNvGrpSpPr/>
          <p:nvPr/>
        </p:nvGrpSpPr>
        <p:grpSpPr>
          <a:xfrm>
            <a:off x="7355340" y="2693643"/>
            <a:ext cx="3379902" cy="821006"/>
            <a:chOff x="0" y="0"/>
            <a:chExt cx="890180" cy="216232"/>
          </a:xfrm>
        </p:grpSpPr>
        <p:sp>
          <p:nvSpPr>
            <p:cNvPr id="14" name="Freeform 14"/>
            <p:cNvSpPr/>
            <p:nvPr/>
          </p:nvSpPr>
          <p:spPr>
            <a:xfrm>
              <a:off x="0" y="0"/>
              <a:ext cx="890180" cy="216232"/>
            </a:xfrm>
            <a:custGeom>
              <a:avLst/>
              <a:gdLst/>
              <a:ahLst/>
              <a:cxnLst/>
              <a:rect l="l" t="t" r="r" b="b"/>
              <a:pathLst>
                <a:path w="890180" h="216232">
                  <a:moveTo>
                    <a:pt x="0" y="0"/>
                  </a:moveTo>
                  <a:lnTo>
                    <a:pt x="890180" y="0"/>
                  </a:lnTo>
                  <a:lnTo>
                    <a:pt x="890180" y="216232"/>
                  </a:lnTo>
                  <a:lnTo>
                    <a:pt x="0" y="216232"/>
                  </a:lnTo>
                  <a:close/>
                </a:path>
              </a:pathLst>
            </a:custGeom>
            <a:solidFill>
              <a:srgbClr val="C2DCFF"/>
            </a:solidFill>
          </p:spPr>
          <p:txBody>
            <a:bodyPr/>
            <a:lstStyle/>
            <a:p>
              <a:endParaRPr/>
            </a:p>
          </p:txBody>
        </p:sp>
        <p:sp>
          <p:nvSpPr>
            <p:cNvPr id="15" name="TextBox 15"/>
            <p:cNvSpPr txBox="1"/>
            <p:nvPr/>
          </p:nvSpPr>
          <p:spPr>
            <a:xfrm>
              <a:off x="0" y="28575"/>
              <a:ext cx="890180" cy="187657"/>
            </a:xfrm>
            <a:prstGeom prst="rect">
              <a:avLst/>
            </a:prstGeom>
          </p:spPr>
          <p:txBody>
            <a:bodyPr lIns="50800" tIns="50800" rIns="50800" bIns="50800" rtlCol="0" anchor="ctr"/>
            <a:lstStyle/>
            <a:p>
              <a:pPr algn="ctr">
                <a:lnSpc>
                  <a:spcPts val="2499"/>
                </a:lnSpc>
              </a:pPr>
              <a:endParaRPr/>
            </a:p>
          </p:txBody>
        </p:sp>
      </p:grpSp>
      <p:sp>
        <p:nvSpPr>
          <p:cNvPr id="16" name="TextBox 16"/>
          <p:cNvSpPr txBox="1"/>
          <p:nvPr/>
        </p:nvSpPr>
        <p:spPr>
          <a:xfrm>
            <a:off x="7496277" y="2886658"/>
            <a:ext cx="3098028" cy="368300"/>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22B3A"/>
                </a:solidFill>
                <a:latin typeface="Poppins"/>
                <a:ea typeface="Poppins"/>
                <a:cs typeface="Poppins"/>
                <a:sym typeface="Poppins"/>
              </a:rPr>
              <a:t>Human-centric news</a:t>
            </a:r>
          </a:p>
        </p:txBody>
      </p:sp>
      <p:grpSp>
        <p:nvGrpSpPr>
          <p:cNvPr id="17" name="Group 17"/>
          <p:cNvGrpSpPr/>
          <p:nvPr/>
        </p:nvGrpSpPr>
        <p:grpSpPr>
          <a:xfrm>
            <a:off x="13366803" y="2610165"/>
            <a:ext cx="3379902" cy="821006"/>
            <a:chOff x="0" y="0"/>
            <a:chExt cx="890180" cy="216232"/>
          </a:xfrm>
        </p:grpSpPr>
        <p:sp>
          <p:nvSpPr>
            <p:cNvPr id="18" name="Freeform 18"/>
            <p:cNvSpPr/>
            <p:nvPr/>
          </p:nvSpPr>
          <p:spPr>
            <a:xfrm>
              <a:off x="0" y="0"/>
              <a:ext cx="890180" cy="216232"/>
            </a:xfrm>
            <a:custGeom>
              <a:avLst/>
              <a:gdLst/>
              <a:ahLst/>
              <a:cxnLst/>
              <a:rect l="l" t="t" r="r" b="b"/>
              <a:pathLst>
                <a:path w="890180" h="216232">
                  <a:moveTo>
                    <a:pt x="0" y="0"/>
                  </a:moveTo>
                  <a:lnTo>
                    <a:pt x="890180" y="0"/>
                  </a:lnTo>
                  <a:lnTo>
                    <a:pt x="890180" y="216232"/>
                  </a:lnTo>
                  <a:lnTo>
                    <a:pt x="0" y="216232"/>
                  </a:lnTo>
                  <a:close/>
                </a:path>
              </a:pathLst>
            </a:custGeom>
            <a:solidFill>
              <a:srgbClr val="C2DCFF"/>
            </a:solidFill>
          </p:spPr>
          <p:txBody>
            <a:bodyPr/>
            <a:lstStyle/>
            <a:p>
              <a:endParaRPr/>
            </a:p>
          </p:txBody>
        </p:sp>
        <p:sp>
          <p:nvSpPr>
            <p:cNvPr id="19" name="TextBox 19"/>
            <p:cNvSpPr txBox="1"/>
            <p:nvPr/>
          </p:nvSpPr>
          <p:spPr>
            <a:xfrm>
              <a:off x="0" y="28575"/>
              <a:ext cx="890180" cy="187657"/>
            </a:xfrm>
            <a:prstGeom prst="rect">
              <a:avLst/>
            </a:prstGeom>
          </p:spPr>
          <p:txBody>
            <a:bodyPr lIns="50800" tIns="50800" rIns="50800" bIns="50800" rtlCol="0" anchor="ctr"/>
            <a:lstStyle/>
            <a:p>
              <a:pPr algn="ctr">
                <a:lnSpc>
                  <a:spcPts val="2499"/>
                </a:lnSpc>
              </a:pPr>
              <a:endParaRPr/>
            </a:p>
          </p:txBody>
        </p:sp>
      </p:grpSp>
      <p:sp>
        <p:nvSpPr>
          <p:cNvPr id="20" name="TextBox 20"/>
          <p:cNvSpPr txBox="1"/>
          <p:nvPr/>
        </p:nvSpPr>
        <p:spPr>
          <a:xfrm>
            <a:off x="13719016" y="2626968"/>
            <a:ext cx="2675476" cy="72072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22B3A"/>
                </a:solidFill>
                <a:latin typeface="Poppins"/>
                <a:ea typeface="Poppins"/>
                <a:cs typeface="Poppins"/>
                <a:sym typeface="Poppins"/>
              </a:rPr>
              <a:t>Politically/socially salient images</a:t>
            </a:r>
          </a:p>
        </p:txBody>
      </p:sp>
      <p:sp>
        <p:nvSpPr>
          <p:cNvPr id="21" name="TextBox 21"/>
          <p:cNvSpPr txBox="1"/>
          <p:nvPr/>
        </p:nvSpPr>
        <p:spPr>
          <a:xfrm>
            <a:off x="727919" y="8606980"/>
            <a:ext cx="5161758" cy="1073150"/>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22B3A"/>
                </a:solidFill>
                <a:latin typeface="Poppins"/>
                <a:ea typeface="Poppins"/>
                <a:cs typeface="Poppins"/>
                <a:sym typeface="Poppins"/>
              </a:rPr>
              <a:t>A higher than normal percentage of false positives satisfies the policies of the project.</a:t>
            </a:r>
          </a:p>
        </p:txBody>
      </p:sp>
      <p:grpSp>
        <p:nvGrpSpPr>
          <p:cNvPr id="22" name="Group 22"/>
          <p:cNvGrpSpPr/>
          <p:nvPr/>
        </p:nvGrpSpPr>
        <p:grpSpPr>
          <a:xfrm>
            <a:off x="6595301" y="8478773"/>
            <a:ext cx="5254520" cy="1396238"/>
            <a:chOff x="0" y="0"/>
            <a:chExt cx="1383907" cy="367734"/>
          </a:xfrm>
        </p:grpSpPr>
        <p:sp>
          <p:nvSpPr>
            <p:cNvPr id="23" name="Freeform 23"/>
            <p:cNvSpPr/>
            <p:nvPr/>
          </p:nvSpPr>
          <p:spPr>
            <a:xfrm>
              <a:off x="0" y="0"/>
              <a:ext cx="1383907" cy="367734"/>
            </a:xfrm>
            <a:custGeom>
              <a:avLst/>
              <a:gdLst/>
              <a:ahLst/>
              <a:cxnLst/>
              <a:rect l="l" t="t" r="r" b="b"/>
              <a:pathLst>
                <a:path w="1383907" h="367734">
                  <a:moveTo>
                    <a:pt x="0" y="0"/>
                  </a:moveTo>
                  <a:lnTo>
                    <a:pt x="1383907" y="0"/>
                  </a:lnTo>
                  <a:lnTo>
                    <a:pt x="1383907" y="367734"/>
                  </a:lnTo>
                  <a:lnTo>
                    <a:pt x="0" y="367734"/>
                  </a:lnTo>
                  <a:close/>
                </a:path>
              </a:pathLst>
            </a:custGeom>
            <a:solidFill>
              <a:srgbClr val="C2DCFF"/>
            </a:solidFill>
          </p:spPr>
          <p:txBody>
            <a:bodyPr/>
            <a:lstStyle/>
            <a:p>
              <a:endParaRPr/>
            </a:p>
          </p:txBody>
        </p:sp>
        <p:sp>
          <p:nvSpPr>
            <p:cNvPr id="24" name="TextBox 24"/>
            <p:cNvSpPr txBox="1"/>
            <p:nvPr/>
          </p:nvSpPr>
          <p:spPr>
            <a:xfrm>
              <a:off x="0" y="28575"/>
              <a:ext cx="1383907" cy="339159"/>
            </a:xfrm>
            <a:prstGeom prst="rect">
              <a:avLst/>
            </a:prstGeom>
          </p:spPr>
          <p:txBody>
            <a:bodyPr lIns="50800" tIns="50800" rIns="50800" bIns="50800" rtlCol="0" anchor="ctr"/>
            <a:lstStyle/>
            <a:p>
              <a:pPr algn="ctr">
                <a:lnSpc>
                  <a:spcPts val="2499"/>
                </a:lnSpc>
              </a:pPr>
              <a:endParaRPr/>
            </a:p>
          </p:txBody>
        </p:sp>
      </p:grpSp>
      <p:sp>
        <p:nvSpPr>
          <p:cNvPr id="25" name="TextBox 25"/>
          <p:cNvSpPr txBox="1"/>
          <p:nvPr/>
        </p:nvSpPr>
        <p:spPr>
          <a:xfrm>
            <a:off x="6621626" y="8625649"/>
            <a:ext cx="5228195" cy="1073150"/>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22B3A"/>
                </a:solidFill>
                <a:latin typeface="Poppins"/>
                <a:ea typeface="Poppins"/>
                <a:cs typeface="Poppins"/>
                <a:sym typeface="Poppins"/>
              </a:rPr>
              <a:t>A higher percentage of images representing humans led to an exceedingly severe evaluation</a:t>
            </a:r>
          </a:p>
        </p:txBody>
      </p:sp>
      <p:grpSp>
        <p:nvGrpSpPr>
          <p:cNvPr id="26" name="Group 26"/>
          <p:cNvGrpSpPr/>
          <p:nvPr/>
        </p:nvGrpSpPr>
        <p:grpSpPr>
          <a:xfrm>
            <a:off x="12442657" y="8497442"/>
            <a:ext cx="5254520" cy="1396238"/>
            <a:chOff x="0" y="0"/>
            <a:chExt cx="1383907" cy="367734"/>
          </a:xfrm>
        </p:grpSpPr>
        <p:sp>
          <p:nvSpPr>
            <p:cNvPr id="27" name="Freeform 27"/>
            <p:cNvSpPr/>
            <p:nvPr/>
          </p:nvSpPr>
          <p:spPr>
            <a:xfrm>
              <a:off x="0" y="0"/>
              <a:ext cx="1383907" cy="367734"/>
            </a:xfrm>
            <a:custGeom>
              <a:avLst/>
              <a:gdLst/>
              <a:ahLst/>
              <a:cxnLst/>
              <a:rect l="l" t="t" r="r" b="b"/>
              <a:pathLst>
                <a:path w="1383907" h="367734">
                  <a:moveTo>
                    <a:pt x="0" y="0"/>
                  </a:moveTo>
                  <a:lnTo>
                    <a:pt x="1383907" y="0"/>
                  </a:lnTo>
                  <a:lnTo>
                    <a:pt x="1383907" y="367734"/>
                  </a:lnTo>
                  <a:lnTo>
                    <a:pt x="0" y="367734"/>
                  </a:lnTo>
                  <a:close/>
                </a:path>
              </a:pathLst>
            </a:custGeom>
            <a:solidFill>
              <a:srgbClr val="C2DCFF"/>
            </a:solidFill>
          </p:spPr>
          <p:txBody>
            <a:bodyPr/>
            <a:lstStyle/>
            <a:p>
              <a:endParaRPr/>
            </a:p>
          </p:txBody>
        </p:sp>
        <p:sp>
          <p:nvSpPr>
            <p:cNvPr id="28" name="TextBox 28"/>
            <p:cNvSpPr txBox="1"/>
            <p:nvPr/>
          </p:nvSpPr>
          <p:spPr>
            <a:xfrm>
              <a:off x="0" y="28575"/>
              <a:ext cx="1383907" cy="339159"/>
            </a:xfrm>
            <a:prstGeom prst="rect">
              <a:avLst/>
            </a:prstGeom>
          </p:spPr>
          <p:txBody>
            <a:bodyPr lIns="50800" tIns="50800" rIns="50800" bIns="50800" rtlCol="0" anchor="ctr"/>
            <a:lstStyle/>
            <a:p>
              <a:pPr algn="ctr">
                <a:lnSpc>
                  <a:spcPts val="2499"/>
                </a:lnSpc>
              </a:pPr>
              <a:endParaRPr/>
            </a:p>
          </p:txBody>
        </p:sp>
      </p:grpSp>
      <p:sp>
        <p:nvSpPr>
          <p:cNvPr id="29" name="TextBox 29"/>
          <p:cNvSpPr txBox="1"/>
          <p:nvPr/>
        </p:nvSpPr>
        <p:spPr>
          <a:xfrm>
            <a:off x="12601527" y="8468106"/>
            <a:ext cx="4936780" cy="142557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22B3A"/>
                </a:solidFill>
                <a:latin typeface="Poppins"/>
                <a:ea typeface="Poppins"/>
                <a:cs typeface="Poppins"/>
                <a:sym typeface="Poppins"/>
              </a:rPr>
              <a:t>Even with more modern image generator, the readable sensitivity of the images made the results more consistent</a:t>
            </a:r>
          </a:p>
        </p:txBody>
      </p:sp>
      <p:grpSp>
        <p:nvGrpSpPr>
          <p:cNvPr id="30" name="Group 30"/>
          <p:cNvGrpSpPr/>
          <p:nvPr/>
        </p:nvGrpSpPr>
        <p:grpSpPr>
          <a:xfrm>
            <a:off x="1089890" y="475011"/>
            <a:ext cx="5009327" cy="960253"/>
            <a:chOff x="0" y="0"/>
            <a:chExt cx="1319329" cy="252906"/>
          </a:xfrm>
        </p:grpSpPr>
        <p:sp>
          <p:nvSpPr>
            <p:cNvPr id="31" name="Freeform 31"/>
            <p:cNvSpPr/>
            <p:nvPr/>
          </p:nvSpPr>
          <p:spPr>
            <a:xfrm>
              <a:off x="0" y="0"/>
              <a:ext cx="1319329" cy="252906"/>
            </a:xfrm>
            <a:custGeom>
              <a:avLst/>
              <a:gdLst/>
              <a:ahLst/>
              <a:cxnLst/>
              <a:rect l="l" t="t" r="r" b="b"/>
              <a:pathLst>
                <a:path w="1319329" h="252906">
                  <a:moveTo>
                    <a:pt x="0" y="0"/>
                  </a:moveTo>
                  <a:lnTo>
                    <a:pt x="1319329" y="0"/>
                  </a:lnTo>
                  <a:lnTo>
                    <a:pt x="1319329" y="252906"/>
                  </a:lnTo>
                  <a:lnTo>
                    <a:pt x="0" y="252906"/>
                  </a:lnTo>
                  <a:close/>
                </a:path>
              </a:pathLst>
            </a:custGeom>
            <a:solidFill>
              <a:srgbClr val="C2DCFF"/>
            </a:solidFill>
          </p:spPr>
          <p:txBody>
            <a:bodyPr/>
            <a:lstStyle/>
            <a:p>
              <a:endParaRPr/>
            </a:p>
          </p:txBody>
        </p:sp>
        <p:sp>
          <p:nvSpPr>
            <p:cNvPr id="32" name="TextBox 32"/>
            <p:cNvSpPr txBox="1"/>
            <p:nvPr/>
          </p:nvSpPr>
          <p:spPr>
            <a:xfrm>
              <a:off x="0" y="28575"/>
              <a:ext cx="1319329" cy="224331"/>
            </a:xfrm>
            <a:prstGeom prst="rect">
              <a:avLst/>
            </a:prstGeom>
          </p:spPr>
          <p:txBody>
            <a:bodyPr lIns="50800" tIns="50800" rIns="50800" bIns="50800" rtlCol="0" anchor="ctr"/>
            <a:lstStyle/>
            <a:p>
              <a:pPr algn="ctr">
                <a:lnSpc>
                  <a:spcPts val="2499"/>
                </a:lnSpc>
              </a:pPr>
              <a:endParaRPr/>
            </a:p>
          </p:txBody>
        </p:sp>
      </p:grpSp>
      <p:grpSp>
        <p:nvGrpSpPr>
          <p:cNvPr id="33" name="Group 33"/>
          <p:cNvGrpSpPr/>
          <p:nvPr/>
        </p:nvGrpSpPr>
        <p:grpSpPr>
          <a:xfrm>
            <a:off x="759765" y="475011"/>
            <a:ext cx="190207" cy="960253"/>
            <a:chOff x="0" y="0"/>
            <a:chExt cx="50096" cy="252906"/>
          </a:xfrm>
        </p:grpSpPr>
        <p:sp>
          <p:nvSpPr>
            <p:cNvPr id="34" name="Freeform 34"/>
            <p:cNvSpPr/>
            <p:nvPr/>
          </p:nvSpPr>
          <p:spPr>
            <a:xfrm>
              <a:off x="0" y="0"/>
              <a:ext cx="50096" cy="252906"/>
            </a:xfrm>
            <a:custGeom>
              <a:avLst/>
              <a:gdLst/>
              <a:ahLst/>
              <a:cxnLst/>
              <a:rect l="l" t="t" r="r" b="b"/>
              <a:pathLst>
                <a:path w="50096" h="252906">
                  <a:moveTo>
                    <a:pt x="0" y="0"/>
                  </a:moveTo>
                  <a:lnTo>
                    <a:pt x="50096" y="0"/>
                  </a:lnTo>
                  <a:lnTo>
                    <a:pt x="50096" y="252906"/>
                  </a:lnTo>
                  <a:lnTo>
                    <a:pt x="0" y="252906"/>
                  </a:lnTo>
                  <a:close/>
                </a:path>
              </a:pathLst>
            </a:custGeom>
            <a:solidFill>
              <a:srgbClr val="022B3A"/>
            </a:solidFill>
          </p:spPr>
          <p:txBody>
            <a:bodyPr/>
            <a:lstStyle/>
            <a:p>
              <a:endParaRPr/>
            </a:p>
          </p:txBody>
        </p:sp>
        <p:sp>
          <p:nvSpPr>
            <p:cNvPr id="35" name="TextBox 35"/>
            <p:cNvSpPr txBox="1"/>
            <p:nvPr/>
          </p:nvSpPr>
          <p:spPr>
            <a:xfrm>
              <a:off x="0" y="28575"/>
              <a:ext cx="50096" cy="224331"/>
            </a:xfrm>
            <a:prstGeom prst="rect">
              <a:avLst/>
            </a:prstGeom>
          </p:spPr>
          <p:txBody>
            <a:bodyPr lIns="50800" tIns="50800" rIns="50800" bIns="50800" rtlCol="0" anchor="ctr"/>
            <a:lstStyle/>
            <a:p>
              <a:pPr algn="ctr">
                <a:lnSpc>
                  <a:spcPts val="2499"/>
                </a:lnSpc>
              </a:pPr>
              <a:endParaRPr/>
            </a:p>
          </p:txBody>
        </p:sp>
      </p:grpSp>
      <p:sp>
        <p:nvSpPr>
          <p:cNvPr id="36" name="TextBox 36"/>
          <p:cNvSpPr txBox="1"/>
          <p:nvPr/>
        </p:nvSpPr>
        <p:spPr>
          <a:xfrm>
            <a:off x="1213472" y="566710"/>
            <a:ext cx="10120150" cy="1628775"/>
          </a:xfrm>
          <a:prstGeom prst="rect">
            <a:avLst/>
          </a:prstGeom>
        </p:spPr>
        <p:txBody>
          <a:bodyPr lIns="0" tIns="0" rIns="0" bIns="0" rtlCol="0" anchor="t">
            <a:spAutoFit/>
          </a:bodyPr>
          <a:lstStyle/>
          <a:p>
            <a:pPr algn="l">
              <a:lnSpc>
                <a:spcPts val="6000"/>
              </a:lnSpc>
            </a:pPr>
            <a:r>
              <a:rPr lang="en-US" sz="6000" b="1">
                <a:solidFill>
                  <a:srgbClr val="022B3A"/>
                </a:solidFill>
                <a:latin typeface="Poppins Bold"/>
                <a:ea typeface="Poppins Bold"/>
                <a:cs typeface="Poppins Bold"/>
                <a:sym typeface="Poppins Bold"/>
              </a:rPr>
              <a:t>Benchmark</a:t>
            </a:r>
          </a:p>
          <a:p>
            <a:pPr algn="l">
              <a:lnSpc>
                <a:spcPts val="6000"/>
              </a:lnSpc>
            </a:pPr>
            <a:endParaRPr lang="en-US" sz="6000" b="1">
              <a:solidFill>
                <a:srgbClr val="022B3A"/>
              </a:solidFill>
              <a:latin typeface="Poppins Bold"/>
              <a:ea typeface="Poppins Bold"/>
              <a:cs typeface="Poppins Bold"/>
              <a:sym typeface="Poppins Bold"/>
            </a:endParaRPr>
          </a:p>
        </p:txBody>
      </p:sp>
      <p:sp>
        <p:nvSpPr>
          <p:cNvPr id="37" name="TextBox 37"/>
          <p:cNvSpPr txBox="1"/>
          <p:nvPr/>
        </p:nvSpPr>
        <p:spPr>
          <a:xfrm>
            <a:off x="381000" y="1522692"/>
            <a:ext cx="3886770" cy="431798"/>
          </a:xfrm>
          <a:prstGeom prst="rect">
            <a:avLst/>
          </a:prstGeom>
        </p:spPr>
        <p:txBody>
          <a:bodyPr wrap="square" lIns="0" tIns="0" rIns="0" bIns="0" rtlCol="0" anchor="t">
            <a:spAutoFit/>
          </a:bodyPr>
          <a:lstStyle/>
          <a:p>
            <a:pPr algn="ctr">
              <a:lnSpc>
                <a:spcPts val="3500"/>
              </a:lnSpc>
            </a:pPr>
            <a:r>
              <a:rPr lang="en-US" sz="2500" b="1" dirty="0">
                <a:solidFill>
                  <a:srgbClr val="022B3A"/>
                </a:solidFill>
                <a:latin typeface="Open Sans Bold"/>
                <a:ea typeface="Open Sans Bold"/>
                <a:cs typeface="Open Sans Bold"/>
                <a:sym typeface="Open Sans Bold"/>
              </a:rPr>
              <a:t>Evaluation on Origin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89890" y="475011"/>
            <a:ext cx="5009327" cy="960253"/>
            <a:chOff x="0" y="0"/>
            <a:chExt cx="1319329" cy="252906"/>
          </a:xfrm>
        </p:grpSpPr>
        <p:sp>
          <p:nvSpPr>
            <p:cNvPr id="3" name="Freeform 3"/>
            <p:cNvSpPr/>
            <p:nvPr/>
          </p:nvSpPr>
          <p:spPr>
            <a:xfrm>
              <a:off x="0" y="0"/>
              <a:ext cx="1319329" cy="252906"/>
            </a:xfrm>
            <a:custGeom>
              <a:avLst/>
              <a:gdLst/>
              <a:ahLst/>
              <a:cxnLst/>
              <a:rect l="l" t="t" r="r" b="b"/>
              <a:pathLst>
                <a:path w="1319329" h="252906">
                  <a:moveTo>
                    <a:pt x="0" y="0"/>
                  </a:moveTo>
                  <a:lnTo>
                    <a:pt x="1319329" y="0"/>
                  </a:lnTo>
                  <a:lnTo>
                    <a:pt x="1319329" y="252906"/>
                  </a:lnTo>
                  <a:lnTo>
                    <a:pt x="0" y="252906"/>
                  </a:lnTo>
                  <a:close/>
                </a:path>
              </a:pathLst>
            </a:custGeom>
            <a:solidFill>
              <a:srgbClr val="C2DCFF"/>
            </a:solidFill>
          </p:spPr>
        </p:sp>
        <p:sp>
          <p:nvSpPr>
            <p:cNvPr id="4" name="TextBox 4"/>
            <p:cNvSpPr txBox="1"/>
            <p:nvPr/>
          </p:nvSpPr>
          <p:spPr>
            <a:xfrm>
              <a:off x="0" y="28575"/>
              <a:ext cx="1319329" cy="224331"/>
            </a:xfrm>
            <a:prstGeom prst="rect">
              <a:avLst/>
            </a:prstGeom>
          </p:spPr>
          <p:txBody>
            <a:bodyPr lIns="50800" tIns="50800" rIns="50800" bIns="50800" rtlCol="0" anchor="ctr"/>
            <a:lstStyle/>
            <a:p>
              <a:pPr algn="ctr">
                <a:lnSpc>
                  <a:spcPts val="2499"/>
                </a:lnSpc>
              </a:pPr>
              <a:endParaRPr/>
            </a:p>
          </p:txBody>
        </p:sp>
      </p:grpSp>
      <p:grpSp>
        <p:nvGrpSpPr>
          <p:cNvPr id="5" name="Group 5"/>
          <p:cNvGrpSpPr/>
          <p:nvPr/>
        </p:nvGrpSpPr>
        <p:grpSpPr>
          <a:xfrm>
            <a:off x="759765" y="475011"/>
            <a:ext cx="190207" cy="960253"/>
            <a:chOff x="0" y="0"/>
            <a:chExt cx="50096" cy="252906"/>
          </a:xfrm>
        </p:grpSpPr>
        <p:sp>
          <p:nvSpPr>
            <p:cNvPr id="6" name="Freeform 6"/>
            <p:cNvSpPr/>
            <p:nvPr/>
          </p:nvSpPr>
          <p:spPr>
            <a:xfrm>
              <a:off x="0" y="0"/>
              <a:ext cx="50096" cy="252906"/>
            </a:xfrm>
            <a:custGeom>
              <a:avLst/>
              <a:gdLst/>
              <a:ahLst/>
              <a:cxnLst/>
              <a:rect l="l" t="t" r="r" b="b"/>
              <a:pathLst>
                <a:path w="50096" h="252906">
                  <a:moveTo>
                    <a:pt x="0" y="0"/>
                  </a:moveTo>
                  <a:lnTo>
                    <a:pt x="50096" y="0"/>
                  </a:lnTo>
                  <a:lnTo>
                    <a:pt x="50096" y="252906"/>
                  </a:lnTo>
                  <a:lnTo>
                    <a:pt x="0" y="252906"/>
                  </a:lnTo>
                  <a:close/>
                </a:path>
              </a:pathLst>
            </a:custGeom>
            <a:solidFill>
              <a:srgbClr val="022B3A"/>
            </a:solidFill>
          </p:spPr>
        </p:sp>
        <p:sp>
          <p:nvSpPr>
            <p:cNvPr id="7" name="TextBox 7"/>
            <p:cNvSpPr txBox="1"/>
            <p:nvPr/>
          </p:nvSpPr>
          <p:spPr>
            <a:xfrm>
              <a:off x="0" y="28575"/>
              <a:ext cx="50096" cy="224331"/>
            </a:xfrm>
            <a:prstGeom prst="rect">
              <a:avLst/>
            </a:prstGeom>
          </p:spPr>
          <p:txBody>
            <a:bodyPr lIns="50800" tIns="50800" rIns="50800" bIns="50800" rtlCol="0" anchor="ctr"/>
            <a:lstStyle/>
            <a:p>
              <a:pPr algn="ctr">
                <a:lnSpc>
                  <a:spcPts val="2499"/>
                </a:lnSpc>
              </a:pPr>
              <a:endParaRPr/>
            </a:p>
          </p:txBody>
        </p:sp>
      </p:grpSp>
      <p:grpSp>
        <p:nvGrpSpPr>
          <p:cNvPr id="8" name="Group 8"/>
          <p:cNvGrpSpPr/>
          <p:nvPr/>
        </p:nvGrpSpPr>
        <p:grpSpPr>
          <a:xfrm>
            <a:off x="558907" y="8030126"/>
            <a:ext cx="17170186" cy="1937032"/>
            <a:chOff x="0" y="0"/>
            <a:chExt cx="4522189" cy="510165"/>
          </a:xfrm>
        </p:grpSpPr>
        <p:sp>
          <p:nvSpPr>
            <p:cNvPr id="9" name="Freeform 9"/>
            <p:cNvSpPr/>
            <p:nvPr/>
          </p:nvSpPr>
          <p:spPr>
            <a:xfrm>
              <a:off x="0" y="0"/>
              <a:ext cx="4522189" cy="510165"/>
            </a:xfrm>
            <a:custGeom>
              <a:avLst/>
              <a:gdLst/>
              <a:ahLst/>
              <a:cxnLst/>
              <a:rect l="l" t="t" r="r" b="b"/>
              <a:pathLst>
                <a:path w="4522189" h="510165">
                  <a:moveTo>
                    <a:pt x="0" y="0"/>
                  </a:moveTo>
                  <a:lnTo>
                    <a:pt x="4522189" y="0"/>
                  </a:lnTo>
                  <a:lnTo>
                    <a:pt x="4522189" y="510165"/>
                  </a:lnTo>
                  <a:lnTo>
                    <a:pt x="0" y="510165"/>
                  </a:lnTo>
                  <a:close/>
                </a:path>
              </a:pathLst>
            </a:custGeom>
            <a:solidFill>
              <a:srgbClr val="C2DCFF"/>
            </a:solidFill>
          </p:spPr>
        </p:sp>
        <p:sp>
          <p:nvSpPr>
            <p:cNvPr id="10" name="TextBox 10"/>
            <p:cNvSpPr txBox="1"/>
            <p:nvPr/>
          </p:nvSpPr>
          <p:spPr>
            <a:xfrm>
              <a:off x="0" y="28575"/>
              <a:ext cx="4522189" cy="481590"/>
            </a:xfrm>
            <a:prstGeom prst="rect">
              <a:avLst/>
            </a:prstGeom>
          </p:spPr>
          <p:txBody>
            <a:bodyPr lIns="50800" tIns="50800" rIns="50800" bIns="50800" rtlCol="0" anchor="ctr"/>
            <a:lstStyle/>
            <a:p>
              <a:pPr algn="ctr">
                <a:lnSpc>
                  <a:spcPts val="2499"/>
                </a:lnSpc>
              </a:pPr>
              <a:endParaRPr/>
            </a:p>
          </p:txBody>
        </p:sp>
      </p:grpSp>
      <p:sp>
        <p:nvSpPr>
          <p:cNvPr id="11" name="Freeform 11"/>
          <p:cNvSpPr/>
          <p:nvPr/>
        </p:nvSpPr>
        <p:spPr>
          <a:xfrm>
            <a:off x="4067628" y="2671590"/>
            <a:ext cx="10152744" cy="4882432"/>
          </a:xfrm>
          <a:custGeom>
            <a:avLst/>
            <a:gdLst/>
            <a:ahLst/>
            <a:cxnLst/>
            <a:rect l="l" t="t" r="r" b="b"/>
            <a:pathLst>
              <a:path w="10152744" h="4882432">
                <a:moveTo>
                  <a:pt x="0" y="0"/>
                </a:moveTo>
                <a:lnTo>
                  <a:pt x="10152744" y="0"/>
                </a:lnTo>
                <a:lnTo>
                  <a:pt x="10152744" y="4882432"/>
                </a:lnTo>
                <a:lnTo>
                  <a:pt x="0" y="4882432"/>
                </a:lnTo>
                <a:lnTo>
                  <a:pt x="0" y="0"/>
                </a:lnTo>
                <a:close/>
              </a:path>
            </a:pathLst>
          </a:custGeom>
          <a:blipFill>
            <a:blip r:embed="rId2"/>
            <a:stretch>
              <a:fillRect t="-10044" b="-11256"/>
            </a:stretch>
          </a:blipFill>
        </p:spPr>
      </p:sp>
      <p:sp>
        <p:nvSpPr>
          <p:cNvPr id="12" name="TextBox 12"/>
          <p:cNvSpPr txBox="1"/>
          <p:nvPr/>
        </p:nvSpPr>
        <p:spPr>
          <a:xfrm>
            <a:off x="1213472" y="566710"/>
            <a:ext cx="10120150" cy="1628775"/>
          </a:xfrm>
          <a:prstGeom prst="rect">
            <a:avLst/>
          </a:prstGeom>
        </p:spPr>
        <p:txBody>
          <a:bodyPr lIns="0" tIns="0" rIns="0" bIns="0" rtlCol="0" anchor="t">
            <a:spAutoFit/>
          </a:bodyPr>
          <a:lstStyle/>
          <a:p>
            <a:pPr algn="l">
              <a:lnSpc>
                <a:spcPts val="6000"/>
              </a:lnSpc>
            </a:pPr>
            <a:r>
              <a:rPr lang="en-US" sz="6000" b="1">
                <a:solidFill>
                  <a:srgbClr val="022B3A"/>
                </a:solidFill>
                <a:latin typeface="Poppins Bold"/>
                <a:ea typeface="Poppins Bold"/>
                <a:cs typeface="Poppins Bold"/>
                <a:sym typeface="Poppins Bold"/>
              </a:rPr>
              <a:t>Benchmark</a:t>
            </a:r>
          </a:p>
          <a:p>
            <a:pPr algn="l">
              <a:lnSpc>
                <a:spcPts val="6000"/>
              </a:lnSpc>
            </a:pPr>
            <a:endParaRPr lang="en-US" sz="6000" b="1">
              <a:solidFill>
                <a:srgbClr val="022B3A"/>
              </a:solidFill>
              <a:latin typeface="Poppins Bold"/>
              <a:ea typeface="Poppins Bold"/>
              <a:cs typeface="Poppins Bold"/>
              <a:sym typeface="Poppins Bold"/>
            </a:endParaRPr>
          </a:p>
        </p:txBody>
      </p:sp>
      <p:sp>
        <p:nvSpPr>
          <p:cNvPr id="13" name="TextBox 13"/>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21</a:t>
            </a:r>
          </a:p>
        </p:txBody>
      </p:sp>
      <p:sp>
        <p:nvSpPr>
          <p:cNvPr id="14" name="TextBox 14"/>
          <p:cNvSpPr txBox="1"/>
          <p:nvPr/>
        </p:nvSpPr>
        <p:spPr>
          <a:xfrm>
            <a:off x="407793" y="1526394"/>
            <a:ext cx="3659835" cy="431798"/>
          </a:xfrm>
          <a:prstGeom prst="rect">
            <a:avLst/>
          </a:prstGeom>
        </p:spPr>
        <p:txBody>
          <a:bodyPr wrap="square" lIns="0" tIns="0" rIns="0" bIns="0" rtlCol="0" anchor="t">
            <a:spAutoFit/>
          </a:bodyPr>
          <a:lstStyle/>
          <a:p>
            <a:pPr algn="ctr">
              <a:lnSpc>
                <a:spcPts val="3500"/>
              </a:lnSpc>
            </a:pPr>
            <a:r>
              <a:rPr lang="en-US" sz="2500" b="1" dirty="0">
                <a:solidFill>
                  <a:srgbClr val="022B3A"/>
                </a:solidFill>
                <a:latin typeface="Open Sans Bold"/>
                <a:ea typeface="Open Sans Bold"/>
                <a:cs typeface="Open Sans Bold"/>
                <a:sym typeface="Open Sans Bold"/>
              </a:rPr>
              <a:t>Heatmap Analysis</a:t>
            </a:r>
          </a:p>
        </p:txBody>
      </p:sp>
      <p:sp>
        <p:nvSpPr>
          <p:cNvPr id="15" name="TextBox 15"/>
          <p:cNvSpPr txBox="1"/>
          <p:nvPr/>
        </p:nvSpPr>
        <p:spPr>
          <a:xfrm>
            <a:off x="934288" y="8125326"/>
            <a:ext cx="16419423" cy="1959146"/>
          </a:xfrm>
          <a:prstGeom prst="rect">
            <a:avLst/>
          </a:prstGeom>
        </p:spPr>
        <p:txBody>
          <a:bodyPr lIns="0" tIns="0" rIns="0" bIns="0" rtlCol="0" anchor="t">
            <a:spAutoFit/>
          </a:bodyPr>
          <a:lstStyle/>
          <a:p>
            <a:pPr marL="0" lvl="0" indent="0" algn="l">
              <a:lnSpc>
                <a:spcPts val="3840"/>
              </a:lnSpc>
              <a:spcBef>
                <a:spcPct val="0"/>
              </a:spcBef>
            </a:pPr>
            <a:r>
              <a:rPr lang="en-US" sz="2743">
                <a:solidFill>
                  <a:srgbClr val="022B3A"/>
                </a:solidFill>
                <a:latin typeface="Poppins"/>
                <a:ea typeface="Poppins"/>
                <a:cs typeface="Poppins"/>
                <a:sym typeface="Poppins"/>
              </a:rPr>
              <a:t>Fake-detection performance varies across both source datasets and sensitivity levels. RRDataset shows its strongest F1 on high-sensitivity images, while SID_Set shows a substantial decline for that group. OpenFake is comparatively consistent across sensitivity levels.</a:t>
            </a:r>
          </a:p>
          <a:p>
            <a:pPr marL="0" lvl="0" indent="0" algn="l">
              <a:lnSpc>
                <a:spcPts val="3840"/>
              </a:lnSpc>
              <a:spcBef>
                <a:spcPct val="0"/>
              </a:spcBef>
            </a:pPr>
            <a:endParaRPr lang="en-US" sz="2743">
              <a:solidFill>
                <a:srgbClr val="022B3A"/>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89370" y="1028700"/>
            <a:ext cx="3127322" cy="4610949"/>
            <a:chOff x="0" y="0"/>
            <a:chExt cx="823657" cy="1214406"/>
          </a:xfrm>
        </p:grpSpPr>
        <p:sp>
          <p:nvSpPr>
            <p:cNvPr id="3" name="Freeform 3"/>
            <p:cNvSpPr/>
            <p:nvPr/>
          </p:nvSpPr>
          <p:spPr>
            <a:xfrm>
              <a:off x="0" y="0"/>
              <a:ext cx="823657" cy="1214406"/>
            </a:xfrm>
            <a:custGeom>
              <a:avLst/>
              <a:gdLst/>
              <a:ahLst/>
              <a:cxnLst/>
              <a:rect l="l" t="t" r="r" b="b"/>
              <a:pathLst>
                <a:path w="823657" h="1214406">
                  <a:moveTo>
                    <a:pt x="0" y="0"/>
                  </a:moveTo>
                  <a:lnTo>
                    <a:pt x="823657" y="0"/>
                  </a:lnTo>
                  <a:lnTo>
                    <a:pt x="823657" y="1214406"/>
                  </a:lnTo>
                  <a:lnTo>
                    <a:pt x="0" y="1214406"/>
                  </a:lnTo>
                  <a:close/>
                </a:path>
              </a:pathLst>
            </a:custGeom>
            <a:solidFill>
              <a:srgbClr val="C2DCFF"/>
            </a:solidFill>
          </p:spPr>
          <p:txBody>
            <a:bodyPr/>
            <a:lstStyle/>
            <a:p>
              <a:endParaRPr/>
            </a:p>
          </p:txBody>
        </p:sp>
        <p:sp>
          <p:nvSpPr>
            <p:cNvPr id="4" name="TextBox 4"/>
            <p:cNvSpPr txBox="1"/>
            <p:nvPr/>
          </p:nvSpPr>
          <p:spPr>
            <a:xfrm>
              <a:off x="0" y="28575"/>
              <a:ext cx="823657" cy="1185831"/>
            </a:xfrm>
            <a:prstGeom prst="rect">
              <a:avLst/>
            </a:prstGeom>
          </p:spPr>
          <p:txBody>
            <a:bodyPr lIns="50800" tIns="50800" rIns="50800" bIns="50800" rtlCol="0" anchor="ctr"/>
            <a:lstStyle/>
            <a:p>
              <a:pPr algn="ctr">
                <a:lnSpc>
                  <a:spcPts val="2499"/>
                </a:lnSpc>
              </a:pPr>
              <a:endParaRPr/>
            </a:p>
          </p:txBody>
        </p:sp>
      </p:grpSp>
      <p:sp>
        <p:nvSpPr>
          <p:cNvPr id="5" name="TextBox 5"/>
          <p:cNvSpPr txBox="1"/>
          <p:nvPr/>
        </p:nvSpPr>
        <p:spPr>
          <a:xfrm>
            <a:off x="3252276" y="1771764"/>
            <a:ext cx="6590224" cy="1628775"/>
          </a:xfrm>
          <a:prstGeom prst="rect">
            <a:avLst/>
          </a:prstGeom>
        </p:spPr>
        <p:txBody>
          <a:bodyPr lIns="0" tIns="0" rIns="0" bIns="0" rtlCol="0" anchor="t">
            <a:spAutoFit/>
          </a:bodyPr>
          <a:lstStyle/>
          <a:p>
            <a:pPr algn="l">
              <a:lnSpc>
                <a:spcPts val="6000"/>
              </a:lnSpc>
            </a:pPr>
            <a:r>
              <a:rPr lang="en-US" sz="6000" b="1" spc="-60">
                <a:solidFill>
                  <a:srgbClr val="022B3A"/>
                </a:solidFill>
                <a:latin typeface="Poppins Bold"/>
                <a:ea typeface="Poppins Bold"/>
                <a:cs typeface="Poppins Bold"/>
                <a:sym typeface="Poppins Bold"/>
              </a:rPr>
              <a:t>Sensitivity-Aware</a:t>
            </a:r>
          </a:p>
          <a:p>
            <a:pPr algn="l">
              <a:lnSpc>
                <a:spcPts val="6000"/>
              </a:lnSpc>
            </a:pPr>
            <a:r>
              <a:rPr lang="en-US" sz="6000" b="1" spc="-60">
                <a:solidFill>
                  <a:srgbClr val="022B3A"/>
                </a:solidFill>
                <a:latin typeface="Poppins Bold"/>
                <a:ea typeface="Poppins Bold"/>
                <a:cs typeface="Poppins Bold"/>
                <a:sym typeface="Poppins Bold"/>
              </a:rPr>
              <a:t>Detection</a:t>
            </a:r>
          </a:p>
        </p:txBody>
      </p:sp>
      <p:sp>
        <p:nvSpPr>
          <p:cNvPr id="6" name="TextBox 6"/>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17</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308453" y="3292182"/>
            <a:ext cx="6736604" cy="1709656"/>
            <a:chOff x="0" y="0"/>
            <a:chExt cx="1774250" cy="450280"/>
          </a:xfrm>
        </p:grpSpPr>
        <p:sp>
          <p:nvSpPr>
            <p:cNvPr id="3" name="Freeform 3"/>
            <p:cNvSpPr/>
            <p:nvPr/>
          </p:nvSpPr>
          <p:spPr>
            <a:xfrm>
              <a:off x="0" y="0"/>
              <a:ext cx="1774250" cy="450280"/>
            </a:xfrm>
            <a:custGeom>
              <a:avLst/>
              <a:gdLst/>
              <a:ahLst/>
              <a:cxnLst/>
              <a:rect l="l" t="t" r="r" b="b"/>
              <a:pathLst>
                <a:path w="1774250" h="450280">
                  <a:moveTo>
                    <a:pt x="0" y="0"/>
                  </a:moveTo>
                  <a:lnTo>
                    <a:pt x="1774250" y="0"/>
                  </a:lnTo>
                  <a:lnTo>
                    <a:pt x="1774250" y="450280"/>
                  </a:lnTo>
                  <a:lnTo>
                    <a:pt x="0" y="450280"/>
                  </a:lnTo>
                  <a:close/>
                </a:path>
              </a:pathLst>
            </a:custGeom>
            <a:solidFill>
              <a:srgbClr val="F4F4F4"/>
            </a:solidFill>
          </p:spPr>
          <p:txBody>
            <a:bodyPr/>
            <a:lstStyle/>
            <a:p>
              <a:endParaRPr/>
            </a:p>
          </p:txBody>
        </p:sp>
        <p:sp>
          <p:nvSpPr>
            <p:cNvPr id="4" name="TextBox 4"/>
            <p:cNvSpPr txBox="1"/>
            <p:nvPr/>
          </p:nvSpPr>
          <p:spPr>
            <a:xfrm>
              <a:off x="0" y="28575"/>
              <a:ext cx="1774250" cy="421705"/>
            </a:xfrm>
            <a:prstGeom prst="rect">
              <a:avLst/>
            </a:prstGeom>
          </p:spPr>
          <p:txBody>
            <a:bodyPr lIns="50800" tIns="50800" rIns="50800" bIns="50800" rtlCol="0" anchor="ctr"/>
            <a:lstStyle/>
            <a:p>
              <a:pPr algn="ctr">
                <a:lnSpc>
                  <a:spcPts val="2499"/>
                </a:lnSpc>
              </a:pPr>
              <a:endParaRPr/>
            </a:p>
          </p:txBody>
        </p:sp>
      </p:grpSp>
      <p:grpSp>
        <p:nvGrpSpPr>
          <p:cNvPr id="5" name="Group 5"/>
          <p:cNvGrpSpPr/>
          <p:nvPr/>
        </p:nvGrpSpPr>
        <p:grpSpPr>
          <a:xfrm>
            <a:off x="308453" y="1388477"/>
            <a:ext cx="6736604" cy="1180691"/>
            <a:chOff x="0" y="0"/>
            <a:chExt cx="1774250" cy="310964"/>
          </a:xfrm>
        </p:grpSpPr>
        <p:sp>
          <p:nvSpPr>
            <p:cNvPr id="6" name="Freeform 6"/>
            <p:cNvSpPr/>
            <p:nvPr/>
          </p:nvSpPr>
          <p:spPr>
            <a:xfrm>
              <a:off x="0" y="0"/>
              <a:ext cx="1774250" cy="310964"/>
            </a:xfrm>
            <a:custGeom>
              <a:avLst/>
              <a:gdLst/>
              <a:ahLst/>
              <a:cxnLst/>
              <a:rect l="l" t="t" r="r" b="b"/>
              <a:pathLst>
                <a:path w="1774250" h="310964">
                  <a:moveTo>
                    <a:pt x="0" y="0"/>
                  </a:moveTo>
                  <a:lnTo>
                    <a:pt x="1774250" y="0"/>
                  </a:lnTo>
                  <a:lnTo>
                    <a:pt x="1774250" y="310964"/>
                  </a:lnTo>
                  <a:lnTo>
                    <a:pt x="0" y="310964"/>
                  </a:lnTo>
                  <a:close/>
                </a:path>
              </a:pathLst>
            </a:custGeom>
            <a:solidFill>
              <a:srgbClr val="F4F4F4"/>
            </a:solidFill>
          </p:spPr>
          <p:txBody>
            <a:bodyPr/>
            <a:lstStyle/>
            <a:p>
              <a:endParaRPr/>
            </a:p>
          </p:txBody>
        </p:sp>
        <p:sp>
          <p:nvSpPr>
            <p:cNvPr id="7" name="TextBox 7"/>
            <p:cNvSpPr txBox="1"/>
            <p:nvPr/>
          </p:nvSpPr>
          <p:spPr>
            <a:xfrm>
              <a:off x="0" y="28575"/>
              <a:ext cx="1774250" cy="282389"/>
            </a:xfrm>
            <a:prstGeom prst="rect">
              <a:avLst/>
            </a:prstGeom>
          </p:spPr>
          <p:txBody>
            <a:bodyPr lIns="50800" tIns="50800" rIns="50800" bIns="50800" rtlCol="0" anchor="ctr"/>
            <a:lstStyle/>
            <a:p>
              <a:pPr algn="ctr">
                <a:lnSpc>
                  <a:spcPts val="2499"/>
                </a:lnSpc>
              </a:pPr>
              <a:endParaRPr/>
            </a:p>
          </p:txBody>
        </p:sp>
      </p:grpSp>
      <p:grpSp>
        <p:nvGrpSpPr>
          <p:cNvPr id="8" name="Group 8"/>
          <p:cNvGrpSpPr/>
          <p:nvPr/>
        </p:nvGrpSpPr>
        <p:grpSpPr>
          <a:xfrm>
            <a:off x="308453" y="6059390"/>
            <a:ext cx="15739686" cy="3588560"/>
            <a:chOff x="0" y="0"/>
            <a:chExt cx="4145432" cy="945135"/>
          </a:xfrm>
        </p:grpSpPr>
        <p:sp>
          <p:nvSpPr>
            <p:cNvPr id="9" name="Freeform 9"/>
            <p:cNvSpPr/>
            <p:nvPr/>
          </p:nvSpPr>
          <p:spPr>
            <a:xfrm>
              <a:off x="0" y="0"/>
              <a:ext cx="4145432" cy="945135"/>
            </a:xfrm>
            <a:custGeom>
              <a:avLst/>
              <a:gdLst/>
              <a:ahLst/>
              <a:cxnLst/>
              <a:rect l="l" t="t" r="r" b="b"/>
              <a:pathLst>
                <a:path w="4145432" h="945135">
                  <a:moveTo>
                    <a:pt x="0" y="0"/>
                  </a:moveTo>
                  <a:lnTo>
                    <a:pt x="4145432" y="0"/>
                  </a:lnTo>
                  <a:lnTo>
                    <a:pt x="4145432" y="945135"/>
                  </a:lnTo>
                  <a:lnTo>
                    <a:pt x="0" y="945135"/>
                  </a:lnTo>
                  <a:close/>
                </a:path>
              </a:pathLst>
            </a:custGeom>
            <a:solidFill>
              <a:srgbClr val="F4F4F4"/>
            </a:solidFill>
          </p:spPr>
          <p:txBody>
            <a:bodyPr/>
            <a:lstStyle/>
            <a:p>
              <a:endParaRPr/>
            </a:p>
          </p:txBody>
        </p:sp>
        <p:sp>
          <p:nvSpPr>
            <p:cNvPr id="10" name="TextBox 10"/>
            <p:cNvSpPr txBox="1"/>
            <p:nvPr/>
          </p:nvSpPr>
          <p:spPr>
            <a:xfrm>
              <a:off x="0" y="28575"/>
              <a:ext cx="4145432" cy="916560"/>
            </a:xfrm>
            <a:prstGeom prst="rect">
              <a:avLst/>
            </a:prstGeom>
          </p:spPr>
          <p:txBody>
            <a:bodyPr lIns="50800" tIns="50800" rIns="50800" bIns="50800" rtlCol="0" anchor="ctr"/>
            <a:lstStyle/>
            <a:p>
              <a:pPr algn="ctr">
                <a:lnSpc>
                  <a:spcPts val="2499"/>
                </a:lnSpc>
              </a:pPr>
              <a:endParaRPr/>
            </a:p>
          </p:txBody>
        </p:sp>
      </p:grpSp>
      <p:sp>
        <p:nvSpPr>
          <p:cNvPr id="11" name="Freeform 11"/>
          <p:cNvSpPr/>
          <p:nvPr/>
        </p:nvSpPr>
        <p:spPr>
          <a:xfrm>
            <a:off x="7416485" y="1035508"/>
            <a:ext cx="10344346" cy="4332915"/>
          </a:xfrm>
          <a:custGeom>
            <a:avLst/>
            <a:gdLst/>
            <a:ahLst/>
            <a:cxnLst/>
            <a:rect l="l" t="t" r="r" b="b"/>
            <a:pathLst>
              <a:path w="10344346" h="4332915">
                <a:moveTo>
                  <a:pt x="0" y="0"/>
                </a:moveTo>
                <a:lnTo>
                  <a:pt x="10344345" y="0"/>
                </a:lnTo>
                <a:lnTo>
                  <a:pt x="10344345" y="4332915"/>
                </a:lnTo>
                <a:lnTo>
                  <a:pt x="0" y="4332915"/>
                </a:lnTo>
                <a:lnTo>
                  <a:pt x="0" y="0"/>
                </a:lnTo>
                <a:close/>
              </a:path>
            </a:pathLst>
          </a:custGeom>
          <a:blipFill>
            <a:blip r:embed="rId2"/>
            <a:stretch>
              <a:fillRect/>
            </a:stretch>
          </a:blipFill>
        </p:spPr>
        <p:txBody>
          <a:bodyPr/>
          <a:lstStyle/>
          <a:p>
            <a:endParaRPr/>
          </a:p>
        </p:txBody>
      </p:sp>
      <p:sp>
        <p:nvSpPr>
          <p:cNvPr id="12" name="TextBox 12"/>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18</a:t>
            </a:r>
          </a:p>
        </p:txBody>
      </p:sp>
      <p:sp>
        <p:nvSpPr>
          <p:cNvPr id="13" name="TextBox 13"/>
          <p:cNvSpPr txBox="1"/>
          <p:nvPr/>
        </p:nvSpPr>
        <p:spPr>
          <a:xfrm>
            <a:off x="466604" y="1848443"/>
            <a:ext cx="6385733" cy="720725"/>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A neural network that is trained for classify an image as real or fake.</a:t>
            </a:r>
          </a:p>
        </p:txBody>
      </p:sp>
      <p:sp>
        <p:nvSpPr>
          <p:cNvPr id="14" name="TextBox 14"/>
          <p:cNvSpPr txBox="1"/>
          <p:nvPr/>
        </p:nvSpPr>
        <p:spPr>
          <a:xfrm>
            <a:off x="432035" y="3822921"/>
            <a:ext cx="6206629" cy="1073150"/>
          </a:xfrm>
          <a:prstGeom prst="rect">
            <a:avLst/>
          </a:prstGeom>
        </p:spPr>
        <p:txBody>
          <a:bodyPr lIns="0" tIns="0" rIns="0" bIns="0" rtlCol="0" anchor="t">
            <a:spAutoFit/>
          </a:bodyPr>
          <a:lstStyle/>
          <a:p>
            <a:pPr marL="0" lvl="0" indent="0" algn="l">
              <a:lnSpc>
                <a:spcPts val="2800"/>
              </a:lnSpc>
              <a:spcBef>
                <a:spcPct val="0"/>
              </a:spcBef>
            </a:pPr>
            <a:r>
              <a:rPr lang="en-US" sz="2000">
                <a:solidFill>
                  <a:srgbClr val="022B3A"/>
                </a:solidFill>
                <a:latin typeface="Poppins"/>
                <a:ea typeface="Poppins"/>
                <a:cs typeface="Poppins"/>
                <a:sym typeface="Poppins"/>
              </a:rPr>
              <a:t>A neural network</a:t>
            </a:r>
            <a:r>
              <a:rPr lang="en-US" sz="2000" u="none">
                <a:solidFill>
                  <a:srgbClr val="022B3A"/>
                </a:solidFill>
                <a:latin typeface="Poppins"/>
                <a:ea typeface="Poppins"/>
                <a:cs typeface="Poppins"/>
                <a:sym typeface="Poppins"/>
              </a:rPr>
              <a:t> trained to classify the content sensitivity of an image into three levels: low, medium, or high.</a:t>
            </a:r>
          </a:p>
        </p:txBody>
      </p:sp>
      <p:sp>
        <p:nvSpPr>
          <p:cNvPr id="15" name="TextBox 15"/>
          <p:cNvSpPr txBox="1"/>
          <p:nvPr/>
        </p:nvSpPr>
        <p:spPr>
          <a:xfrm>
            <a:off x="466604" y="1346825"/>
            <a:ext cx="6385733"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Authenticity Detection Network</a:t>
            </a:r>
          </a:p>
        </p:txBody>
      </p:sp>
      <p:sp>
        <p:nvSpPr>
          <p:cNvPr id="16" name="TextBox 16"/>
          <p:cNvSpPr txBox="1"/>
          <p:nvPr/>
        </p:nvSpPr>
        <p:spPr>
          <a:xfrm>
            <a:off x="432035" y="3241896"/>
            <a:ext cx="5710826" cy="542925"/>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022B3A"/>
                </a:solidFill>
                <a:latin typeface="Poppins Bold"/>
                <a:ea typeface="Poppins Bold"/>
                <a:cs typeface="Poppins Bold"/>
                <a:sym typeface="Poppins Bold"/>
              </a:rPr>
              <a:t>Content Sensitivity network</a:t>
            </a:r>
          </a:p>
        </p:txBody>
      </p:sp>
      <p:sp>
        <p:nvSpPr>
          <p:cNvPr id="17" name="TextBox 17"/>
          <p:cNvSpPr txBox="1"/>
          <p:nvPr/>
        </p:nvSpPr>
        <p:spPr>
          <a:xfrm>
            <a:off x="487324" y="6625723"/>
            <a:ext cx="15381944" cy="2562225"/>
          </a:xfrm>
          <a:prstGeom prst="rect">
            <a:avLst/>
          </a:prstGeom>
        </p:spPr>
        <p:txBody>
          <a:bodyPr lIns="0" tIns="0" rIns="0" bIns="0" rtlCol="0" anchor="t">
            <a:spAutoFit/>
          </a:bodyPr>
          <a:lstStyle/>
          <a:p>
            <a:pPr algn="l">
              <a:lnSpc>
                <a:spcPts val="3499"/>
              </a:lnSpc>
            </a:pPr>
            <a:r>
              <a:rPr lang="en-US" sz="2499" b="1">
                <a:solidFill>
                  <a:srgbClr val="022B3A"/>
                </a:solidFill>
                <a:latin typeface="Poppins Bold"/>
                <a:ea typeface="Poppins Bold"/>
                <a:cs typeface="Poppins Bold"/>
                <a:sym typeface="Poppins Bold"/>
              </a:rPr>
              <a:t>Adaptive Classifier</a:t>
            </a:r>
          </a:p>
          <a:p>
            <a:pPr algn="l">
              <a:lnSpc>
                <a:spcPts val="2800"/>
              </a:lnSpc>
            </a:pPr>
            <a:r>
              <a:rPr lang="en-US" sz="2000">
                <a:solidFill>
                  <a:srgbClr val="022B3A"/>
                </a:solidFill>
                <a:latin typeface="Poppins"/>
                <a:ea typeface="Poppins"/>
                <a:cs typeface="Poppins"/>
                <a:sym typeface="Poppins"/>
              </a:rPr>
              <a:t>The outputs of both networks are combined by the Adaptive Classifier.</a:t>
            </a:r>
          </a:p>
          <a:p>
            <a:pPr algn="l">
              <a:lnSpc>
                <a:spcPts val="2800"/>
              </a:lnSpc>
            </a:pPr>
            <a:r>
              <a:rPr lang="en-US" sz="2000">
                <a:solidFill>
                  <a:srgbClr val="022B3A"/>
                </a:solidFill>
                <a:latin typeface="Poppins"/>
                <a:ea typeface="Poppins"/>
                <a:cs typeface="Poppins"/>
                <a:sym typeface="Poppins"/>
              </a:rPr>
              <a:t>The CSN probabilities are used to compute a prudence score, which dynamically adjusts the classification threshold applied to the ADN output. Based on the adjusted threshold and the probability of the image being real, the classifier produces the final Real / Fake prediction.</a:t>
            </a:r>
          </a:p>
          <a:p>
            <a:pPr marL="0" lvl="0" indent="0" algn="l">
              <a:lnSpc>
                <a:spcPts val="2800"/>
              </a:lnSpc>
              <a:spcBef>
                <a:spcPct val="0"/>
              </a:spcBef>
            </a:pPr>
            <a:r>
              <a:rPr lang="en-US" sz="2000">
                <a:solidFill>
                  <a:srgbClr val="022B3A"/>
                </a:solidFill>
                <a:latin typeface="Poppins"/>
                <a:ea typeface="Poppins"/>
                <a:cs typeface="Poppins"/>
                <a:sym typeface="Poppins"/>
              </a:rPr>
              <a:t>The key idea is that the decision</a:t>
            </a:r>
            <a:r>
              <a:rPr lang="en-US" sz="2000" u="none">
                <a:solidFill>
                  <a:srgbClr val="022B3A"/>
                </a:solidFill>
                <a:latin typeface="Poppins"/>
                <a:ea typeface="Poppins"/>
                <a:cs typeface="Poppins"/>
                <a:sym typeface="Poppins"/>
              </a:rPr>
              <a:t> threshold is dynamically adjusted according to the model’s estimated prudence, resulting in a more adaptive and conservative classification.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308453" y="829774"/>
            <a:ext cx="15739686" cy="8818176"/>
            <a:chOff x="0" y="0"/>
            <a:chExt cx="4145432" cy="2322483"/>
          </a:xfrm>
        </p:grpSpPr>
        <p:sp>
          <p:nvSpPr>
            <p:cNvPr id="3" name="Freeform 3"/>
            <p:cNvSpPr/>
            <p:nvPr/>
          </p:nvSpPr>
          <p:spPr>
            <a:xfrm>
              <a:off x="0" y="0"/>
              <a:ext cx="4145432" cy="2322483"/>
            </a:xfrm>
            <a:custGeom>
              <a:avLst/>
              <a:gdLst/>
              <a:ahLst/>
              <a:cxnLst/>
              <a:rect l="l" t="t" r="r" b="b"/>
              <a:pathLst>
                <a:path w="4145432" h="2322483">
                  <a:moveTo>
                    <a:pt x="0" y="0"/>
                  </a:moveTo>
                  <a:lnTo>
                    <a:pt x="4145432" y="0"/>
                  </a:lnTo>
                  <a:lnTo>
                    <a:pt x="4145432" y="2322483"/>
                  </a:lnTo>
                  <a:lnTo>
                    <a:pt x="0" y="2322483"/>
                  </a:lnTo>
                  <a:close/>
                </a:path>
              </a:pathLst>
            </a:custGeom>
            <a:solidFill>
              <a:srgbClr val="F4F4F4"/>
            </a:solidFill>
          </p:spPr>
          <p:txBody>
            <a:bodyPr/>
            <a:lstStyle/>
            <a:p>
              <a:endParaRPr/>
            </a:p>
          </p:txBody>
        </p:sp>
        <p:sp>
          <p:nvSpPr>
            <p:cNvPr id="4" name="TextBox 4"/>
            <p:cNvSpPr txBox="1"/>
            <p:nvPr/>
          </p:nvSpPr>
          <p:spPr>
            <a:xfrm>
              <a:off x="0" y="28575"/>
              <a:ext cx="4145432" cy="2293908"/>
            </a:xfrm>
            <a:prstGeom prst="rect">
              <a:avLst/>
            </a:prstGeom>
          </p:spPr>
          <p:txBody>
            <a:bodyPr lIns="50800" tIns="50800" rIns="50800" bIns="50800" rtlCol="0" anchor="ctr"/>
            <a:lstStyle/>
            <a:p>
              <a:pPr algn="ctr">
                <a:lnSpc>
                  <a:spcPts val="2499"/>
                </a:lnSpc>
              </a:pPr>
              <a:endParaRPr/>
            </a:p>
          </p:txBody>
        </p:sp>
      </p:grpSp>
      <p:sp>
        <p:nvSpPr>
          <p:cNvPr id="5" name="TextBox 5"/>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19</a:t>
            </a:r>
          </a:p>
        </p:txBody>
      </p:sp>
      <p:sp>
        <p:nvSpPr>
          <p:cNvPr id="6" name="TextBox 6"/>
          <p:cNvSpPr txBox="1"/>
          <p:nvPr/>
        </p:nvSpPr>
        <p:spPr>
          <a:xfrm>
            <a:off x="764809" y="866775"/>
            <a:ext cx="14563084" cy="5565775"/>
          </a:xfrm>
          <a:prstGeom prst="rect">
            <a:avLst/>
          </a:prstGeom>
        </p:spPr>
        <p:txBody>
          <a:bodyPr lIns="0" tIns="0" rIns="0" bIns="0" rtlCol="0" anchor="t">
            <a:spAutoFit/>
          </a:bodyPr>
          <a:lstStyle/>
          <a:p>
            <a:pPr algn="l">
              <a:lnSpc>
                <a:spcPts val="5009"/>
              </a:lnSpc>
            </a:pPr>
            <a:r>
              <a:rPr lang="en-US" sz="2999" b="1">
                <a:solidFill>
                  <a:srgbClr val="022B3A"/>
                </a:solidFill>
                <a:latin typeface="Poppins Bold"/>
                <a:ea typeface="Poppins Bold"/>
                <a:cs typeface="Poppins Bold"/>
                <a:sym typeface="Poppins Bold"/>
              </a:rPr>
              <a:t>Adaptive Classification</a:t>
            </a:r>
          </a:p>
          <a:p>
            <a:pPr marL="0" lvl="0" indent="0" algn="l">
              <a:lnSpc>
                <a:spcPts val="3340"/>
              </a:lnSpc>
              <a:spcBef>
                <a:spcPct val="0"/>
              </a:spcBef>
            </a:pPr>
            <a:r>
              <a:rPr lang="en-US" sz="2000">
                <a:solidFill>
                  <a:srgbClr val="022B3A"/>
                </a:solidFill>
                <a:latin typeface="Poppins"/>
                <a:ea typeface="Poppins"/>
                <a:cs typeface="Poppins"/>
                <a:sym typeface="Poppins"/>
              </a:rPr>
              <a:t>After obtaining the outputs of ADN and CSN, the predicted probabilities are combined to generate</a:t>
            </a:r>
            <a:r>
              <a:rPr lang="en-US" sz="2000" u="none">
                <a:solidFill>
                  <a:srgbClr val="022B3A"/>
                </a:solidFill>
                <a:latin typeface="Poppins"/>
                <a:ea typeface="Poppins"/>
                <a:cs typeface="Poppins"/>
                <a:sym typeface="Poppins"/>
              </a:rPr>
              <a:t> the model’s final prediction.</a:t>
            </a:r>
          </a:p>
          <a:p>
            <a:pPr marL="0" lvl="0" indent="0" algn="l">
              <a:lnSpc>
                <a:spcPts val="4174"/>
              </a:lnSpc>
              <a:spcBef>
                <a:spcPct val="0"/>
              </a:spcBef>
            </a:pPr>
            <a:r>
              <a:rPr lang="en-US" sz="2499" u="none">
                <a:solidFill>
                  <a:srgbClr val="022B3A"/>
                </a:solidFill>
                <a:latin typeface="Poppins"/>
                <a:ea typeface="Poppins"/>
                <a:cs typeface="Poppins"/>
                <a:sym typeface="Poppins"/>
              </a:rPr>
              <a:t>1. </a:t>
            </a:r>
            <a:r>
              <a:rPr lang="en-US" sz="2499" b="1" u="none">
                <a:solidFill>
                  <a:srgbClr val="022B3A"/>
                </a:solidFill>
                <a:latin typeface="Poppins Bold"/>
                <a:ea typeface="Poppins Bold"/>
                <a:cs typeface="Poppins Bold"/>
                <a:sym typeface="Poppins Bold"/>
              </a:rPr>
              <a:t>Prudence Score</a:t>
            </a:r>
          </a:p>
          <a:p>
            <a:pPr marL="0" lvl="0" indent="0" algn="l">
              <a:lnSpc>
                <a:spcPts val="3340"/>
              </a:lnSpc>
              <a:spcBef>
                <a:spcPct val="0"/>
              </a:spcBef>
            </a:pPr>
            <a:endParaRPr lang="en-US" sz="2499" b="1" u="none">
              <a:solidFill>
                <a:srgbClr val="022B3A"/>
              </a:solidFill>
              <a:latin typeface="Poppins Bold"/>
              <a:ea typeface="Poppins Bold"/>
              <a:cs typeface="Poppins Bold"/>
              <a:sym typeface="Poppins Bold"/>
            </a:endParaRPr>
          </a:p>
          <a:p>
            <a:pPr marL="0" lvl="0" indent="0" algn="l">
              <a:lnSpc>
                <a:spcPts val="3340"/>
              </a:lnSpc>
              <a:spcBef>
                <a:spcPct val="0"/>
              </a:spcBef>
            </a:pPr>
            <a:r>
              <a:rPr lang="en-US" sz="2000" u="none">
                <a:solidFill>
                  <a:srgbClr val="022B3A"/>
                </a:solidFill>
                <a:latin typeface="Poppins"/>
                <a:ea typeface="Poppins"/>
                <a:cs typeface="Poppins"/>
                <a:sym typeface="Poppins"/>
              </a:rPr>
              <a:t>where W_H, W_M, and W_L are the weights assigned to the High, Medium, and Low probability levels.</a:t>
            </a:r>
          </a:p>
          <a:p>
            <a:pPr marL="0" lvl="0" indent="0" algn="l">
              <a:lnSpc>
                <a:spcPts val="4174"/>
              </a:lnSpc>
              <a:spcBef>
                <a:spcPct val="0"/>
              </a:spcBef>
            </a:pPr>
            <a:r>
              <a:rPr lang="en-US" sz="2499" u="none">
                <a:solidFill>
                  <a:srgbClr val="022B3A"/>
                </a:solidFill>
                <a:latin typeface="Poppins"/>
                <a:ea typeface="Poppins"/>
                <a:cs typeface="Poppins"/>
                <a:sym typeface="Poppins"/>
              </a:rPr>
              <a:t>2. </a:t>
            </a:r>
            <a:r>
              <a:rPr lang="en-US" sz="2499" b="1" u="none">
                <a:solidFill>
                  <a:srgbClr val="022B3A"/>
                </a:solidFill>
                <a:latin typeface="Poppins Bold"/>
                <a:ea typeface="Poppins Bold"/>
                <a:cs typeface="Poppins Bold"/>
                <a:sym typeface="Poppins Bold"/>
              </a:rPr>
              <a:t>Adaptive Threshold</a:t>
            </a:r>
          </a:p>
          <a:p>
            <a:pPr marL="0" lvl="0" indent="0" algn="l">
              <a:lnSpc>
                <a:spcPts val="3340"/>
              </a:lnSpc>
              <a:spcBef>
                <a:spcPct val="0"/>
              </a:spcBef>
            </a:pPr>
            <a:endParaRPr lang="en-US" sz="2499" b="1" u="none">
              <a:solidFill>
                <a:srgbClr val="022B3A"/>
              </a:solidFill>
              <a:latin typeface="Poppins Bold"/>
              <a:ea typeface="Poppins Bold"/>
              <a:cs typeface="Poppins Bold"/>
              <a:sym typeface="Poppins Bold"/>
            </a:endParaRPr>
          </a:p>
          <a:p>
            <a:pPr marL="0" lvl="0" indent="0" algn="l">
              <a:lnSpc>
                <a:spcPts val="3340"/>
              </a:lnSpc>
              <a:spcBef>
                <a:spcPct val="0"/>
              </a:spcBef>
            </a:pPr>
            <a:r>
              <a:rPr lang="en-US" sz="2000" u="none">
                <a:solidFill>
                  <a:srgbClr val="022B3A"/>
                </a:solidFill>
                <a:latin typeface="Poppins"/>
                <a:ea typeface="Poppins"/>
                <a:cs typeface="Poppins"/>
                <a:sym typeface="Poppins"/>
              </a:rPr>
              <a:t>where γ controls the influence of the prudence score on the decision threshold.</a:t>
            </a:r>
          </a:p>
          <a:p>
            <a:pPr marL="0" lvl="0" indent="0" algn="l">
              <a:lnSpc>
                <a:spcPts val="4174"/>
              </a:lnSpc>
              <a:spcBef>
                <a:spcPct val="0"/>
              </a:spcBef>
            </a:pPr>
            <a:r>
              <a:rPr lang="en-US" sz="2499" u="none">
                <a:solidFill>
                  <a:srgbClr val="022B3A"/>
                </a:solidFill>
                <a:latin typeface="Poppins"/>
                <a:ea typeface="Poppins"/>
                <a:cs typeface="Poppins"/>
                <a:sym typeface="Poppins"/>
              </a:rPr>
              <a:t>3. </a:t>
            </a:r>
            <a:r>
              <a:rPr lang="en-US" sz="2499" b="1" u="none">
                <a:solidFill>
                  <a:srgbClr val="022B3A"/>
                </a:solidFill>
                <a:latin typeface="Poppins Bold"/>
                <a:ea typeface="Poppins Bold"/>
                <a:cs typeface="Poppins Bold"/>
                <a:sym typeface="Poppins Bold"/>
              </a:rPr>
              <a:t>Final Prediction</a:t>
            </a:r>
          </a:p>
          <a:p>
            <a:pPr marL="0" lvl="0" indent="0" algn="l">
              <a:lnSpc>
                <a:spcPts val="3340"/>
              </a:lnSpc>
              <a:spcBef>
                <a:spcPct val="0"/>
              </a:spcBef>
            </a:pPr>
            <a:endParaRPr lang="en-US" sz="2499" b="1" u="none">
              <a:solidFill>
                <a:srgbClr val="022B3A"/>
              </a:solidFill>
              <a:latin typeface="Poppins Bold"/>
              <a:ea typeface="Poppins Bold"/>
              <a:cs typeface="Poppins Bold"/>
              <a:sym typeface="Poppins Bold"/>
            </a:endParaRPr>
          </a:p>
          <a:p>
            <a:pPr marL="0" lvl="0" indent="0" algn="l">
              <a:lnSpc>
                <a:spcPts val="3340"/>
              </a:lnSpc>
              <a:spcBef>
                <a:spcPct val="0"/>
              </a:spcBef>
            </a:pPr>
            <a:endParaRPr lang="en-US" sz="2499" b="1" u="none">
              <a:solidFill>
                <a:srgbClr val="022B3A"/>
              </a:solidFill>
              <a:latin typeface="Poppins Bold"/>
              <a:ea typeface="Poppins Bold"/>
              <a:cs typeface="Poppins Bold"/>
              <a:sym typeface="Poppins Bold"/>
            </a:endParaRPr>
          </a:p>
        </p:txBody>
      </p:sp>
      <p:pic>
        <p:nvPicPr>
          <p:cNvPr id="7" name="Picture 7"/>
          <p:cNvPicPr>
            <a:picLocks noChangeAspect="1"/>
          </p:cNvPicPr>
          <p:nvPr/>
        </p:nvPicPr>
        <p:blipFill>
          <a:blip r:embed="rId2"/>
          <a:stretch>
            <a:fillRect/>
          </a:stretch>
        </p:blipFill>
        <p:spPr>
          <a:xfrm>
            <a:off x="-46721" y="2200262"/>
            <a:ext cx="9738360" cy="1909463"/>
          </a:xfrm>
          <a:prstGeom prst="rect">
            <a:avLst/>
          </a:prstGeom>
        </p:spPr>
      </p:pic>
      <p:pic>
        <p:nvPicPr>
          <p:cNvPr id="8" name="Picture 8"/>
          <p:cNvPicPr>
            <a:picLocks noChangeAspect="1"/>
          </p:cNvPicPr>
          <p:nvPr/>
        </p:nvPicPr>
        <p:blipFill>
          <a:blip r:embed="rId3"/>
          <a:stretch>
            <a:fillRect/>
          </a:stretch>
        </p:blipFill>
        <p:spPr>
          <a:xfrm>
            <a:off x="228177" y="3815866"/>
            <a:ext cx="6439579" cy="1373912"/>
          </a:xfrm>
          <a:prstGeom prst="rect">
            <a:avLst/>
          </a:prstGeom>
        </p:spPr>
      </p:pic>
      <p:pic>
        <p:nvPicPr>
          <p:cNvPr id="9" name="Picture 9"/>
          <p:cNvPicPr>
            <a:picLocks noChangeAspect="1"/>
          </p:cNvPicPr>
          <p:nvPr/>
        </p:nvPicPr>
        <p:blipFill>
          <a:blip r:embed="rId4"/>
          <a:stretch>
            <a:fillRect/>
          </a:stretch>
        </p:blipFill>
        <p:spPr>
          <a:xfrm>
            <a:off x="379224" y="5324837"/>
            <a:ext cx="4627019" cy="1422335"/>
          </a:xfrm>
          <a:prstGeom prst="rect">
            <a:avLst/>
          </a:prstGeom>
        </p:spPr>
      </p:pic>
      <p:sp>
        <p:nvSpPr>
          <p:cNvPr id="10" name="TextBox 10"/>
          <p:cNvSpPr txBox="1"/>
          <p:nvPr/>
        </p:nvSpPr>
        <p:spPr>
          <a:xfrm>
            <a:off x="764809" y="6853067"/>
            <a:ext cx="14563084" cy="3228022"/>
          </a:xfrm>
          <a:prstGeom prst="rect">
            <a:avLst/>
          </a:prstGeom>
        </p:spPr>
        <p:txBody>
          <a:bodyPr lIns="0" tIns="0" rIns="0" bIns="0" rtlCol="0" anchor="t">
            <a:spAutoFit/>
          </a:bodyPr>
          <a:lstStyle/>
          <a:p>
            <a:pPr algn="l">
              <a:lnSpc>
                <a:spcPts val="3340"/>
              </a:lnSpc>
            </a:pPr>
            <a:r>
              <a:rPr lang="en-US" sz="2000">
                <a:solidFill>
                  <a:srgbClr val="022B3A"/>
                </a:solidFill>
                <a:latin typeface="Poppins"/>
                <a:ea typeface="Poppins"/>
                <a:cs typeface="Poppins"/>
                <a:sym typeface="Poppins"/>
              </a:rPr>
              <a:t>The dynamic threshold increases with the prudence score (content sensitivity adjusted with weights). Therefore, for highly sensitive images, the system requires stronger evidence from the ADN before classifying the image as real. This reduces the risk of false positives (fake images incorrectly classified as real) that is one of our main concern of the project. So lower sensitivity means lower threshold so the system relies more on the pure output of the ADN, instead for higher sensitivity, the threshold should be higher to be considered real.</a:t>
            </a:r>
          </a:p>
          <a:p>
            <a:pPr algn="l">
              <a:lnSpc>
                <a:spcPts val="5009"/>
              </a:lnSpc>
            </a:pPr>
            <a:endParaRPr lang="en-US" sz="2000">
              <a:solidFill>
                <a:srgbClr val="022B3A"/>
              </a:solidFill>
              <a:latin typeface="Poppins"/>
              <a:ea typeface="Poppins"/>
              <a:cs typeface="Poppins"/>
              <a:sym typeface="Poppins"/>
            </a:endParaRPr>
          </a:p>
          <a:p>
            <a:pPr marL="0" lvl="0" indent="0" algn="l">
              <a:lnSpc>
                <a:spcPts val="4174"/>
              </a:lnSpc>
              <a:spcBef>
                <a:spcPct val="0"/>
              </a:spcBef>
            </a:pPr>
            <a:endParaRPr lang="en-US" sz="2000">
              <a:solidFill>
                <a:srgbClr val="022B3A"/>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Rectangle 1"/>
          <p:cNvSpPr/>
          <p:nvPr/>
        </p:nvSpPr>
        <p:spPr>
          <a:xfrm>
            <a:off x="-189370" y="1028700"/>
            <a:ext cx="3127322" cy="4610949"/>
          </a:xfrm>
          <a:prstGeom prst="rect">
            <a:avLst/>
          </a:prstGeom>
          <a:solidFill>
            <a:srgbClr val="C2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52276" y="1771764"/>
            <a:ext cx="12000000" cy="2400000"/>
          </a:xfrm>
          <a:prstGeom prst="rect">
            <a:avLst/>
          </a:prstGeom>
          <a:noFill/>
        </p:spPr>
        <p:txBody>
          <a:bodyPr wrap="square">
            <a:spAutoFit/>
          </a:bodyPr>
          <a:lstStyle/>
          <a:p>
            <a:pPr>
              <a:spcAft>
                <a:spcPts val="800"/>
              </a:spcAft>
            </a:pPr>
            <a:r>
              <a:rPr sz="6000" b="1">
                <a:solidFill>
                  <a:srgbClr val="022B3A"/>
                </a:solidFill>
                <a:latin typeface="Poppins Bold"/>
              </a:rPr>
              <a:t>Ablation &amp;</a:t>
            </a:r>
          </a:p>
          <a:p>
            <a:pPr>
              <a:spcAft>
                <a:spcPts val="800"/>
              </a:spcAft>
            </a:pPr>
            <a:r>
              <a:rPr sz="6000" b="1">
                <a:solidFill>
                  <a:srgbClr val="022B3A"/>
                </a:solidFill>
                <a:latin typeface="Poppins Bold"/>
              </a:rPr>
              <a:t>Discussion</a:t>
            </a:r>
          </a:p>
        </p:txBody>
      </p:sp>
      <p:sp>
        <p:nvSpPr>
          <p:cNvPr id="4" name="TextBox 3"/>
          <p:cNvSpPr txBox="1"/>
          <p:nvPr/>
        </p:nvSpPr>
        <p:spPr>
          <a:xfrm>
            <a:off x="17735164" y="9735222"/>
            <a:ext cx="300000" cy="300000"/>
          </a:xfrm>
          <a:prstGeom prst="rect">
            <a:avLst/>
          </a:prstGeom>
          <a:noFill/>
        </p:spPr>
        <p:txBody>
          <a:bodyPr wrap="square">
            <a:spAutoFit/>
          </a:bodyPr>
          <a:lstStyle/>
          <a:p>
            <a:pPr>
              <a:spcAft>
                <a:spcPts val="800"/>
              </a:spcAft>
            </a:pPr>
            <a:r>
              <a:rPr sz="2000" b="0">
                <a:solidFill>
                  <a:srgbClr val="022B3A"/>
                </a:solidFill>
                <a:latin typeface="Poppins"/>
              </a:rPr>
              <a:t>20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15" name="Group 10">
            <a:extLst>
              <a:ext uri="{FF2B5EF4-FFF2-40B4-BE49-F238E27FC236}">
                <a16:creationId xmlns:a16="http://schemas.microsoft.com/office/drawing/2014/main" id="{57FE0E08-073F-A5D0-6B05-8BE2C7D3CB8F}"/>
              </a:ext>
            </a:extLst>
          </p:cNvPr>
          <p:cNvGrpSpPr/>
          <p:nvPr/>
        </p:nvGrpSpPr>
        <p:grpSpPr>
          <a:xfrm>
            <a:off x="1028700" y="413840"/>
            <a:ext cx="2628900" cy="1002547"/>
            <a:chOff x="0" y="0"/>
            <a:chExt cx="1538342" cy="264045"/>
          </a:xfrm>
        </p:grpSpPr>
        <p:sp>
          <p:nvSpPr>
            <p:cNvPr id="16" name="Freeform 11">
              <a:extLst>
                <a:ext uri="{FF2B5EF4-FFF2-40B4-BE49-F238E27FC236}">
                  <a16:creationId xmlns:a16="http://schemas.microsoft.com/office/drawing/2014/main" id="{F27868D7-648B-D9BE-8944-A8F7C9B63802}"/>
                </a:ext>
              </a:extLst>
            </p:cNvPr>
            <p:cNvSpPr/>
            <p:nvPr/>
          </p:nvSpPr>
          <p:spPr>
            <a:xfrm>
              <a:off x="0" y="0"/>
              <a:ext cx="1538342" cy="264045"/>
            </a:xfrm>
            <a:custGeom>
              <a:avLst/>
              <a:gdLst/>
              <a:ahLst/>
              <a:cxnLst/>
              <a:rect l="l" t="t" r="r" b="b"/>
              <a:pathLst>
                <a:path w="1538342" h="264045">
                  <a:moveTo>
                    <a:pt x="0" y="0"/>
                  </a:moveTo>
                  <a:lnTo>
                    <a:pt x="1538342" y="0"/>
                  </a:lnTo>
                  <a:lnTo>
                    <a:pt x="1538342" y="264045"/>
                  </a:lnTo>
                  <a:lnTo>
                    <a:pt x="0" y="264045"/>
                  </a:lnTo>
                  <a:close/>
                </a:path>
              </a:pathLst>
            </a:custGeom>
            <a:solidFill>
              <a:srgbClr val="C2DCFF"/>
            </a:solidFill>
          </p:spPr>
          <p:txBody>
            <a:bodyPr/>
            <a:lstStyle/>
            <a:p>
              <a:endParaRPr/>
            </a:p>
          </p:txBody>
        </p:sp>
        <p:sp>
          <p:nvSpPr>
            <p:cNvPr id="17" name="TextBox 12">
              <a:extLst>
                <a:ext uri="{FF2B5EF4-FFF2-40B4-BE49-F238E27FC236}">
                  <a16:creationId xmlns:a16="http://schemas.microsoft.com/office/drawing/2014/main" id="{60FE8679-B7FF-5460-B2B6-2C387FA6F2C8}"/>
                </a:ext>
              </a:extLst>
            </p:cNvPr>
            <p:cNvSpPr txBox="1"/>
            <p:nvPr/>
          </p:nvSpPr>
          <p:spPr>
            <a:xfrm>
              <a:off x="0" y="28575"/>
              <a:ext cx="1538342" cy="235470"/>
            </a:xfrm>
            <a:prstGeom prst="rect">
              <a:avLst/>
            </a:prstGeom>
          </p:spPr>
          <p:txBody>
            <a:bodyPr lIns="50800" tIns="50800" rIns="50800" bIns="50800" rtlCol="0" anchor="ctr"/>
            <a:lstStyle/>
            <a:p>
              <a:pPr algn="ctr">
                <a:lnSpc>
                  <a:spcPts val="2499"/>
                </a:lnSpc>
              </a:pPr>
              <a:endParaRPr/>
            </a:p>
          </p:txBody>
        </p:sp>
      </p:grpSp>
      <p:sp>
        <p:nvSpPr>
          <p:cNvPr id="2" name="TextBox 1"/>
          <p:cNvSpPr txBox="1"/>
          <p:nvPr/>
        </p:nvSpPr>
        <p:spPr>
          <a:xfrm>
            <a:off x="1028700" y="390525"/>
            <a:ext cx="16200000" cy="923330"/>
          </a:xfrm>
          <a:prstGeom prst="rect">
            <a:avLst/>
          </a:prstGeom>
          <a:noFill/>
        </p:spPr>
        <p:txBody>
          <a:bodyPr wrap="square">
            <a:spAutoFit/>
          </a:bodyPr>
          <a:lstStyle/>
          <a:p>
            <a:pPr>
              <a:spcAft>
                <a:spcPts val="800"/>
              </a:spcAft>
            </a:pPr>
            <a:r>
              <a:rPr sz="5400" b="1" dirty="0">
                <a:solidFill>
                  <a:srgbClr val="022B3A"/>
                </a:solidFill>
                <a:latin typeface="Poppins Bold"/>
              </a:rPr>
              <a:t>Design</a:t>
            </a:r>
          </a:p>
        </p:txBody>
      </p:sp>
      <p:sp>
        <p:nvSpPr>
          <p:cNvPr id="3" name="TextBox 2"/>
          <p:cNvSpPr txBox="1"/>
          <p:nvPr/>
        </p:nvSpPr>
        <p:spPr>
          <a:xfrm>
            <a:off x="1028700" y="1650000"/>
            <a:ext cx="16200000" cy="900000"/>
          </a:xfrm>
          <a:prstGeom prst="rect">
            <a:avLst/>
          </a:prstGeom>
          <a:noFill/>
        </p:spPr>
        <p:txBody>
          <a:bodyPr wrap="square">
            <a:spAutoFit/>
          </a:bodyPr>
          <a:lstStyle/>
          <a:p>
            <a:pPr>
              <a:spcAft>
                <a:spcPts val="800"/>
              </a:spcAft>
            </a:pPr>
            <a:r>
              <a:rPr sz="2600" b="0">
                <a:solidFill>
                  <a:srgbClr val="1F2937"/>
                </a:solidFill>
                <a:latin typeface="Poppins"/>
              </a:rPr>
              <a:t>Does the sensitivity component really help, or are we just being stricter?</a:t>
            </a:r>
          </a:p>
        </p:txBody>
      </p:sp>
      <p:sp>
        <p:nvSpPr>
          <p:cNvPr id="4" name="Rounded Rectangle 3"/>
          <p:cNvSpPr/>
          <p:nvPr/>
        </p:nvSpPr>
        <p:spPr>
          <a:xfrm>
            <a:off x="1028700" y="2900000"/>
            <a:ext cx="3850000" cy="4300000"/>
          </a:xfrm>
          <a:prstGeom prst="roundRect">
            <a:avLst>
              <a:gd name="adj" fmla="val 6000"/>
            </a:avLst>
          </a:prstGeom>
          <a:solidFill>
            <a:srgbClr val="C2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28700" y="3070000"/>
            <a:ext cx="3450000" cy="3960000"/>
          </a:xfrm>
          <a:prstGeom prst="rect">
            <a:avLst/>
          </a:prstGeom>
          <a:noFill/>
        </p:spPr>
        <p:txBody>
          <a:bodyPr wrap="square">
            <a:spAutoFit/>
          </a:bodyPr>
          <a:lstStyle/>
          <a:p>
            <a:pPr>
              <a:spcAft>
                <a:spcPts val="800"/>
              </a:spcAft>
            </a:pPr>
            <a:r>
              <a:rPr sz="2800" b="1">
                <a:solidFill>
                  <a:srgbClr val="022B3A"/>
                </a:solidFill>
                <a:latin typeface="Poppins Bold"/>
              </a:rPr>
              <a:t>V0 · Baseline</a:t>
            </a:r>
          </a:p>
          <a:p>
            <a:pPr>
              <a:spcAft>
                <a:spcPts val="800"/>
              </a:spcAft>
            </a:pPr>
            <a:r>
              <a:rPr sz="2200" b="0">
                <a:solidFill>
                  <a:srgbClr val="1F2937"/>
                </a:solidFill>
                <a:latin typeface="Poppins"/>
              </a:rPr>
              <a:t>ADN only, fixed threshold 0.5. No sensitivity information.</a:t>
            </a:r>
          </a:p>
        </p:txBody>
      </p:sp>
      <p:sp>
        <p:nvSpPr>
          <p:cNvPr id="6" name="Rounded Rectangle 5"/>
          <p:cNvSpPr/>
          <p:nvPr/>
        </p:nvSpPr>
        <p:spPr>
          <a:xfrm>
            <a:off x="5178700" y="2900000"/>
            <a:ext cx="3850000" cy="4300000"/>
          </a:xfrm>
          <a:prstGeom prst="roundRect">
            <a:avLst>
              <a:gd name="adj" fmla="val 6000"/>
            </a:avLst>
          </a:prstGeom>
          <a:solidFill>
            <a:srgbClr val="C2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78700" y="3070000"/>
            <a:ext cx="3450000" cy="3960000"/>
          </a:xfrm>
          <a:prstGeom prst="rect">
            <a:avLst/>
          </a:prstGeom>
          <a:noFill/>
        </p:spPr>
        <p:txBody>
          <a:bodyPr wrap="square">
            <a:spAutoFit/>
          </a:bodyPr>
          <a:lstStyle/>
          <a:p>
            <a:pPr>
              <a:spcAft>
                <a:spcPts val="800"/>
              </a:spcAft>
            </a:pPr>
            <a:r>
              <a:rPr sz="2800" b="1">
                <a:solidFill>
                  <a:srgbClr val="022B3A"/>
                </a:solidFill>
                <a:latin typeface="Poppins Bold"/>
              </a:rPr>
              <a:t>V1 · Oracle</a:t>
            </a:r>
          </a:p>
          <a:p>
            <a:pPr>
              <a:spcAft>
                <a:spcPts val="800"/>
              </a:spcAft>
            </a:pPr>
            <a:r>
              <a:rPr sz="2200" b="0">
                <a:solidFill>
                  <a:srgbClr val="1F2937"/>
                </a:solidFill>
                <a:latin typeface="Poppins"/>
              </a:rPr>
              <a:t>Adaptive threshold driven by gold sensitivity labels: the upper bound.</a:t>
            </a:r>
          </a:p>
        </p:txBody>
      </p:sp>
      <p:sp>
        <p:nvSpPr>
          <p:cNvPr id="8" name="Rounded Rectangle 7"/>
          <p:cNvSpPr/>
          <p:nvPr/>
        </p:nvSpPr>
        <p:spPr>
          <a:xfrm>
            <a:off x="9328700" y="2900000"/>
            <a:ext cx="3850000" cy="4300000"/>
          </a:xfrm>
          <a:prstGeom prst="roundRect">
            <a:avLst>
              <a:gd name="adj" fmla="val 6000"/>
            </a:avLst>
          </a:prstGeom>
          <a:solidFill>
            <a:srgbClr val="C2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28700" y="3070000"/>
            <a:ext cx="3450000" cy="3960000"/>
          </a:xfrm>
          <a:prstGeom prst="rect">
            <a:avLst/>
          </a:prstGeom>
          <a:noFill/>
        </p:spPr>
        <p:txBody>
          <a:bodyPr wrap="square">
            <a:spAutoFit/>
          </a:bodyPr>
          <a:lstStyle/>
          <a:p>
            <a:pPr>
              <a:spcAft>
                <a:spcPts val="800"/>
              </a:spcAft>
            </a:pPr>
            <a:r>
              <a:rPr sz="2800" b="1">
                <a:solidFill>
                  <a:srgbClr val="022B3A"/>
                </a:solidFill>
                <a:latin typeface="Poppins Bold"/>
              </a:rPr>
              <a:t>V2 · SensiFake</a:t>
            </a:r>
          </a:p>
          <a:p>
            <a:pPr>
              <a:spcAft>
                <a:spcPts val="800"/>
              </a:spcAft>
            </a:pPr>
            <a:r>
              <a:rPr sz="2200" b="0">
                <a:solidFill>
                  <a:srgbClr val="1F2937"/>
                </a:solidFill>
                <a:latin typeface="Poppins"/>
              </a:rPr>
              <a:t>Adaptive threshold driven by CSN predictions: the full pipeline.</a:t>
            </a:r>
          </a:p>
        </p:txBody>
      </p:sp>
      <p:sp>
        <p:nvSpPr>
          <p:cNvPr id="10" name="Rounded Rectangle 9"/>
          <p:cNvSpPr/>
          <p:nvPr/>
        </p:nvSpPr>
        <p:spPr>
          <a:xfrm>
            <a:off x="13478700" y="2900000"/>
            <a:ext cx="3850000" cy="4300000"/>
          </a:xfrm>
          <a:prstGeom prst="roundRect">
            <a:avLst>
              <a:gd name="adj" fmla="val 6000"/>
            </a:avLst>
          </a:prstGeom>
          <a:solidFill>
            <a:srgbClr val="C2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678700" y="3070000"/>
            <a:ext cx="3450000" cy="3960000"/>
          </a:xfrm>
          <a:prstGeom prst="rect">
            <a:avLst/>
          </a:prstGeom>
          <a:noFill/>
        </p:spPr>
        <p:txBody>
          <a:bodyPr wrap="square">
            <a:spAutoFit/>
          </a:bodyPr>
          <a:lstStyle/>
          <a:p>
            <a:pPr>
              <a:spcAft>
                <a:spcPts val="800"/>
              </a:spcAft>
            </a:pPr>
            <a:r>
              <a:rPr sz="2800" b="1">
                <a:solidFill>
                  <a:srgbClr val="022B3A"/>
                </a:solidFill>
                <a:latin typeface="Poppins Bold"/>
              </a:rPr>
              <a:t>V3 · Control</a:t>
            </a:r>
          </a:p>
          <a:p>
            <a:pPr>
              <a:spcAft>
                <a:spcPts val="800"/>
              </a:spcAft>
            </a:pPr>
            <a:r>
              <a:rPr sz="2200" b="0">
                <a:solidFill>
                  <a:srgbClr val="1F2937"/>
                </a:solidFill>
                <a:latin typeface="Poppins"/>
              </a:rPr>
              <a:t>Sensitivity labels shuffled, same threshold distribution as V2.</a:t>
            </a:r>
          </a:p>
        </p:txBody>
      </p:sp>
      <p:sp>
        <p:nvSpPr>
          <p:cNvPr id="12" name="Rounded Rectangle 11"/>
          <p:cNvSpPr/>
          <p:nvPr/>
        </p:nvSpPr>
        <p:spPr>
          <a:xfrm>
            <a:off x="1028700" y="7500000"/>
            <a:ext cx="16200000" cy="2000000"/>
          </a:xfrm>
          <a:prstGeom prst="roundRect">
            <a:avLst>
              <a:gd name="adj" fmla="val 6000"/>
            </a:avLst>
          </a:prstGeom>
          <a:solidFill>
            <a:srgbClr val="E8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28700" y="7670000"/>
            <a:ext cx="15800000" cy="1660000"/>
          </a:xfrm>
          <a:prstGeom prst="rect">
            <a:avLst/>
          </a:prstGeom>
          <a:noFill/>
        </p:spPr>
        <p:txBody>
          <a:bodyPr wrap="square">
            <a:spAutoFit/>
          </a:bodyPr>
          <a:lstStyle/>
          <a:p>
            <a:pPr>
              <a:spcAft>
                <a:spcPts val="800"/>
              </a:spcAft>
            </a:pPr>
            <a:r>
              <a:rPr sz="2800" b="1">
                <a:solidFill>
                  <a:srgbClr val="022B3A"/>
                </a:solidFill>
                <a:latin typeface="Poppins Bold"/>
              </a:rPr>
              <a:t>Sweeps and metrics</a:t>
            </a:r>
          </a:p>
          <a:p>
            <a:pPr>
              <a:spcAft>
                <a:spcPts val="800"/>
              </a:spcAft>
            </a:pPr>
            <a:r>
              <a:rPr sz="2200" b="0">
                <a:solidFill>
                  <a:srgbClr val="1F2937"/>
                </a:solidFill>
                <a:latin typeface="Poppins"/>
              </a:rPr>
              <a:t>γ and (W_L, W_M, W_H) · fake→real error, real→fake error, Recall, F1, sensitivity-weighted accuracy · per stratum</a:t>
            </a:r>
          </a:p>
        </p:txBody>
      </p:sp>
      <p:sp>
        <p:nvSpPr>
          <p:cNvPr id="14" name="TextBox 13"/>
          <p:cNvSpPr txBox="1"/>
          <p:nvPr/>
        </p:nvSpPr>
        <p:spPr>
          <a:xfrm>
            <a:off x="17735164" y="9735222"/>
            <a:ext cx="300000" cy="300000"/>
          </a:xfrm>
          <a:prstGeom prst="rect">
            <a:avLst/>
          </a:prstGeom>
          <a:noFill/>
        </p:spPr>
        <p:txBody>
          <a:bodyPr wrap="square">
            <a:spAutoFit/>
          </a:bodyPr>
          <a:lstStyle/>
          <a:p>
            <a:pPr>
              <a:spcAft>
                <a:spcPts val="800"/>
              </a:spcAft>
            </a:pPr>
            <a:r>
              <a:rPr sz="2000" b="0">
                <a:solidFill>
                  <a:srgbClr val="022B3A"/>
                </a:solidFill>
                <a:latin typeface="Poppins"/>
              </a:rPr>
              <a:t>21</a:t>
            </a:r>
          </a:p>
        </p:txBody>
      </p:sp>
      <p:grpSp>
        <p:nvGrpSpPr>
          <p:cNvPr id="18" name="Group 16">
            <a:extLst>
              <a:ext uri="{FF2B5EF4-FFF2-40B4-BE49-F238E27FC236}">
                <a16:creationId xmlns:a16="http://schemas.microsoft.com/office/drawing/2014/main" id="{357261AB-D9EB-C0EB-DF48-7CAC83C64912}"/>
              </a:ext>
            </a:extLst>
          </p:cNvPr>
          <p:cNvGrpSpPr/>
          <p:nvPr/>
        </p:nvGrpSpPr>
        <p:grpSpPr>
          <a:xfrm>
            <a:off x="685800" y="413839"/>
            <a:ext cx="209921" cy="1002547"/>
            <a:chOff x="0" y="0"/>
            <a:chExt cx="55288" cy="264045"/>
          </a:xfrm>
        </p:grpSpPr>
        <p:sp>
          <p:nvSpPr>
            <p:cNvPr id="19" name="Freeform 17">
              <a:extLst>
                <a:ext uri="{FF2B5EF4-FFF2-40B4-BE49-F238E27FC236}">
                  <a16:creationId xmlns:a16="http://schemas.microsoft.com/office/drawing/2014/main" id="{256B7EA0-8BF9-BE0C-B964-33981EFB9214}"/>
                </a:ext>
              </a:extLst>
            </p:cNvPr>
            <p:cNvSpPr/>
            <p:nvPr/>
          </p:nvSpPr>
          <p:spPr>
            <a:xfrm>
              <a:off x="0" y="0"/>
              <a:ext cx="55288" cy="264045"/>
            </a:xfrm>
            <a:custGeom>
              <a:avLst/>
              <a:gdLst/>
              <a:ahLst/>
              <a:cxnLst/>
              <a:rect l="l" t="t" r="r" b="b"/>
              <a:pathLst>
                <a:path w="55288" h="264045">
                  <a:moveTo>
                    <a:pt x="0" y="0"/>
                  </a:moveTo>
                  <a:lnTo>
                    <a:pt x="55288" y="0"/>
                  </a:lnTo>
                  <a:lnTo>
                    <a:pt x="55288" y="264045"/>
                  </a:lnTo>
                  <a:lnTo>
                    <a:pt x="0" y="264045"/>
                  </a:lnTo>
                  <a:close/>
                </a:path>
              </a:pathLst>
            </a:custGeom>
            <a:solidFill>
              <a:srgbClr val="022B3A"/>
            </a:solidFill>
          </p:spPr>
          <p:txBody>
            <a:bodyPr/>
            <a:lstStyle/>
            <a:p>
              <a:endParaRPr/>
            </a:p>
          </p:txBody>
        </p:sp>
        <p:sp>
          <p:nvSpPr>
            <p:cNvPr id="20" name="TextBox 18">
              <a:extLst>
                <a:ext uri="{FF2B5EF4-FFF2-40B4-BE49-F238E27FC236}">
                  <a16:creationId xmlns:a16="http://schemas.microsoft.com/office/drawing/2014/main" id="{9A8A9C04-6102-60E2-48F1-3811B76878D1}"/>
                </a:ext>
              </a:extLst>
            </p:cNvPr>
            <p:cNvSpPr txBox="1"/>
            <p:nvPr/>
          </p:nvSpPr>
          <p:spPr>
            <a:xfrm>
              <a:off x="0" y="28575"/>
              <a:ext cx="55288" cy="235470"/>
            </a:xfrm>
            <a:prstGeom prst="rect">
              <a:avLst/>
            </a:prstGeom>
          </p:spPr>
          <p:txBody>
            <a:bodyPr lIns="50800" tIns="50800" rIns="50800" bIns="50800" rtlCol="0" anchor="ctr"/>
            <a:lstStyle/>
            <a:p>
              <a:pPr algn="ctr">
                <a:lnSpc>
                  <a:spcPts val="2499"/>
                </a:lnSpc>
              </a:pP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5F04EC4-5337-D328-059E-42ED45F14A85}"/>
              </a:ext>
            </a:extLst>
          </p:cNvPr>
          <p:cNvGrpSpPr/>
          <p:nvPr/>
        </p:nvGrpSpPr>
        <p:grpSpPr>
          <a:xfrm>
            <a:off x="1028700" y="413840"/>
            <a:ext cx="11163300" cy="1002547"/>
            <a:chOff x="0" y="0"/>
            <a:chExt cx="1538342" cy="264045"/>
          </a:xfrm>
        </p:grpSpPr>
        <p:sp>
          <p:nvSpPr>
            <p:cNvPr id="12" name="Freeform 11">
              <a:extLst>
                <a:ext uri="{FF2B5EF4-FFF2-40B4-BE49-F238E27FC236}">
                  <a16:creationId xmlns:a16="http://schemas.microsoft.com/office/drawing/2014/main" id="{76AB2E04-E292-03E6-504E-135EBD25A1CD}"/>
                </a:ext>
              </a:extLst>
            </p:cNvPr>
            <p:cNvSpPr/>
            <p:nvPr/>
          </p:nvSpPr>
          <p:spPr>
            <a:xfrm>
              <a:off x="0" y="0"/>
              <a:ext cx="1538342" cy="264045"/>
            </a:xfrm>
            <a:custGeom>
              <a:avLst/>
              <a:gdLst/>
              <a:ahLst/>
              <a:cxnLst/>
              <a:rect l="l" t="t" r="r" b="b"/>
              <a:pathLst>
                <a:path w="1538342" h="264045">
                  <a:moveTo>
                    <a:pt x="0" y="0"/>
                  </a:moveTo>
                  <a:lnTo>
                    <a:pt x="1538342" y="0"/>
                  </a:lnTo>
                  <a:lnTo>
                    <a:pt x="1538342" y="264045"/>
                  </a:lnTo>
                  <a:lnTo>
                    <a:pt x="0" y="264045"/>
                  </a:lnTo>
                  <a:close/>
                </a:path>
              </a:pathLst>
            </a:custGeom>
            <a:solidFill>
              <a:srgbClr val="C2DCFF"/>
            </a:solidFill>
          </p:spPr>
          <p:txBody>
            <a:bodyPr/>
            <a:lstStyle/>
            <a:p>
              <a:endParaRPr/>
            </a:p>
          </p:txBody>
        </p:sp>
        <p:sp>
          <p:nvSpPr>
            <p:cNvPr id="13" name="TextBox 12">
              <a:extLst>
                <a:ext uri="{FF2B5EF4-FFF2-40B4-BE49-F238E27FC236}">
                  <a16:creationId xmlns:a16="http://schemas.microsoft.com/office/drawing/2014/main" id="{8BB4F107-FA45-CBEF-0BCB-31D9CACCC1D6}"/>
                </a:ext>
              </a:extLst>
            </p:cNvPr>
            <p:cNvSpPr txBox="1"/>
            <p:nvPr/>
          </p:nvSpPr>
          <p:spPr>
            <a:xfrm>
              <a:off x="0" y="28575"/>
              <a:ext cx="1538342" cy="235470"/>
            </a:xfrm>
            <a:prstGeom prst="rect">
              <a:avLst/>
            </a:prstGeom>
          </p:spPr>
          <p:txBody>
            <a:bodyPr lIns="50800" tIns="50800" rIns="50800" bIns="50800" rtlCol="0" anchor="ctr"/>
            <a:lstStyle/>
            <a:p>
              <a:pPr algn="ctr">
                <a:lnSpc>
                  <a:spcPts val="2499"/>
                </a:lnSpc>
              </a:pPr>
              <a:endParaRPr/>
            </a:p>
          </p:txBody>
        </p:sp>
      </p:grpSp>
      <p:sp>
        <p:nvSpPr>
          <p:cNvPr id="2" name="TextBox 1"/>
          <p:cNvSpPr txBox="1"/>
          <p:nvPr/>
        </p:nvSpPr>
        <p:spPr>
          <a:xfrm>
            <a:off x="1028700" y="390525"/>
            <a:ext cx="16200000" cy="1095375"/>
          </a:xfrm>
          <a:prstGeom prst="rect">
            <a:avLst/>
          </a:prstGeom>
          <a:noFill/>
        </p:spPr>
        <p:txBody>
          <a:bodyPr wrap="square">
            <a:spAutoFit/>
          </a:bodyPr>
          <a:lstStyle/>
          <a:p>
            <a:pPr>
              <a:spcAft>
                <a:spcPts val="800"/>
              </a:spcAft>
            </a:pPr>
            <a:r>
              <a:rPr sz="5400" b="1">
                <a:solidFill>
                  <a:srgbClr val="022B3A"/>
                </a:solidFill>
                <a:latin typeface="Poppins Bold"/>
              </a:rPr>
              <a:t>What the Results Already Show</a:t>
            </a:r>
          </a:p>
        </p:txBody>
      </p:sp>
      <p:sp>
        <p:nvSpPr>
          <p:cNvPr id="3" name="TextBox 2"/>
          <p:cNvSpPr txBox="1"/>
          <p:nvPr/>
        </p:nvSpPr>
        <p:spPr>
          <a:xfrm>
            <a:off x="1028700" y="1750000"/>
            <a:ext cx="5200000" cy="2300000"/>
          </a:xfrm>
          <a:prstGeom prst="rect">
            <a:avLst/>
          </a:prstGeom>
          <a:noFill/>
        </p:spPr>
        <p:txBody>
          <a:bodyPr wrap="square">
            <a:spAutoFit/>
          </a:bodyPr>
          <a:lstStyle/>
          <a:p>
            <a:pPr>
              <a:spcAft>
                <a:spcPts val="800"/>
              </a:spcAft>
            </a:pPr>
            <a:r>
              <a:rPr sz="4800" b="1">
                <a:solidFill>
                  <a:srgbClr val="022B3A"/>
                </a:solidFill>
                <a:latin typeface="Poppins Bold"/>
              </a:rPr>
              <a:t>0.71 → 0.88</a:t>
            </a:r>
          </a:p>
          <a:p>
            <a:pPr>
              <a:spcAft>
                <a:spcPts val="800"/>
              </a:spcAft>
            </a:pPr>
            <a:r>
              <a:rPr sz="2200" b="0">
                <a:solidFill>
                  <a:srgbClr val="1F2937"/>
                </a:solidFill>
                <a:latin typeface="Poppins"/>
              </a:rPr>
              <a:t>Accuracy, low → high sensitivity</a:t>
            </a:r>
          </a:p>
        </p:txBody>
      </p:sp>
      <p:sp>
        <p:nvSpPr>
          <p:cNvPr id="4" name="TextBox 3"/>
          <p:cNvSpPr txBox="1"/>
          <p:nvPr/>
        </p:nvSpPr>
        <p:spPr>
          <a:xfrm>
            <a:off x="6528700" y="1750000"/>
            <a:ext cx="5200000" cy="2300000"/>
          </a:xfrm>
          <a:prstGeom prst="rect">
            <a:avLst/>
          </a:prstGeom>
          <a:noFill/>
        </p:spPr>
        <p:txBody>
          <a:bodyPr wrap="square">
            <a:spAutoFit/>
          </a:bodyPr>
          <a:lstStyle/>
          <a:p>
            <a:pPr>
              <a:spcAft>
                <a:spcPts val="800"/>
              </a:spcAft>
            </a:pPr>
            <a:r>
              <a:rPr sz="4800" b="1">
                <a:solidFill>
                  <a:srgbClr val="022B3A"/>
                </a:solidFill>
                <a:latin typeface="Poppins Bold"/>
              </a:rPr>
              <a:t>0.91 → 0.97</a:t>
            </a:r>
          </a:p>
          <a:p>
            <a:pPr>
              <a:spcAft>
                <a:spcPts val="800"/>
              </a:spcAft>
            </a:pPr>
            <a:r>
              <a:rPr sz="2200" b="0">
                <a:solidFill>
                  <a:srgbClr val="1F2937"/>
                </a:solidFill>
                <a:latin typeface="Poppins"/>
              </a:rPr>
              <a:t>Recall, low → high sensitivity</a:t>
            </a:r>
          </a:p>
        </p:txBody>
      </p:sp>
      <p:sp>
        <p:nvSpPr>
          <p:cNvPr id="5" name="TextBox 4"/>
          <p:cNvSpPr txBox="1"/>
          <p:nvPr/>
        </p:nvSpPr>
        <p:spPr>
          <a:xfrm>
            <a:off x="12028700" y="1750000"/>
            <a:ext cx="5200000" cy="2300000"/>
          </a:xfrm>
          <a:prstGeom prst="rect">
            <a:avLst/>
          </a:prstGeom>
          <a:noFill/>
        </p:spPr>
        <p:txBody>
          <a:bodyPr wrap="square">
            <a:spAutoFit/>
          </a:bodyPr>
          <a:lstStyle/>
          <a:p>
            <a:pPr>
              <a:spcAft>
                <a:spcPts val="800"/>
              </a:spcAft>
            </a:pPr>
            <a:r>
              <a:rPr sz="4800" b="1">
                <a:solidFill>
                  <a:srgbClr val="022B3A"/>
                </a:solidFill>
                <a:latin typeface="Poppins Bold"/>
              </a:rPr>
              <a:t>224 / 4,499</a:t>
            </a:r>
          </a:p>
          <a:p>
            <a:pPr>
              <a:spcAft>
                <a:spcPts val="800"/>
              </a:spcAft>
            </a:pPr>
            <a:r>
              <a:rPr sz="2200" b="0">
                <a:solidFill>
                  <a:srgbClr val="1F2937"/>
                </a:solidFill>
                <a:latin typeface="Poppins"/>
              </a:rPr>
              <a:t>High-sensitivity images (5%)</a:t>
            </a:r>
          </a:p>
        </p:txBody>
      </p:sp>
      <p:sp>
        <p:nvSpPr>
          <p:cNvPr id="6" name="Rounded Rectangle 5"/>
          <p:cNvSpPr/>
          <p:nvPr/>
        </p:nvSpPr>
        <p:spPr>
          <a:xfrm>
            <a:off x="1028700" y="4400000"/>
            <a:ext cx="7900000" cy="4900000"/>
          </a:xfrm>
          <a:prstGeom prst="roundRect">
            <a:avLst>
              <a:gd name="adj" fmla="val 6000"/>
            </a:avLst>
          </a:prstGeom>
          <a:solidFill>
            <a:srgbClr val="C2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28700" y="4570000"/>
            <a:ext cx="7500000" cy="4560000"/>
          </a:xfrm>
          <a:prstGeom prst="rect">
            <a:avLst/>
          </a:prstGeom>
          <a:noFill/>
        </p:spPr>
        <p:txBody>
          <a:bodyPr wrap="square">
            <a:spAutoFit/>
          </a:bodyPr>
          <a:lstStyle/>
          <a:p>
            <a:pPr>
              <a:spcAft>
                <a:spcPts val="800"/>
              </a:spcAft>
            </a:pPr>
            <a:r>
              <a:rPr sz="2800" b="1">
                <a:solidFill>
                  <a:srgbClr val="022B3A"/>
                </a:solidFill>
                <a:latin typeface="Poppins Bold"/>
              </a:rPr>
              <a:t>Insight</a:t>
            </a:r>
          </a:p>
          <a:p>
            <a:pPr>
              <a:spcAft>
                <a:spcPts val="800"/>
              </a:spcAft>
            </a:pPr>
            <a:r>
              <a:rPr sz="2200" b="0">
                <a:solidFill>
                  <a:srgbClr val="1F2937"/>
                </a:solidFill>
                <a:latin typeface="Poppins"/>
              </a:rPr>
              <a:t>Gains grow with sensitivity, exactly where the threshold is strictest (0.3).</a:t>
            </a:r>
          </a:p>
          <a:p>
            <a:pPr>
              <a:spcAft>
                <a:spcPts val="800"/>
              </a:spcAft>
            </a:pPr>
            <a:r>
              <a:rPr sz="2200" b="0">
                <a:solidFill>
                  <a:srgbClr val="1F2937"/>
                </a:solidFill>
                <a:latin typeface="Poppins"/>
              </a:rPr>
              <a:t>Part of this may be a pure threshold effect: V3 is needed to separate it.</a:t>
            </a:r>
          </a:p>
        </p:txBody>
      </p:sp>
      <p:sp>
        <p:nvSpPr>
          <p:cNvPr id="8" name="Rounded Rectangle 7"/>
          <p:cNvSpPr/>
          <p:nvPr/>
        </p:nvSpPr>
        <p:spPr>
          <a:xfrm>
            <a:off x="9330000" y="4400000"/>
            <a:ext cx="7900000" cy="4900000"/>
          </a:xfrm>
          <a:prstGeom prst="roundRect">
            <a:avLst>
              <a:gd name="adj" fmla="val 6000"/>
            </a:avLst>
          </a:prstGeom>
          <a:solidFill>
            <a:srgbClr val="C2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30000" y="4570000"/>
            <a:ext cx="7500000" cy="4560000"/>
          </a:xfrm>
          <a:prstGeom prst="rect">
            <a:avLst/>
          </a:prstGeom>
          <a:noFill/>
        </p:spPr>
        <p:txBody>
          <a:bodyPr wrap="square">
            <a:spAutoFit/>
          </a:bodyPr>
          <a:lstStyle/>
          <a:p>
            <a:pPr>
              <a:spcAft>
                <a:spcPts val="800"/>
              </a:spcAft>
            </a:pPr>
            <a:r>
              <a:rPr sz="2800" b="1">
                <a:solidFill>
                  <a:srgbClr val="022B3A"/>
                </a:solidFill>
                <a:latin typeface="Poppins Bold"/>
              </a:rPr>
              <a:t>Caution</a:t>
            </a:r>
          </a:p>
          <a:p>
            <a:pPr>
              <a:spcAft>
                <a:spcPts val="800"/>
              </a:spcAft>
            </a:pPr>
            <a:r>
              <a:rPr sz="2200" b="0">
                <a:solidFill>
                  <a:srgbClr val="1F2937"/>
                </a:solidFill>
                <a:latin typeface="Poppins"/>
              </a:rPr>
              <a:t>With n = 224, the High accuracy of 0.88 has a 95% interval of about ±4 points.</a:t>
            </a:r>
          </a:p>
          <a:p>
            <a:pPr>
              <a:spcAft>
                <a:spcPts val="800"/>
              </a:spcAft>
            </a:pPr>
            <a:r>
              <a:rPr sz="2200" b="0">
                <a:solidFill>
                  <a:srgbClr val="1F2937"/>
                </a:solidFill>
                <a:latin typeface="Poppins"/>
              </a:rPr>
              <a:t>High-sensitivity images come from different sources, so content and origin are confounded.</a:t>
            </a:r>
          </a:p>
        </p:txBody>
      </p:sp>
      <p:sp>
        <p:nvSpPr>
          <p:cNvPr id="10" name="TextBox 9"/>
          <p:cNvSpPr txBox="1"/>
          <p:nvPr/>
        </p:nvSpPr>
        <p:spPr>
          <a:xfrm>
            <a:off x="17735164" y="9735222"/>
            <a:ext cx="300000" cy="300000"/>
          </a:xfrm>
          <a:prstGeom prst="rect">
            <a:avLst/>
          </a:prstGeom>
          <a:noFill/>
        </p:spPr>
        <p:txBody>
          <a:bodyPr wrap="square">
            <a:spAutoFit/>
          </a:bodyPr>
          <a:lstStyle/>
          <a:p>
            <a:pPr>
              <a:spcAft>
                <a:spcPts val="800"/>
              </a:spcAft>
            </a:pPr>
            <a:r>
              <a:rPr sz="2000" b="0">
                <a:solidFill>
                  <a:srgbClr val="022B3A"/>
                </a:solidFill>
                <a:latin typeface="Poppins"/>
              </a:rPr>
              <a:t>22</a:t>
            </a:r>
          </a:p>
        </p:txBody>
      </p:sp>
      <p:grpSp>
        <p:nvGrpSpPr>
          <p:cNvPr id="14" name="Group 16">
            <a:extLst>
              <a:ext uri="{FF2B5EF4-FFF2-40B4-BE49-F238E27FC236}">
                <a16:creationId xmlns:a16="http://schemas.microsoft.com/office/drawing/2014/main" id="{D1BB6BD3-E893-4C39-1CEF-61A68BF50FEB}"/>
              </a:ext>
            </a:extLst>
          </p:cNvPr>
          <p:cNvGrpSpPr/>
          <p:nvPr/>
        </p:nvGrpSpPr>
        <p:grpSpPr>
          <a:xfrm>
            <a:off x="664585" y="413838"/>
            <a:ext cx="672504" cy="1160209"/>
            <a:chOff x="-121833" y="-41524"/>
            <a:chExt cx="177121" cy="305569"/>
          </a:xfrm>
        </p:grpSpPr>
        <p:sp>
          <p:nvSpPr>
            <p:cNvPr id="15" name="Freeform 17">
              <a:extLst>
                <a:ext uri="{FF2B5EF4-FFF2-40B4-BE49-F238E27FC236}">
                  <a16:creationId xmlns:a16="http://schemas.microsoft.com/office/drawing/2014/main" id="{53B36A14-575A-0D7A-99BC-857398D9131B}"/>
                </a:ext>
              </a:extLst>
            </p:cNvPr>
            <p:cNvSpPr/>
            <p:nvPr/>
          </p:nvSpPr>
          <p:spPr>
            <a:xfrm>
              <a:off x="-121833" y="-41524"/>
              <a:ext cx="55288" cy="264045"/>
            </a:xfrm>
            <a:custGeom>
              <a:avLst/>
              <a:gdLst/>
              <a:ahLst/>
              <a:cxnLst/>
              <a:rect l="l" t="t" r="r" b="b"/>
              <a:pathLst>
                <a:path w="55288" h="264045">
                  <a:moveTo>
                    <a:pt x="0" y="0"/>
                  </a:moveTo>
                  <a:lnTo>
                    <a:pt x="55288" y="0"/>
                  </a:lnTo>
                  <a:lnTo>
                    <a:pt x="55288" y="264045"/>
                  </a:lnTo>
                  <a:lnTo>
                    <a:pt x="0" y="264045"/>
                  </a:lnTo>
                  <a:close/>
                </a:path>
              </a:pathLst>
            </a:custGeom>
            <a:solidFill>
              <a:srgbClr val="022B3A"/>
            </a:solidFill>
          </p:spPr>
          <p:txBody>
            <a:bodyPr/>
            <a:lstStyle/>
            <a:p>
              <a:endParaRPr/>
            </a:p>
          </p:txBody>
        </p:sp>
        <p:sp>
          <p:nvSpPr>
            <p:cNvPr id="16" name="TextBox 18">
              <a:extLst>
                <a:ext uri="{FF2B5EF4-FFF2-40B4-BE49-F238E27FC236}">
                  <a16:creationId xmlns:a16="http://schemas.microsoft.com/office/drawing/2014/main" id="{416C74CB-ED3F-7EA6-FC8D-EB1A6246CC76}"/>
                </a:ext>
              </a:extLst>
            </p:cNvPr>
            <p:cNvSpPr txBox="1"/>
            <p:nvPr/>
          </p:nvSpPr>
          <p:spPr>
            <a:xfrm>
              <a:off x="0" y="28575"/>
              <a:ext cx="55288" cy="235470"/>
            </a:xfrm>
            <a:prstGeom prst="rect">
              <a:avLst/>
            </a:prstGeom>
          </p:spPr>
          <p:txBody>
            <a:bodyPr lIns="50800" tIns="50800" rIns="50800" bIns="50800" rtlCol="0" anchor="ctr"/>
            <a:lstStyle/>
            <a:p>
              <a:pPr algn="ctr">
                <a:lnSpc>
                  <a:spcPts val="2499"/>
                </a:lnSpc>
              </a:pPr>
              <a:endParaRPr dirty="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10" name="Group 10">
            <a:extLst>
              <a:ext uri="{FF2B5EF4-FFF2-40B4-BE49-F238E27FC236}">
                <a16:creationId xmlns:a16="http://schemas.microsoft.com/office/drawing/2014/main" id="{1603D740-F2BE-1124-69DA-CCEDE03B7D23}"/>
              </a:ext>
            </a:extLst>
          </p:cNvPr>
          <p:cNvGrpSpPr/>
          <p:nvPr/>
        </p:nvGrpSpPr>
        <p:grpSpPr>
          <a:xfrm>
            <a:off x="1028700" y="413840"/>
            <a:ext cx="7277100" cy="1002547"/>
            <a:chOff x="0" y="0"/>
            <a:chExt cx="1538342" cy="264045"/>
          </a:xfrm>
        </p:grpSpPr>
        <p:sp>
          <p:nvSpPr>
            <p:cNvPr id="11" name="Freeform 11">
              <a:extLst>
                <a:ext uri="{FF2B5EF4-FFF2-40B4-BE49-F238E27FC236}">
                  <a16:creationId xmlns:a16="http://schemas.microsoft.com/office/drawing/2014/main" id="{2E8F98AB-848D-9B16-9CBB-B3DCD46A9F92}"/>
                </a:ext>
              </a:extLst>
            </p:cNvPr>
            <p:cNvSpPr/>
            <p:nvPr/>
          </p:nvSpPr>
          <p:spPr>
            <a:xfrm>
              <a:off x="0" y="0"/>
              <a:ext cx="1538342" cy="264045"/>
            </a:xfrm>
            <a:custGeom>
              <a:avLst/>
              <a:gdLst/>
              <a:ahLst/>
              <a:cxnLst/>
              <a:rect l="l" t="t" r="r" b="b"/>
              <a:pathLst>
                <a:path w="1538342" h="264045">
                  <a:moveTo>
                    <a:pt x="0" y="0"/>
                  </a:moveTo>
                  <a:lnTo>
                    <a:pt x="1538342" y="0"/>
                  </a:lnTo>
                  <a:lnTo>
                    <a:pt x="1538342" y="264045"/>
                  </a:lnTo>
                  <a:lnTo>
                    <a:pt x="0" y="264045"/>
                  </a:lnTo>
                  <a:close/>
                </a:path>
              </a:pathLst>
            </a:custGeom>
            <a:solidFill>
              <a:srgbClr val="C2DCFF"/>
            </a:solidFill>
          </p:spPr>
          <p:txBody>
            <a:bodyPr/>
            <a:lstStyle/>
            <a:p>
              <a:endParaRPr/>
            </a:p>
          </p:txBody>
        </p:sp>
        <p:sp>
          <p:nvSpPr>
            <p:cNvPr id="12" name="TextBox 12">
              <a:extLst>
                <a:ext uri="{FF2B5EF4-FFF2-40B4-BE49-F238E27FC236}">
                  <a16:creationId xmlns:a16="http://schemas.microsoft.com/office/drawing/2014/main" id="{F4907F09-E849-D4E3-9C0C-AC81B516A92F}"/>
                </a:ext>
              </a:extLst>
            </p:cNvPr>
            <p:cNvSpPr txBox="1"/>
            <p:nvPr/>
          </p:nvSpPr>
          <p:spPr>
            <a:xfrm>
              <a:off x="0" y="28575"/>
              <a:ext cx="1538342" cy="235470"/>
            </a:xfrm>
            <a:prstGeom prst="rect">
              <a:avLst/>
            </a:prstGeom>
          </p:spPr>
          <p:txBody>
            <a:bodyPr lIns="50800" tIns="50800" rIns="50800" bIns="50800" rtlCol="0" anchor="ctr"/>
            <a:lstStyle/>
            <a:p>
              <a:pPr algn="ctr">
                <a:lnSpc>
                  <a:spcPts val="2499"/>
                </a:lnSpc>
              </a:pPr>
              <a:endParaRPr/>
            </a:p>
          </p:txBody>
        </p:sp>
      </p:grpSp>
      <p:sp>
        <p:nvSpPr>
          <p:cNvPr id="2" name="TextBox 1"/>
          <p:cNvSpPr txBox="1"/>
          <p:nvPr/>
        </p:nvSpPr>
        <p:spPr>
          <a:xfrm>
            <a:off x="1028700" y="390525"/>
            <a:ext cx="16200000" cy="1095375"/>
          </a:xfrm>
          <a:prstGeom prst="rect">
            <a:avLst/>
          </a:prstGeom>
          <a:noFill/>
        </p:spPr>
        <p:txBody>
          <a:bodyPr wrap="square">
            <a:spAutoFit/>
          </a:bodyPr>
          <a:lstStyle/>
          <a:p>
            <a:pPr>
              <a:spcAft>
                <a:spcPts val="800"/>
              </a:spcAft>
            </a:pPr>
            <a:r>
              <a:rPr sz="5400" b="1">
                <a:solidFill>
                  <a:srgbClr val="022B3A"/>
                </a:solidFill>
                <a:latin typeface="Poppins Bold"/>
              </a:rPr>
              <a:t>Ethical Implications</a:t>
            </a:r>
          </a:p>
        </p:txBody>
      </p:sp>
      <p:sp>
        <p:nvSpPr>
          <p:cNvPr id="3" name="Rounded Rectangle 2"/>
          <p:cNvSpPr/>
          <p:nvPr/>
        </p:nvSpPr>
        <p:spPr>
          <a:xfrm>
            <a:off x="1028700" y="1900000"/>
            <a:ext cx="5200000" cy="7400000"/>
          </a:xfrm>
          <a:prstGeom prst="roundRect">
            <a:avLst>
              <a:gd name="adj" fmla="val 6000"/>
            </a:avLst>
          </a:prstGeom>
          <a:solidFill>
            <a:srgbClr val="C2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28700" y="2070000"/>
            <a:ext cx="4800000" cy="7060000"/>
          </a:xfrm>
          <a:prstGeom prst="rect">
            <a:avLst/>
          </a:prstGeom>
          <a:noFill/>
        </p:spPr>
        <p:txBody>
          <a:bodyPr wrap="square">
            <a:spAutoFit/>
          </a:bodyPr>
          <a:lstStyle/>
          <a:p>
            <a:pPr>
              <a:spcAft>
                <a:spcPts val="800"/>
              </a:spcAft>
            </a:pPr>
            <a:r>
              <a:rPr sz="2800" b="1">
                <a:solidFill>
                  <a:srgbClr val="022B3A"/>
                </a:solidFill>
                <a:latin typeface="Poppins Bold"/>
              </a:rPr>
              <a:t>Unequal error costs</a:t>
            </a:r>
          </a:p>
          <a:p>
            <a:pPr>
              <a:spcAft>
                <a:spcPts val="800"/>
              </a:spcAft>
            </a:pPr>
            <a:r>
              <a:rPr sz="2200" b="0">
                <a:solidFill>
                  <a:srgbClr val="1F2937"/>
                </a:solidFill>
                <a:latin typeface="Poppins"/>
              </a:rPr>
              <a:t>Calling a real image fake can discredit genuine war or health evidence. Calling a fake real spreads disinformation. We favour the second concern, so we must disclose the cost.</a:t>
            </a:r>
          </a:p>
        </p:txBody>
      </p:sp>
      <p:sp>
        <p:nvSpPr>
          <p:cNvPr id="5" name="Rounded Rectangle 4"/>
          <p:cNvSpPr/>
          <p:nvPr/>
        </p:nvSpPr>
        <p:spPr>
          <a:xfrm>
            <a:off x="6528700" y="1900000"/>
            <a:ext cx="5200000" cy="7400000"/>
          </a:xfrm>
          <a:prstGeom prst="roundRect">
            <a:avLst>
              <a:gd name="adj" fmla="val 6000"/>
            </a:avLst>
          </a:prstGeom>
          <a:solidFill>
            <a:srgbClr val="C2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728700" y="2070000"/>
            <a:ext cx="4800000" cy="7060000"/>
          </a:xfrm>
          <a:prstGeom prst="rect">
            <a:avLst/>
          </a:prstGeom>
          <a:noFill/>
        </p:spPr>
        <p:txBody>
          <a:bodyPr wrap="square">
            <a:spAutoFit/>
          </a:bodyPr>
          <a:lstStyle/>
          <a:p>
            <a:pPr>
              <a:spcAft>
                <a:spcPts val="800"/>
              </a:spcAft>
            </a:pPr>
            <a:r>
              <a:rPr sz="2800" b="1">
                <a:solidFill>
                  <a:srgbClr val="022B3A"/>
                </a:solidFill>
                <a:latin typeface="Poppins Bold"/>
              </a:rPr>
              <a:t>Who defines "sensitive"?</a:t>
            </a:r>
          </a:p>
          <a:p>
            <a:pPr>
              <a:spcAft>
                <a:spcPts val="800"/>
              </a:spcAft>
            </a:pPr>
            <a:r>
              <a:rPr sz="2200" b="0">
                <a:solidFill>
                  <a:srgbClr val="1F2937"/>
                </a:solidFill>
                <a:latin typeface="Poppins"/>
              </a:rPr>
              <a:t>Public relevance, harm and vulnerability are value-laden. Annotators and taxonomy can encode cultural and political bias.</a:t>
            </a:r>
          </a:p>
        </p:txBody>
      </p:sp>
      <p:sp>
        <p:nvSpPr>
          <p:cNvPr id="7" name="Rounded Rectangle 6"/>
          <p:cNvSpPr/>
          <p:nvPr/>
        </p:nvSpPr>
        <p:spPr>
          <a:xfrm>
            <a:off x="12028700" y="1900000"/>
            <a:ext cx="5200000" cy="7400000"/>
          </a:xfrm>
          <a:prstGeom prst="roundRect">
            <a:avLst>
              <a:gd name="adj" fmla="val 6000"/>
            </a:avLst>
          </a:prstGeom>
          <a:solidFill>
            <a:srgbClr val="C2D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228700" y="2070000"/>
            <a:ext cx="4800000" cy="7060000"/>
          </a:xfrm>
          <a:prstGeom prst="rect">
            <a:avLst/>
          </a:prstGeom>
          <a:noFill/>
        </p:spPr>
        <p:txBody>
          <a:bodyPr wrap="square">
            <a:spAutoFit/>
          </a:bodyPr>
          <a:lstStyle/>
          <a:p>
            <a:pPr>
              <a:spcAft>
                <a:spcPts val="800"/>
              </a:spcAft>
            </a:pPr>
            <a:r>
              <a:rPr sz="2800" b="1">
                <a:solidFill>
                  <a:srgbClr val="022B3A"/>
                </a:solidFill>
                <a:latin typeface="Poppins Bold"/>
              </a:rPr>
              <a:t>Moderation power</a:t>
            </a:r>
          </a:p>
          <a:p>
            <a:pPr>
              <a:spcAft>
                <a:spcPts val="800"/>
              </a:spcAft>
            </a:pPr>
            <a:r>
              <a:rPr sz="2200" b="0">
                <a:solidFill>
                  <a:srgbClr val="1F2937"/>
                </a:solidFill>
                <a:latin typeface="Poppins"/>
              </a:rPr>
              <a:t>Stricter checks on sensitive topics can chill legitimate speech. Needs human review, transparency and an appeal path.</a:t>
            </a:r>
          </a:p>
        </p:txBody>
      </p:sp>
      <p:sp>
        <p:nvSpPr>
          <p:cNvPr id="9" name="TextBox 8"/>
          <p:cNvSpPr txBox="1"/>
          <p:nvPr/>
        </p:nvSpPr>
        <p:spPr>
          <a:xfrm>
            <a:off x="17735164" y="9735222"/>
            <a:ext cx="300000" cy="300000"/>
          </a:xfrm>
          <a:prstGeom prst="rect">
            <a:avLst/>
          </a:prstGeom>
          <a:noFill/>
        </p:spPr>
        <p:txBody>
          <a:bodyPr wrap="square">
            <a:spAutoFit/>
          </a:bodyPr>
          <a:lstStyle/>
          <a:p>
            <a:pPr>
              <a:spcAft>
                <a:spcPts val="800"/>
              </a:spcAft>
            </a:pPr>
            <a:r>
              <a:rPr sz="2000" b="0">
                <a:solidFill>
                  <a:srgbClr val="022B3A"/>
                </a:solidFill>
                <a:latin typeface="Poppins"/>
              </a:rPr>
              <a:t>23</a:t>
            </a:r>
          </a:p>
        </p:txBody>
      </p:sp>
      <p:grpSp>
        <p:nvGrpSpPr>
          <p:cNvPr id="13" name="Group 16">
            <a:extLst>
              <a:ext uri="{FF2B5EF4-FFF2-40B4-BE49-F238E27FC236}">
                <a16:creationId xmlns:a16="http://schemas.microsoft.com/office/drawing/2014/main" id="{8E04D291-749F-F065-FCF1-11FEE62082E5}"/>
              </a:ext>
            </a:extLst>
          </p:cNvPr>
          <p:cNvGrpSpPr/>
          <p:nvPr/>
        </p:nvGrpSpPr>
        <p:grpSpPr>
          <a:xfrm>
            <a:off x="685800" y="413839"/>
            <a:ext cx="209921" cy="1002547"/>
            <a:chOff x="0" y="0"/>
            <a:chExt cx="55288" cy="264045"/>
          </a:xfrm>
        </p:grpSpPr>
        <p:sp>
          <p:nvSpPr>
            <p:cNvPr id="14" name="Freeform 17">
              <a:extLst>
                <a:ext uri="{FF2B5EF4-FFF2-40B4-BE49-F238E27FC236}">
                  <a16:creationId xmlns:a16="http://schemas.microsoft.com/office/drawing/2014/main" id="{9CB45382-CFFB-7201-A5F1-F08ADF4124D9}"/>
                </a:ext>
              </a:extLst>
            </p:cNvPr>
            <p:cNvSpPr/>
            <p:nvPr/>
          </p:nvSpPr>
          <p:spPr>
            <a:xfrm>
              <a:off x="0" y="0"/>
              <a:ext cx="55288" cy="264045"/>
            </a:xfrm>
            <a:custGeom>
              <a:avLst/>
              <a:gdLst/>
              <a:ahLst/>
              <a:cxnLst/>
              <a:rect l="l" t="t" r="r" b="b"/>
              <a:pathLst>
                <a:path w="55288" h="264045">
                  <a:moveTo>
                    <a:pt x="0" y="0"/>
                  </a:moveTo>
                  <a:lnTo>
                    <a:pt x="55288" y="0"/>
                  </a:lnTo>
                  <a:lnTo>
                    <a:pt x="55288" y="264045"/>
                  </a:lnTo>
                  <a:lnTo>
                    <a:pt x="0" y="264045"/>
                  </a:lnTo>
                  <a:close/>
                </a:path>
              </a:pathLst>
            </a:custGeom>
            <a:solidFill>
              <a:srgbClr val="022B3A"/>
            </a:solidFill>
          </p:spPr>
          <p:txBody>
            <a:bodyPr/>
            <a:lstStyle/>
            <a:p>
              <a:endParaRPr/>
            </a:p>
          </p:txBody>
        </p:sp>
        <p:sp>
          <p:nvSpPr>
            <p:cNvPr id="15" name="TextBox 18">
              <a:extLst>
                <a:ext uri="{FF2B5EF4-FFF2-40B4-BE49-F238E27FC236}">
                  <a16:creationId xmlns:a16="http://schemas.microsoft.com/office/drawing/2014/main" id="{15EDE889-3083-F1C0-E23A-1DCC794140C7}"/>
                </a:ext>
              </a:extLst>
            </p:cNvPr>
            <p:cNvSpPr txBox="1"/>
            <p:nvPr/>
          </p:nvSpPr>
          <p:spPr>
            <a:xfrm>
              <a:off x="0" y="28575"/>
              <a:ext cx="55288" cy="235470"/>
            </a:xfrm>
            <a:prstGeom prst="rect">
              <a:avLst/>
            </a:prstGeom>
          </p:spPr>
          <p:txBody>
            <a:bodyPr lIns="50800" tIns="50800" rIns="50800" bIns="50800" rtlCol="0" anchor="ctr"/>
            <a:lstStyle/>
            <a:p>
              <a:pPr algn="ctr">
                <a:lnSpc>
                  <a:spcPts val="2499"/>
                </a:lnSpc>
              </a:pP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12667221" y="1574047"/>
            <a:ext cx="5140570" cy="3986049"/>
            <a:chOff x="0" y="0"/>
            <a:chExt cx="1353895" cy="1049824"/>
          </a:xfrm>
        </p:grpSpPr>
        <p:sp>
          <p:nvSpPr>
            <p:cNvPr id="3" name="Freeform 3"/>
            <p:cNvSpPr/>
            <p:nvPr/>
          </p:nvSpPr>
          <p:spPr>
            <a:xfrm>
              <a:off x="0" y="0"/>
              <a:ext cx="1353895" cy="1049824"/>
            </a:xfrm>
            <a:custGeom>
              <a:avLst/>
              <a:gdLst/>
              <a:ahLst/>
              <a:cxnLst/>
              <a:rect l="l" t="t" r="r" b="b"/>
              <a:pathLst>
                <a:path w="1353895" h="1049824">
                  <a:moveTo>
                    <a:pt x="0" y="0"/>
                  </a:moveTo>
                  <a:lnTo>
                    <a:pt x="1353895" y="0"/>
                  </a:lnTo>
                  <a:lnTo>
                    <a:pt x="1353895" y="1049824"/>
                  </a:lnTo>
                  <a:lnTo>
                    <a:pt x="0" y="1049824"/>
                  </a:lnTo>
                  <a:close/>
                </a:path>
              </a:pathLst>
            </a:custGeom>
            <a:solidFill>
              <a:srgbClr val="C2DCFF"/>
            </a:solidFill>
          </p:spPr>
          <p:txBody>
            <a:bodyPr/>
            <a:lstStyle/>
            <a:p>
              <a:endParaRPr/>
            </a:p>
          </p:txBody>
        </p:sp>
        <p:sp>
          <p:nvSpPr>
            <p:cNvPr id="4" name="TextBox 4"/>
            <p:cNvSpPr txBox="1"/>
            <p:nvPr/>
          </p:nvSpPr>
          <p:spPr>
            <a:xfrm>
              <a:off x="0" y="-66675"/>
              <a:ext cx="1353895" cy="1116499"/>
            </a:xfrm>
            <a:prstGeom prst="rect">
              <a:avLst/>
            </a:prstGeom>
          </p:spPr>
          <p:txBody>
            <a:bodyPr lIns="50800" tIns="50800" rIns="50800" bIns="50800" rtlCol="0" anchor="ctr"/>
            <a:lstStyle/>
            <a:p>
              <a:pPr algn="ctr">
                <a:lnSpc>
                  <a:spcPts val="3499"/>
                </a:lnSpc>
              </a:pPr>
              <a:endParaRPr/>
            </a:p>
          </p:txBody>
        </p:sp>
      </p:grpSp>
      <p:sp>
        <p:nvSpPr>
          <p:cNvPr id="5" name="Freeform 5"/>
          <p:cNvSpPr/>
          <p:nvPr/>
        </p:nvSpPr>
        <p:spPr>
          <a:xfrm>
            <a:off x="12118730" y="2099627"/>
            <a:ext cx="5140570" cy="3986049"/>
          </a:xfrm>
          <a:custGeom>
            <a:avLst/>
            <a:gdLst/>
            <a:ahLst/>
            <a:cxnLst/>
            <a:rect l="l" t="t" r="r" b="b"/>
            <a:pathLst>
              <a:path w="5140570" h="3986049">
                <a:moveTo>
                  <a:pt x="0" y="0"/>
                </a:moveTo>
                <a:lnTo>
                  <a:pt x="5140570" y="0"/>
                </a:lnTo>
                <a:lnTo>
                  <a:pt x="5140570" y="3986049"/>
                </a:lnTo>
                <a:lnTo>
                  <a:pt x="0" y="3986049"/>
                </a:lnTo>
                <a:lnTo>
                  <a:pt x="0" y="0"/>
                </a:lnTo>
                <a:close/>
              </a:path>
            </a:pathLst>
          </a:custGeom>
          <a:blipFill>
            <a:blip r:embed="rId2"/>
            <a:stretch>
              <a:fillRect/>
            </a:stretch>
          </a:blipFill>
        </p:spPr>
        <p:txBody>
          <a:bodyPr/>
          <a:lstStyle/>
          <a:p>
            <a:endParaRPr/>
          </a:p>
        </p:txBody>
      </p:sp>
      <p:grpSp>
        <p:nvGrpSpPr>
          <p:cNvPr id="6" name="Group 6"/>
          <p:cNvGrpSpPr/>
          <p:nvPr/>
        </p:nvGrpSpPr>
        <p:grpSpPr>
          <a:xfrm>
            <a:off x="1092994" y="6624543"/>
            <a:ext cx="5568251" cy="3349209"/>
            <a:chOff x="0" y="0"/>
            <a:chExt cx="1466535" cy="882096"/>
          </a:xfrm>
        </p:grpSpPr>
        <p:sp>
          <p:nvSpPr>
            <p:cNvPr id="7" name="Freeform 7"/>
            <p:cNvSpPr/>
            <p:nvPr/>
          </p:nvSpPr>
          <p:spPr>
            <a:xfrm>
              <a:off x="0" y="0"/>
              <a:ext cx="1466535" cy="882096"/>
            </a:xfrm>
            <a:custGeom>
              <a:avLst/>
              <a:gdLst/>
              <a:ahLst/>
              <a:cxnLst/>
              <a:rect l="l" t="t" r="r" b="b"/>
              <a:pathLst>
                <a:path w="1466535" h="882096">
                  <a:moveTo>
                    <a:pt x="0" y="0"/>
                  </a:moveTo>
                  <a:lnTo>
                    <a:pt x="1466535" y="0"/>
                  </a:lnTo>
                  <a:lnTo>
                    <a:pt x="1466535" y="882096"/>
                  </a:lnTo>
                  <a:lnTo>
                    <a:pt x="0" y="882096"/>
                  </a:lnTo>
                  <a:close/>
                </a:path>
              </a:pathLst>
            </a:custGeom>
            <a:solidFill>
              <a:srgbClr val="C2DCFF"/>
            </a:solidFill>
          </p:spPr>
          <p:txBody>
            <a:bodyPr/>
            <a:lstStyle/>
            <a:p>
              <a:endParaRPr/>
            </a:p>
          </p:txBody>
        </p:sp>
        <p:sp>
          <p:nvSpPr>
            <p:cNvPr id="8" name="TextBox 8"/>
            <p:cNvSpPr txBox="1"/>
            <p:nvPr/>
          </p:nvSpPr>
          <p:spPr>
            <a:xfrm>
              <a:off x="0" y="-66675"/>
              <a:ext cx="1466535" cy="948771"/>
            </a:xfrm>
            <a:prstGeom prst="rect">
              <a:avLst/>
            </a:prstGeom>
          </p:spPr>
          <p:txBody>
            <a:bodyPr lIns="50800" tIns="50800" rIns="50800" bIns="50800" rtlCol="0" anchor="ctr"/>
            <a:lstStyle/>
            <a:p>
              <a:pPr algn="ctr">
                <a:lnSpc>
                  <a:spcPts val="3499"/>
                </a:lnSpc>
              </a:pPr>
              <a:endParaRPr/>
            </a:p>
          </p:txBody>
        </p:sp>
      </p:grpSp>
      <p:sp>
        <p:nvSpPr>
          <p:cNvPr id="9" name="Freeform 9"/>
          <p:cNvSpPr/>
          <p:nvPr/>
        </p:nvSpPr>
        <p:spPr>
          <a:xfrm>
            <a:off x="1454759" y="6211015"/>
            <a:ext cx="5568251" cy="3350322"/>
          </a:xfrm>
          <a:custGeom>
            <a:avLst/>
            <a:gdLst/>
            <a:ahLst/>
            <a:cxnLst/>
            <a:rect l="l" t="t" r="r" b="b"/>
            <a:pathLst>
              <a:path w="5568251" h="3350322">
                <a:moveTo>
                  <a:pt x="0" y="0"/>
                </a:moveTo>
                <a:lnTo>
                  <a:pt x="5568252" y="0"/>
                </a:lnTo>
                <a:lnTo>
                  <a:pt x="5568252" y="3350322"/>
                </a:lnTo>
                <a:lnTo>
                  <a:pt x="0" y="3350322"/>
                </a:lnTo>
                <a:lnTo>
                  <a:pt x="0" y="0"/>
                </a:lnTo>
                <a:close/>
              </a:path>
            </a:pathLst>
          </a:custGeom>
          <a:blipFill>
            <a:blip r:embed="rId3"/>
            <a:stretch>
              <a:fillRect/>
            </a:stretch>
          </a:blipFill>
        </p:spPr>
        <p:txBody>
          <a:bodyPr/>
          <a:lstStyle/>
          <a:p>
            <a:endParaRPr/>
          </a:p>
        </p:txBody>
      </p:sp>
      <p:grpSp>
        <p:nvGrpSpPr>
          <p:cNvPr id="10" name="Group 10"/>
          <p:cNvGrpSpPr/>
          <p:nvPr/>
        </p:nvGrpSpPr>
        <p:grpSpPr>
          <a:xfrm>
            <a:off x="1454759" y="571500"/>
            <a:ext cx="5840893" cy="1002547"/>
            <a:chOff x="0" y="0"/>
            <a:chExt cx="1538342" cy="264045"/>
          </a:xfrm>
        </p:grpSpPr>
        <p:sp>
          <p:nvSpPr>
            <p:cNvPr id="11" name="Freeform 11"/>
            <p:cNvSpPr/>
            <p:nvPr/>
          </p:nvSpPr>
          <p:spPr>
            <a:xfrm>
              <a:off x="0" y="0"/>
              <a:ext cx="1538342" cy="264045"/>
            </a:xfrm>
            <a:custGeom>
              <a:avLst/>
              <a:gdLst/>
              <a:ahLst/>
              <a:cxnLst/>
              <a:rect l="l" t="t" r="r" b="b"/>
              <a:pathLst>
                <a:path w="1538342" h="264045">
                  <a:moveTo>
                    <a:pt x="0" y="0"/>
                  </a:moveTo>
                  <a:lnTo>
                    <a:pt x="1538342" y="0"/>
                  </a:lnTo>
                  <a:lnTo>
                    <a:pt x="1538342" y="264045"/>
                  </a:lnTo>
                  <a:lnTo>
                    <a:pt x="0" y="264045"/>
                  </a:lnTo>
                  <a:close/>
                </a:path>
              </a:pathLst>
            </a:custGeom>
            <a:solidFill>
              <a:srgbClr val="C2DCFF"/>
            </a:solidFill>
          </p:spPr>
          <p:txBody>
            <a:bodyPr/>
            <a:lstStyle/>
            <a:p>
              <a:endParaRPr/>
            </a:p>
          </p:txBody>
        </p:sp>
        <p:sp>
          <p:nvSpPr>
            <p:cNvPr id="12" name="TextBox 12"/>
            <p:cNvSpPr txBox="1"/>
            <p:nvPr/>
          </p:nvSpPr>
          <p:spPr>
            <a:xfrm>
              <a:off x="0" y="28575"/>
              <a:ext cx="1538342" cy="235470"/>
            </a:xfrm>
            <a:prstGeom prst="rect">
              <a:avLst/>
            </a:prstGeom>
          </p:spPr>
          <p:txBody>
            <a:bodyPr lIns="50800" tIns="50800" rIns="50800" bIns="50800" rtlCol="0" anchor="ctr"/>
            <a:lstStyle/>
            <a:p>
              <a:pPr algn="ctr">
                <a:lnSpc>
                  <a:spcPts val="2499"/>
                </a:lnSpc>
              </a:pPr>
              <a:endParaRPr/>
            </a:p>
          </p:txBody>
        </p:sp>
      </p:grpSp>
      <p:sp>
        <p:nvSpPr>
          <p:cNvPr id="13" name="TextBox 13"/>
          <p:cNvSpPr txBox="1"/>
          <p:nvPr/>
        </p:nvSpPr>
        <p:spPr>
          <a:xfrm>
            <a:off x="1028700" y="469221"/>
            <a:ext cx="6586786" cy="1095375"/>
          </a:xfrm>
          <a:prstGeom prst="rect">
            <a:avLst/>
          </a:prstGeom>
        </p:spPr>
        <p:txBody>
          <a:bodyPr lIns="0" tIns="0" rIns="0" bIns="0" rtlCol="0" anchor="t">
            <a:spAutoFit/>
          </a:bodyPr>
          <a:lstStyle/>
          <a:p>
            <a:pPr algn="ctr">
              <a:lnSpc>
                <a:spcPts val="8400"/>
              </a:lnSpc>
              <a:spcBef>
                <a:spcPct val="0"/>
              </a:spcBef>
            </a:pPr>
            <a:r>
              <a:rPr lang="en-US" sz="6000" b="1" dirty="0">
                <a:solidFill>
                  <a:srgbClr val="022B3A"/>
                </a:solidFill>
                <a:latin typeface="Poppins Bold"/>
                <a:ea typeface="Poppins Bold"/>
                <a:cs typeface="Poppins Bold"/>
                <a:sym typeface="Poppins Bold"/>
              </a:rPr>
              <a:t>Project Goals</a:t>
            </a:r>
          </a:p>
        </p:txBody>
      </p:sp>
      <p:sp>
        <p:nvSpPr>
          <p:cNvPr id="14" name="TextBox 14"/>
          <p:cNvSpPr txBox="1"/>
          <p:nvPr/>
        </p:nvSpPr>
        <p:spPr>
          <a:xfrm>
            <a:off x="1092994" y="2928021"/>
            <a:ext cx="10821693" cy="2632075"/>
          </a:xfrm>
          <a:prstGeom prst="rect">
            <a:avLst/>
          </a:prstGeom>
        </p:spPr>
        <p:txBody>
          <a:bodyPr lIns="0" tIns="0" rIns="0" bIns="0" rtlCol="0" anchor="t">
            <a:spAutoFit/>
          </a:bodyPr>
          <a:lstStyle/>
          <a:p>
            <a:pPr algn="l">
              <a:lnSpc>
                <a:spcPts val="3499"/>
              </a:lnSpc>
              <a:spcBef>
                <a:spcPct val="0"/>
              </a:spcBef>
            </a:pPr>
            <a:r>
              <a:rPr lang="en-US" sz="2499">
                <a:solidFill>
                  <a:srgbClr val="022B3A"/>
                </a:solidFill>
                <a:latin typeface="Poppins"/>
                <a:ea typeface="Poppins"/>
                <a:cs typeface="Poppins"/>
                <a:sym typeface="Poppins"/>
              </a:rPr>
              <a:t>Artificial intelligence has made it increasingly difficult to distinguish between real images and images generated by AI models. While false classification involving an everyday object may have limited consequences, an image related to politics, health, disasters, conflict, or vulnerable people can have a much greater social impact.</a:t>
            </a:r>
          </a:p>
        </p:txBody>
      </p:sp>
      <p:sp>
        <p:nvSpPr>
          <p:cNvPr id="15" name="TextBox 15"/>
          <p:cNvSpPr txBox="1"/>
          <p:nvPr/>
        </p:nvSpPr>
        <p:spPr>
          <a:xfrm>
            <a:off x="7615486" y="6544580"/>
            <a:ext cx="9360707" cy="1755775"/>
          </a:xfrm>
          <a:prstGeom prst="rect">
            <a:avLst/>
          </a:prstGeom>
        </p:spPr>
        <p:txBody>
          <a:bodyPr lIns="0" tIns="0" rIns="0" bIns="0" rtlCol="0" anchor="t">
            <a:spAutoFit/>
          </a:bodyPr>
          <a:lstStyle/>
          <a:p>
            <a:pPr algn="l">
              <a:lnSpc>
                <a:spcPts val="3499"/>
              </a:lnSpc>
              <a:spcBef>
                <a:spcPct val="0"/>
              </a:spcBef>
            </a:pPr>
            <a:r>
              <a:rPr lang="en-US" sz="2499">
                <a:solidFill>
                  <a:srgbClr val="022B3A"/>
                </a:solidFill>
                <a:latin typeface="Poppins"/>
                <a:ea typeface="Poppins"/>
                <a:cs typeface="Poppins"/>
                <a:sym typeface="Poppins"/>
              </a:rPr>
              <a:t>SensiFake aims to protect any individual from false accusations and to avoid the spreading of fabricated news by recognising the sensitivity of the content of the image and consequently adapting its evaluation parameters.</a:t>
            </a:r>
          </a:p>
        </p:txBody>
      </p:sp>
      <p:grpSp>
        <p:nvGrpSpPr>
          <p:cNvPr id="16" name="Group 16"/>
          <p:cNvGrpSpPr/>
          <p:nvPr/>
        </p:nvGrpSpPr>
        <p:grpSpPr>
          <a:xfrm>
            <a:off x="1127168" y="571500"/>
            <a:ext cx="209921" cy="1002547"/>
            <a:chOff x="0" y="0"/>
            <a:chExt cx="55288" cy="264045"/>
          </a:xfrm>
        </p:grpSpPr>
        <p:sp>
          <p:nvSpPr>
            <p:cNvPr id="17" name="Freeform 17"/>
            <p:cNvSpPr/>
            <p:nvPr/>
          </p:nvSpPr>
          <p:spPr>
            <a:xfrm>
              <a:off x="0" y="0"/>
              <a:ext cx="55288" cy="264045"/>
            </a:xfrm>
            <a:custGeom>
              <a:avLst/>
              <a:gdLst/>
              <a:ahLst/>
              <a:cxnLst/>
              <a:rect l="l" t="t" r="r" b="b"/>
              <a:pathLst>
                <a:path w="55288" h="264045">
                  <a:moveTo>
                    <a:pt x="0" y="0"/>
                  </a:moveTo>
                  <a:lnTo>
                    <a:pt x="55288" y="0"/>
                  </a:lnTo>
                  <a:lnTo>
                    <a:pt x="55288" y="264045"/>
                  </a:lnTo>
                  <a:lnTo>
                    <a:pt x="0" y="264045"/>
                  </a:lnTo>
                  <a:close/>
                </a:path>
              </a:pathLst>
            </a:custGeom>
            <a:solidFill>
              <a:srgbClr val="022B3A"/>
            </a:solidFill>
          </p:spPr>
          <p:txBody>
            <a:bodyPr/>
            <a:lstStyle/>
            <a:p>
              <a:endParaRPr/>
            </a:p>
          </p:txBody>
        </p:sp>
        <p:sp>
          <p:nvSpPr>
            <p:cNvPr id="18" name="TextBox 18"/>
            <p:cNvSpPr txBox="1"/>
            <p:nvPr/>
          </p:nvSpPr>
          <p:spPr>
            <a:xfrm>
              <a:off x="0" y="28575"/>
              <a:ext cx="55288" cy="235470"/>
            </a:xfrm>
            <a:prstGeom prst="rect">
              <a:avLst/>
            </a:prstGeom>
          </p:spPr>
          <p:txBody>
            <a:bodyPr lIns="50800" tIns="50800" rIns="50800" bIns="50800" rtlCol="0" anchor="ctr"/>
            <a:lstStyle/>
            <a:p>
              <a:pPr algn="ctr">
                <a:lnSpc>
                  <a:spcPts val="2499"/>
                </a:lnSpc>
              </a:pPr>
              <a:endParaRPr/>
            </a:p>
          </p:txBody>
        </p:sp>
      </p:grpSp>
      <p:sp>
        <p:nvSpPr>
          <p:cNvPr id="19" name="TextBox 19"/>
          <p:cNvSpPr txBox="1"/>
          <p:nvPr/>
        </p:nvSpPr>
        <p:spPr>
          <a:xfrm>
            <a:off x="17735164" y="9735222"/>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2B3A"/>
                </a:solidFill>
                <a:latin typeface="Open Sans"/>
                <a:ea typeface="Open Sans"/>
                <a:cs typeface="Open Sans"/>
                <a:sym typeface="Open Sans"/>
              </a:rPr>
              <a:t>25</a:t>
            </a:r>
          </a:p>
        </p:txBody>
      </p:sp>
      <p:sp>
        <p:nvSpPr>
          <p:cNvPr id="20" name="TextBox 20"/>
          <p:cNvSpPr txBox="1"/>
          <p:nvPr/>
        </p:nvSpPr>
        <p:spPr>
          <a:xfrm>
            <a:off x="1092994" y="1667828"/>
            <a:ext cx="8203406" cy="431798"/>
          </a:xfrm>
          <a:prstGeom prst="rect">
            <a:avLst/>
          </a:prstGeom>
        </p:spPr>
        <p:txBody>
          <a:bodyPr wrap="square" lIns="0" tIns="0" rIns="0" bIns="0" rtlCol="0" anchor="t">
            <a:spAutoFit/>
          </a:bodyPr>
          <a:lstStyle/>
          <a:p>
            <a:pPr algn="ctr">
              <a:lnSpc>
                <a:spcPts val="3500"/>
              </a:lnSpc>
            </a:pPr>
            <a:r>
              <a:rPr lang="en-US" sz="2500" b="1" dirty="0">
                <a:solidFill>
                  <a:srgbClr val="022B3A"/>
                </a:solidFill>
                <a:latin typeface="Open Sans Bold"/>
                <a:ea typeface="Open Sans Bold"/>
                <a:cs typeface="Open Sans Bold"/>
                <a:sym typeface="Open Sans Bold"/>
              </a:rPr>
              <a:t>Not all classification errors have the same impact.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1645</Words>
  <Application>Microsoft Office PowerPoint</Application>
  <PresentationFormat>Personalizzato</PresentationFormat>
  <Paragraphs>235</Paragraphs>
  <Slides>30</Slides>
  <Notes>1</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30</vt:i4>
      </vt:variant>
    </vt:vector>
  </HeadingPairs>
  <TitlesOfParts>
    <vt:vector size="38" baseType="lpstr">
      <vt:lpstr>Poppins</vt:lpstr>
      <vt:lpstr>Calibri</vt:lpstr>
      <vt:lpstr>Open Sans</vt:lpstr>
      <vt:lpstr>Arial</vt:lpstr>
      <vt:lpstr>Aptos</vt:lpstr>
      <vt:lpstr>Open Sans Bold</vt:lpstr>
      <vt:lpstr>Poppins Bold</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SENSIFAKE</dc:title>
  <cp:lastModifiedBy>Giovanni Di Nola</cp:lastModifiedBy>
  <cp:revision>3</cp:revision>
  <dcterms:created xsi:type="dcterms:W3CDTF">2006-08-16T00:00:00Z</dcterms:created>
  <dcterms:modified xsi:type="dcterms:W3CDTF">2026-10-07T16:42:02Z</dcterms:modified>
  <dc:identifier>DAHXIfNMVes</dc:identifier>
</cp:coreProperties>
</file>